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5f9ad0917f4163" /><Relationship Type="http://schemas.openxmlformats.org/officeDocument/2006/relationships/extended-properties" Target="/docProps/app.xml" Id="Re5e5739e7892451a" /><Relationship Type="http://schemas.openxmlformats.org/officeDocument/2006/relationships/officeDocument" Target="/ppt/presentation.xml" Id="R862c3b0288ea46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02ebf633e84367"/>
  </p:sldMasterIdLst>
  <p:notesMasterIdLst>
    <p:notesMasterId xmlns:r="http://schemas.openxmlformats.org/officeDocument/2006/relationships" r:id="R13ec55158cae45d8"/>
  </p:notesMasterIdLst>
  <p:sldIdLst>
    <p:sldId xmlns:r="http://schemas.openxmlformats.org/officeDocument/2006/relationships" id="256" r:id="Rb43cac6017da4b40"/>
    <p:sldId xmlns:r="http://schemas.openxmlformats.org/officeDocument/2006/relationships" id="257" r:id="Rfcf8fc3859e4494e"/>
    <p:sldId xmlns:r="http://schemas.openxmlformats.org/officeDocument/2006/relationships" id="258" r:id="Rcd80976b06e9422a"/>
    <p:sldId xmlns:r="http://schemas.openxmlformats.org/officeDocument/2006/relationships" id="259" r:id="Rb3b9d563beef4eb7"/>
    <p:sldId xmlns:r="http://schemas.openxmlformats.org/officeDocument/2006/relationships" id="260" r:id="Rf6fbb0a825be4944"/>
    <p:sldId xmlns:r="http://schemas.openxmlformats.org/officeDocument/2006/relationships" id="261" r:id="Re934d9d10f2242f3"/>
    <p:sldId xmlns:r="http://schemas.openxmlformats.org/officeDocument/2006/relationships" id="262" r:id="Rfe6549c2e55f4322"/>
    <p:sldId xmlns:r="http://schemas.openxmlformats.org/officeDocument/2006/relationships" id="263" r:id="R3a271667f22d466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236af7425946c3" /><Relationship Type="http://schemas.openxmlformats.org/officeDocument/2006/relationships/slideMaster" Target="/ppt/slideMasters/slideMaster1.xml" Id="R4c02ebf633e84367" /><Relationship Type="http://schemas.openxmlformats.org/officeDocument/2006/relationships/notesMaster" Target="/ppt/notesMasters/notesMaster1.xml" Id="R13ec55158cae45d8" /><Relationship Type="http://schemas.openxmlformats.org/officeDocument/2006/relationships/presProps" Target="/ppt/presProps.xml" Id="R6364b01b6dda40fe" /><Relationship Type="http://schemas.openxmlformats.org/officeDocument/2006/relationships/viewProps" Target="/ppt/viewProps.xml" Id="R831422cee1e64f9f" /><Relationship Type="http://schemas.openxmlformats.org/officeDocument/2006/relationships/tableStyles" Target="/ppt/tableStyles.xml" Id="R6460a59d7b334f13" /><Relationship Type="http://schemas.openxmlformats.org/officeDocument/2006/relationships/slide" Target="/ppt/slides/slide1.xml" Id="Rb43cac6017da4b40" /><Relationship Type="http://schemas.openxmlformats.org/officeDocument/2006/relationships/slide" Target="/ppt/slides/slide2.xml" Id="Rfcf8fc3859e4494e" /><Relationship Type="http://schemas.openxmlformats.org/officeDocument/2006/relationships/slide" Target="/ppt/slides/slide3.xml" Id="Rcd80976b06e9422a" /><Relationship Type="http://schemas.openxmlformats.org/officeDocument/2006/relationships/slide" Target="/ppt/slides/slide4.xml" Id="Rb3b9d563beef4eb7" /><Relationship Type="http://schemas.openxmlformats.org/officeDocument/2006/relationships/slide" Target="/ppt/slides/slide5.xml" Id="Rf6fbb0a825be4944" /><Relationship Type="http://schemas.openxmlformats.org/officeDocument/2006/relationships/slide" Target="/ppt/slides/slide6.xml" Id="Re934d9d10f2242f3" /><Relationship Type="http://schemas.openxmlformats.org/officeDocument/2006/relationships/slide" Target="/ppt/slides/slide7.xml" Id="Rfe6549c2e55f4322" /><Relationship Type="http://schemas.openxmlformats.org/officeDocument/2006/relationships/slide" Target="/ppt/slides/slide8.xml" Id="R3a271667f22d46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e94195939847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a8baa305c84f41" /><Relationship Type="http://schemas.openxmlformats.org/officeDocument/2006/relationships/notesMaster" Target="/ppt/notesMasters/notesMaster1.xml" Id="R99ddfbd9803244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3e308bcc984a59" /><Relationship Type="http://schemas.openxmlformats.org/officeDocument/2006/relationships/notesMaster" Target="/ppt/notesMasters/notesMaster1.xml" Id="Re11196a0779546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9126c1b18e4cd4" /><Relationship Type="http://schemas.openxmlformats.org/officeDocument/2006/relationships/notesMaster" Target="/ppt/notesMasters/notesMaster1.xml" Id="Rde1178cf0c0944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198995dbd543d6" /><Relationship Type="http://schemas.openxmlformats.org/officeDocument/2006/relationships/notesMaster" Target="/ppt/notesMasters/notesMaster1.xml" Id="Rbed2ab5dad504b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29e6ae2d094af3" /><Relationship Type="http://schemas.openxmlformats.org/officeDocument/2006/relationships/notesMaster" Target="/ppt/notesMasters/notesMaster1.xml" Id="R657fee04b80948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27ae22b52e4ab9" /><Relationship Type="http://schemas.openxmlformats.org/officeDocument/2006/relationships/notesMaster" Target="/ppt/notesMasters/notesMaster1.xml" Id="Rc26bfc78947740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dca4008d634b6c" /><Relationship Type="http://schemas.openxmlformats.org/officeDocument/2006/relationships/notesMaster" Target="/ppt/notesMasters/notesMaster1.xml" Id="Rfbf412061a0b44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86726233804c73" /><Relationship Type="http://schemas.openxmlformats.org/officeDocument/2006/relationships/notesMaster" Target="/ppt/notesMasters/notesMaster1.xml" Id="Rbf2bd0562c0e48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Portada. Serie: A pie de mostrador. Primer vistazo público de la investigación de escucha a comercios de barrio en Barcelona, n=8, mayo-julio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Transparencia sin autocrítica: mirada direccional, hipótesis, citas literales. Es la sección que genera confianza.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muestra: 8 comercios, categorías y tamaños muy distintos. Anonimizados por categoría; los colores son el guiño de identidad.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Cierre y llamada a la acción: conversaciones de 25 minutos; la persona deja email o teléfono en el formulario de la web y José da el siguiente paso. Las tres preguntas son el gancho reflexivo.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8f77b2d8de49c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0e7fbd420e405e" /><Relationship Type="http://schemas.openxmlformats.org/officeDocument/2006/relationships/slideLayout" Target="/ppt/slideLayouts/slideLayout1.xml" Id="R9bd7efa8a953462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d7efa8a953462e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fa950c31145ad" /><Relationship Type="http://schemas.openxmlformats.org/officeDocument/2006/relationships/notesSlide" Target="/ppt/notesSlides/notesSlide1.xml" Id="Ra7076088173c45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da690f0764613" /><Relationship Type="http://schemas.openxmlformats.org/officeDocument/2006/relationships/notesSlide" Target="/ppt/notesSlides/notesSlide2.xml" Id="R8af436bb3bc84e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e9eb21d34b46ab" /><Relationship Type="http://schemas.openxmlformats.org/officeDocument/2006/relationships/notesSlide" Target="/ppt/notesSlides/notesSlide3.xml" Id="Rbb456633da6f4b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dd5e616a1456e" /><Relationship Type="http://schemas.openxmlformats.org/officeDocument/2006/relationships/notesSlide" Target="/ppt/notesSlides/notesSlide4.xml" Id="R52da08fefab742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116a16b414ec4" /><Relationship Type="http://schemas.openxmlformats.org/officeDocument/2006/relationships/notesSlide" Target="/ppt/notesSlides/notesSlide5.xml" Id="R1bb1a38e865b45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749b305e6474d" /><Relationship Type="http://schemas.openxmlformats.org/officeDocument/2006/relationships/notesSlide" Target="/ppt/notesSlides/notesSlide6.xml" Id="R2dd1526e0a5c46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3678a576a4742" /><Relationship Type="http://schemas.openxmlformats.org/officeDocument/2006/relationships/notesSlide" Target="/ppt/notesSlides/notesSlide7.xml" Id="R3c8c6a29c12146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8c88b947e4ead" /><Relationship Type="http://schemas.openxmlformats.org/officeDocument/2006/relationships/hyperlink" Target="https://chpmoreno.github.io/apiedemostrador/" TargetMode="External" Id="R34ec270c43374357" /><Relationship Type="http://schemas.openxmlformats.org/officeDocument/2006/relationships/notesSlide" Target="/ppt/notesSlides/notesSlide8.xml" Id="R2015089d42a34e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6FA9B62-B8C8-4FDE-ADDA-F1F7A640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181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FA3C4F0-C0DB-4D7F-A55B-D548A3E3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619" y="0"/>
            <a:ext cx="76181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4D49A86-8C2B-4F41-9AC7-5BB04F67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238" y="0"/>
            <a:ext cx="76181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6EA6F87-F2E8-4413-90BC-BDA5FFCB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57" y="0"/>
            <a:ext cx="76181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65324E5-BB19-4276-94EE-0CD472BB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0"/>
            <a:ext cx="76181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90420B7-B6B3-492D-8A0E-DB64B30D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095" y="0"/>
            <a:ext cx="76181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E44FD1A-C5FF-4A40-9D7E-A04F0218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1714" y="0"/>
            <a:ext cx="76181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2F3B74E-3A27-48F1-9480-902DE29C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5333" y="0"/>
            <a:ext cx="76181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EC274B7-49BC-4BEE-A3BB-D2BC116D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A pie de mostrador  ·  informe de escucha 01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D721726-6325-42B9-9C87-90D3C411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1732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8 ENTREVISTAS · BARCELONA Y SANTA COLOMA · MAYO–JULIO 2026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951CA28-F532-436D-9301-E06D41852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1060704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40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A pie de mostrador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A700496-6CCE-452C-92A9-9AF89404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06240"/>
            <a:ext cx="7863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7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Ocho comercios explican dónde se concentra el trabajo invisible de llevar una tienda. Hallazgos direccionales de una muestra pequeña.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6A38B96-1225-4B0C-B81A-EE7CC83E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349240"/>
            <a:ext cx="269748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0E6"/>
          </a:solidFill>
          <a:ln xmlns:a="http://schemas.openxmlformats.org/drawingml/2006/main" w="11906">
            <a:solidFill>
              <a:srgbClr val="2E8B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875DD4-8E7B-41A3-A697-F6280DFB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34924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8 entrevistas presenciales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023A28C-84F5-44D8-BC4C-96D8DC02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349240"/>
            <a:ext cx="269748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EAF5"/>
          </a:solidFill>
          <a:ln xmlns:a="http://schemas.openxmlformats.org/drawingml/2006/main" w="11906">
            <a:solidFill>
              <a:srgbClr val="3E63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1BB5A3F-AA2E-49B8-9B78-C3D8DB3B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34924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Barcelona + Santa Coloma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C80D045-7F4D-4E6F-B14B-756F56B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349240"/>
            <a:ext cx="269748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E6"/>
          </a:solidFill>
          <a:ln xmlns:a="http://schemas.openxmlformats.org/drawingml/2006/main" w="11906">
            <a:solidFill>
              <a:srgbClr val="C4707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6053E13-3AF1-4D5E-8E00-F25AAB08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34924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mayo–julio de 2026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501196A-2EC5-47C0-B2F1-33C5CB6F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5349240"/>
            <a:ext cx="269748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9D6"/>
          </a:solidFill>
          <a:ln xmlns:a="http://schemas.openxmlformats.org/drawingml/2006/main" w="11906">
            <a:solidFill>
              <a:srgbClr val="A1770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C003C31-0685-42CC-9FF7-66297BC0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534924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José · investigación independiente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2258C51-9C61-435B-B7E3-ED0C8152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636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501DBF5-5178-4821-AA00-0F968AD4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62636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63A8"/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FAFE2EC-E887-4870-BA2B-DFF2E51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" y="62636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EBC2CD3-7619-4E65-8AD5-34A1A4B7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016" y="62636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68806441-3EA3-4912-B45F-F2CC42C0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048" y="62636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A594513-A4D7-490C-BE0E-8A129579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62636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141"/>
          </a:solidFill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B13DFF5-8333-47EE-8E7F-AB0645D2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9112" y="62636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510"/>
          </a:solidFill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FF05A78-01F7-4FA6-9053-02ACBB05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144" y="626364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770A"/>
          </a:solidFill>
        </p:spPr>
      </p:sp>
    </p:spTree>
    <p:extLst>
      <p:ext uri="{BB962C8B-B14F-4D97-AF65-F5344CB8AC3E}">
        <p14:creationId xmlns:p14="http://schemas.microsoft.com/office/powerpoint/2010/main" val="18101931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E855721-1A4D-46DC-A537-E97435EB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A pie de mostrador  ·  informe de escucha 01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86381B8-17A1-435C-ACB4-2ACAAC6A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7724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La ausencia de tecnología no fue el problema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7B4A418-5D95-4765-870B-9645961A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91640"/>
            <a:ext cx="5349240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E4F0E6"/>
          </a:solidFill>
          <a:ln xmlns:a="http://schemas.openxmlformats.org/drawingml/2006/main" w="11906">
            <a:solidFill>
              <a:srgbClr val="2E8B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B400FD0-8837-43E0-BAA7-8FF3640B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8137CEB-2D78-4FFB-B368-10B7FAA7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920240"/>
            <a:ext cx="4343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Conocimiento y dependencia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14F0A72-6978-4739-98AE-F30492B1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331720"/>
            <a:ext cx="43434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2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Precios, clientela y excepciones siguen concentrados en quien lleva la tienda.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5F5799B-96D6-4E2C-92DB-3C6FF144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91640"/>
            <a:ext cx="5349240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E5EAF5"/>
          </a:solidFill>
          <a:ln xmlns:a="http://schemas.openxmlformats.org/drawingml/2006/main" w="11906">
            <a:solidFill>
              <a:srgbClr val="3E63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2DA3BAA-E566-466A-B98B-09A623A7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024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2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6B5FD9D-8309-4E52-B13E-4F70150D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920240"/>
            <a:ext cx="4343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Inventario, márgenes y decisión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040C277-549C-4C87-B8BD-0B5B98A1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331720"/>
            <a:ext cx="43434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2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La base rara vez está del todo a la vista o se puede comprobar producto a producto.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8775641-E39B-446F-AB94-75B78D3E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03320"/>
            <a:ext cx="5349240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E2F0F3"/>
          </a:solidFill>
          <a:ln xmlns:a="http://schemas.openxmlformats.org/drawingml/2006/main" w="11906">
            <a:solidFill>
              <a:srgbClr val="0A86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736DECA-C9DB-4C41-8871-91D0E1B3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93192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3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3F677CF-4877-43AE-8D1B-323C2247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931920"/>
            <a:ext cx="4343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Proveedores, datos y coordinación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3E3AE52-B40B-42A7-B656-9459CD5D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343400"/>
            <a:ext cx="43434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2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La información llega por capas dispersas; convertirla en decisión exige tiempo y criterio.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4D3D9DE-2261-457B-A647-A3D9E78B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03320"/>
            <a:ext cx="5349240" cy="173736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2E3E6"/>
          </a:solidFill>
          <a:ln xmlns:a="http://schemas.openxmlformats.org/drawingml/2006/main" w="11906">
            <a:solidFill>
              <a:srgbClr val="C4707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7B5C5A5-7046-4AE9-B38A-758A17A2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4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5F39BF0-0A68-4ACF-A2B5-7082091B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931920"/>
            <a:ext cx="4343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Herramientas, normativa y confianza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424141C-2EAE-4036-A1D3-CDDE4716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343400"/>
            <a:ext cx="43434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2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Una herramienta se queda cuando reduce trabajo visible y encaja en el flujo real.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7744D59-9F69-41E2-AF1A-2B29AD51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715000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La distancia entre herramientas disponibles y decisiones en contexto es la tensión transversal.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DF4A900-E03C-4A95-85DB-20DC2407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99499B2-ADAC-47E3-97D8-B5D26E48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63A8"/>
          </a:solidFill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2594429-A453-4466-9CC2-4D1D09EF1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074BDFD-6B5D-446F-9DD3-737FA2C8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CC32FB3-BA05-4BB2-9D30-5AD27814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744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B66F978-7B08-4DE5-B35D-A37A8587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141"/>
          </a:solidFill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D2B3BA9-81E3-4073-9DA3-0E08CCEB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510"/>
          </a:solidFill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D127D92-7634-40B0-80ED-D2C4013A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911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770A"/>
          </a:solidFill>
        </p:spPr>
      </p:sp>
    </p:spTree>
    <p:extLst>
      <p:ext uri="{BB962C8B-B14F-4D97-AF65-F5344CB8AC3E}">
        <p14:creationId xmlns:p14="http://schemas.microsoft.com/office/powerpoint/2010/main" val="12754953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C2B1F59-321A-48F0-BF9F-996DD5E7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A pie de mostrador  ·  informe de escucha 01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A87C220-2BFA-4C8B-A788-002BA586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7724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Quiénes participaron y cómo leer el informe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807F981-D694-4ED8-AC1C-8FDA620A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96012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Ocho entrevistas presenciales y semiestructuradas, seleccionadas mediante redes de confianza. La muestra no representa al comercio local.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F77B69B-181F-4A3C-8EA7-09AC1359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0"/>
            <a:ext cx="269748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4F0E6"/>
          </a:solidFill>
          <a:ln xmlns:a="http://schemas.openxmlformats.org/drawingml/2006/main" w="11906">
            <a:solidFill>
              <a:srgbClr val="2E8B4A"/>
            </a:solidFill>
            <a:prstDash val="solid"/>
          </a:ln>
          <a:effectLst xmlns:a="http://schemas.openxmlformats.org/drawingml/2006/main">
            <a:outerShdw blurRad="63500" dist="25400" dir="5400000" sx="100000" sy="100000" kx="0" ky="0" algn="bl" rotWithShape="0">
              <a:srgbClr val="5A5037">
                <a:alpha val="14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9BC97A1-F882-4570-892E-BB3B8F7D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7168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BF46D8C-3D98-4FEE-AA89-F0460179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2331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Alimentación saludable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9FC9385-09B6-4FCF-924D-81250BD2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756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1 persona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B32F82C-30BC-413B-AE03-C0BB4D90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2286000"/>
            <a:ext cx="269748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5EAF5"/>
          </a:solidFill>
          <a:ln xmlns:a="http://schemas.openxmlformats.org/drawingml/2006/main" w="11906">
            <a:solidFill>
              <a:srgbClr val="3E63A8"/>
            </a:solidFill>
            <a:prstDash val="solid"/>
          </a:ln>
          <a:effectLst xmlns:a="http://schemas.openxmlformats.org/drawingml/2006/main">
            <a:outerShdw blurRad="63500" dist="25400" dir="5400000" sx="100000" sy="100000" kx="0" ky="0" algn="bl" rotWithShape="0">
              <a:srgbClr val="5A5037">
                <a:alpha val="14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53BEF1F-A771-4EE2-AB65-65FC300A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2487168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63A8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0DAEE4A-FB3B-45BA-BB50-401400F7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2743200"/>
            <a:ext cx="2331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Confección y arreglos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98E80D3-B895-405D-9D38-D7F0AB24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333756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1 persona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13032FA-A39C-4F23-BD89-5273C4C9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064" y="2286000"/>
            <a:ext cx="269748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2E3E6"/>
          </a:solidFill>
          <a:ln xmlns:a="http://schemas.openxmlformats.org/drawingml/2006/main" w="11906">
            <a:solidFill>
              <a:srgbClr val="C4707E"/>
            </a:solidFill>
            <a:prstDash val="solid"/>
          </a:ln>
          <a:effectLst xmlns:a="http://schemas.openxmlformats.org/drawingml/2006/main">
            <a:outerShdw blurRad="63500" dist="25400" dir="5400000" sx="100000" sy="100000" kx="0" ky="0" algn="bl" rotWithShape="0">
              <a:srgbClr val="5A5037">
                <a:alpha val="14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E6276D5-9E16-4A07-BF77-FE9528A4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487168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517FC89-E729-4834-9D43-1F493C72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743200"/>
            <a:ext cx="2331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Estética y belleza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FF01B97-A2D9-47E2-AD28-A9C84636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1 persona + colaboradoras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73AA6EE-1502-470E-BEB0-EA0E8CEB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286000"/>
            <a:ext cx="269748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2F0F3"/>
          </a:solidFill>
          <a:ln xmlns:a="http://schemas.openxmlformats.org/drawingml/2006/main" w="11906">
            <a:solidFill>
              <a:srgbClr val="0A86A8"/>
            </a:solidFill>
            <a:prstDash val="solid"/>
          </a:ln>
          <a:effectLst xmlns:a="http://schemas.openxmlformats.org/drawingml/2006/main">
            <a:outerShdw blurRad="63500" dist="25400" dir="5400000" sx="100000" sy="100000" kx="0" ky="0" algn="bl" rotWithShape="0">
              <a:srgbClr val="5A5037">
                <a:alpha val="14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B1C87B3-135C-4823-88C8-5A84F63E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2487168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1F3A39C-A603-4743-9CB8-81C63F28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2743200"/>
            <a:ext cx="2331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Cervecera artesana con tiendas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A02247C-4B15-41C6-8EA1-E241C8F0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333756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~13 empleados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A48DB50B-5419-4CA7-B77D-F7EC71FB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269748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CF0DF"/>
          </a:solidFill>
          <a:ln xmlns:a="http://schemas.openxmlformats.org/drawingml/2006/main" w="11906">
            <a:solidFill>
              <a:srgbClr val="6F8A1A"/>
            </a:solidFill>
            <a:prstDash val="solid"/>
          </a:ln>
          <a:effectLst xmlns:a="http://schemas.openxmlformats.org/drawingml/2006/main">
            <a:outerShdw blurRad="63500" dist="25400" dir="5400000" sx="100000" sy="100000" kx="0" ky="0" algn="bl" rotWithShape="0">
              <a:srgbClr val="5A5037">
                <a:alpha val="14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59296DB-419B-47CC-B660-AD3654A0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088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D8154E8-89F2-4D66-9C25-62C9532A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9120"/>
            <a:ext cx="2331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Detergentes y cosmética a granel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4826125-D87E-4D94-B1B9-5F554E1A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348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pareja fundadora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4EB7A96-9AC5-462F-A67F-A26E2895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931920"/>
            <a:ext cx="269748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5E2E2"/>
          </a:solidFill>
          <a:ln xmlns:a="http://schemas.openxmlformats.org/drawingml/2006/main" w="11906">
            <a:solidFill>
              <a:srgbClr val="C04141"/>
            </a:solidFill>
            <a:prstDash val="solid"/>
          </a:ln>
          <a:effectLst xmlns:a="http://schemas.openxmlformats.org/drawingml/2006/main">
            <a:outerShdw blurRad="63500" dist="25400" dir="5400000" sx="100000" sy="100000" kx="0" ky="0" algn="bl" rotWithShape="0">
              <a:srgbClr val="5A5037">
                <a:alpha val="14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6B0D292-6156-47DD-889D-A8D271C3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133088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141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CCE7A59-66F5-468E-BF6E-F71FD1C5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89120"/>
            <a:ext cx="2331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Carnicería premium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B85B238-C26F-4673-82A4-72BE70F4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98348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2 socios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E3C21687-8644-4F68-826B-A13518DA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064" y="3931920"/>
            <a:ext cx="269748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3E8DB"/>
          </a:solidFill>
          <a:ln xmlns:a="http://schemas.openxmlformats.org/drawingml/2006/main" w="11906">
            <a:solidFill>
              <a:srgbClr val="8A5510"/>
            </a:solidFill>
            <a:prstDash val="solid"/>
          </a:ln>
          <a:effectLst xmlns:a="http://schemas.openxmlformats.org/drawingml/2006/main">
            <a:outerShdw blurRad="63500" dist="25400" dir="5400000" sx="100000" sy="100000" kx="0" ky="0" algn="bl" rotWithShape="0">
              <a:srgbClr val="5A5037">
                <a:alpha val="14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9D107E0F-D957-4EB3-8447-44ADFAE8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133088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510"/>
          </a:solidFill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7DA7C18-ED1F-4D49-A40B-A73854A2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389120"/>
            <a:ext cx="2331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Café de especialidad y brunch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49D9AA0-A359-467B-BC16-38AC8243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98348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propietaria + equipo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3015D85-61C1-4409-9AAB-EE7FE692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3931920"/>
            <a:ext cx="269748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3EBD8"/>
          </a:solidFill>
          <a:ln xmlns:a="http://schemas.openxmlformats.org/drawingml/2006/main" w="11906">
            <a:solidFill>
              <a:srgbClr val="A1770A"/>
            </a:solidFill>
            <a:prstDash val="solid"/>
          </a:ln>
          <a:effectLst xmlns:a="http://schemas.openxmlformats.org/drawingml/2006/main">
            <a:outerShdw blurRad="63500" dist="25400" dir="5400000" sx="100000" sy="100000" kx="0" ky="0" algn="bl" rotWithShape="0">
              <a:srgbClr val="5A5037">
                <a:alpha val="14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2756D63-1786-4D53-8FF1-6721E9A4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4133088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770A"/>
          </a:solidFill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07DEDEC-98E6-4F36-82DB-1941F0C7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4389120"/>
            <a:ext cx="2331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Artesanía y diseño local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704666BD-08C2-4626-A275-B5BB19CD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4983480"/>
            <a:ext cx="2331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pareja fundadora · 71 artesanos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13B21686-47A5-4BA6-8505-02BFC52D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06440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Barcelona y Santa Coloma · mayo–julio de 2026 · citas anonimizadas y editadas mínimamente para claridad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2BE4214F-A64C-46A5-9743-62E9D8CB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01B04D61-FAD7-4F81-A5B5-7AF0501D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63A8"/>
          </a:solidFill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F79304A2-75C9-430E-B906-D554BE33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89DA3596-A0EC-4C9A-BFAC-D30AD17A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09580A9F-BE1E-49A9-BBBC-A8C4A3C3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744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FB0D2496-55E7-4E48-917E-5967911F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141"/>
          </a:solidFill>
        </p:spPr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02097C28-511B-4869-ACBF-C9BCD5DE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510"/>
          </a:solidFill>
        </p:spPr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EFB03958-22B3-4048-9966-24788931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911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770A"/>
          </a:solidFill>
        </p:spPr>
      </p:sp>
    </p:spTree>
    <p:extLst>
      <p:ext uri="{BB962C8B-B14F-4D97-AF65-F5344CB8AC3E}">
        <p14:creationId xmlns:p14="http://schemas.microsoft.com/office/powerpoint/2010/main" val="21469473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EAD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A71F2AC-59DF-4F40-9E0A-AD92273F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A pie de mostrador  ·  informe de escucha 01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AB166E7-7982-45B3-BC7F-4DF6B7D7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6F8A1A"/>
                </a:solidFill>
                <a:latin typeface="Trebuchet MS"/>
                <a:ea typeface="Trebuchet MS"/>
                <a:cs typeface="Trebuchet MS"/>
              </a:rPr>
              <a:t>LO QUE YA FUNCIONA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566C684-E8AA-4F49-8EA7-27D94B41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557784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300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Oficio, relación y comunidad ya sostienen estas tiendas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7CFE86C-3E61-4261-BA35-51E6F67F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80360"/>
            <a:ext cx="53949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5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El oficio aparece como criterio acumulado y capacidad de reconstruirse. La relación personal sostiene recurrencia y una forma de servicio difícil de copiar. La comunidad aporta referencias, aprendizaje y apoyo práctico allí donde no hay una estructura formal. No son activos sentimentales: son parte del funcionamiento del negocio.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8814864-E3FD-4150-9B85-DE8BFC80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234440"/>
            <a:ext cx="5120640" cy="832104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9EC"/>
          </a:solidFill>
          <a:ln xmlns:a="http://schemas.openxmlformats.org/drawingml/2006/main" w="11906">
            <a:solidFill>
              <a:srgbClr val="A1770A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5A5037">
                <a:alpha val="18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D43CDF3-AF34-431A-B340-DCC2EA88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325880"/>
            <a:ext cx="4791456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26251F"/>
                </a:solidFill>
                <a:latin typeface="Calibri"/>
                <a:ea typeface="Calibri"/>
                <a:cs typeface="Calibri"/>
              </a:rPr>
              <a:t>«Nosotros no tenemos competencia, tenemos compañeros.»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D366B64-7554-489D-A4B2-CE6B0ED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739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60480F3-9436-4F1E-850F-922FC5B3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1700784"/>
            <a:ext cx="46085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UNA DE LAS PERSONAS FUNDADORAS · ARTESANÍA Y DISEÑO LOCAL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C42098C-0793-4A66-95AA-361C03DE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856ECA3-006C-4F4C-A883-B3D71444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63A8"/>
          </a:solidFill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57973BE-BB6C-40DD-891A-84DC663B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A1DB3AD-6458-4914-BE90-226CB1C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39FD088-1F08-4B1C-A035-538A1E76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744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6CC9FD59-02DF-45D1-9D6A-E583C8CB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141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1E5EBC5-992A-4FEB-B5B9-563F496D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510"/>
          </a:solidFill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F2C7E20-066B-4858-9A76-F62E11CA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911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770A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65C8264-ABF1-418E-B14B-4D8D10E3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6291072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A pie de mostrador · 8 entrevistas · julio de 2026</a:t>
            </a:r>
          </a:p>
        </p:txBody>
      </p:sp>
    </p:spTree>
    <p:extLst>
      <p:ext uri="{BB962C8B-B14F-4D97-AF65-F5344CB8AC3E}">
        <p14:creationId xmlns:p14="http://schemas.microsoft.com/office/powerpoint/2010/main" val="6399683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9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DAF5505-27E7-4512-93FF-34E57251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A pie de mostrador  ·  informe de escucha 01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B606235-E990-408E-A56A-32E5E04B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E8B4A"/>
                </a:solidFill>
                <a:latin typeface="Trebuchet MS"/>
                <a:ea typeface="Trebuchet MS"/>
                <a:cs typeface="Trebuchet MS"/>
              </a:rPr>
              <a:t>HALLAZGO 01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76EBA37-C946-4ABE-9322-F645D04D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557784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300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El negocio vive en personas, no solo en sistemas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52F3B9F-D1F4-4560-B86A-434F71F0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80360"/>
            <a:ext cx="53949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5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Precios, proveedores, clientes y excepciones dependen de conocimiento tácito. Delegar tareas no equivale a delegar juicio. Esto dificulta ausentarse, crecer o traspasar el negocio; no es un fallo individual. Límite: para algunas tiendas, la relación personal es una decisión deliberada.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19F755A-7F09-4D49-8F45-1453DE10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234440"/>
            <a:ext cx="5120640" cy="832104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5FAF4"/>
          </a:solidFill>
          <a:ln xmlns:a="http://schemas.openxmlformats.org/drawingml/2006/main" w="11906">
            <a:solidFill>
              <a:srgbClr val="2E8B4A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5A5037">
                <a:alpha val="18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B465FB7-27F3-4902-88A3-97A976B0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325880"/>
            <a:ext cx="4791456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26251F"/>
                </a:solidFill>
                <a:latin typeface="Calibri"/>
                <a:ea typeface="Calibri"/>
                <a:cs typeface="Calibri"/>
              </a:rPr>
              <a:t>«Todo está en mi cabeza. No tengo nada de sistema.»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83ACEC4-008D-4521-AD57-00E8609A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739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2910E59-4792-4B1B-BEB4-65A1EB88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1700784"/>
            <a:ext cx="46085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PROPIETARIA · TIENDA DE ALIMENTACIÓN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07DC3F5-F979-48EB-BC7A-52BF2CCB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340864"/>
            <a:ext cx="5120640" cy="1069848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F0F4E7"/>
          </a:solidFill>
          <a:ln xmlns:a="http://schemas.openxmlformats.org/drawingml/2006/main" w="11906">
            <a:solidFill>
              <a:srgbClr val="6F8A1A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5A5037">
                <a:alpha val="18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916988D-9F69-4BD6-BB03-A33C440D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432304"/>
            <a:ext cx="4791456" cy="612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26251F"/>
                </a:solidFill>
                <a:latin typeface="Calibri"/>
                <a:ea typeface="Calibri"/>
                <a:cs typeface="Calibri"/>
              </a:rPr>
              <a:t>«Como era la dueña, ella lo tenía en la cabeza... no estaba registrado en el sistema.»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F751279-1F3F-4677-8D24-53E1FA48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3118104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3BC0D44-DB63-45BE-96D8-12E3E316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3044952"/>
            <a:ext cx="46085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NUEVO PROPIETARIO · TIENDA A GRANEL, SOBRE EL TRASPASO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0081D79-CBCA-4674-9329-EE92971F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73EF2FC-B94F-4D72-A126-7D069EB7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63A8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CBB018E-2254-4D3E-A4A8-23676D00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1C70B39-5DE1-4576-9483-09965735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3887097-8DDF-4848-BD21-172CE46A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744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6616CBB-5962-4432-A424-D0088A6B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141"/>
          </a:solidFill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F79B4BF-1503-4293-A35D-5CBFD5A4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510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61BAD35-510C-438F-B37C-784B1A22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911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770A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6B6D790-EB24-4181-9127-4975A108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6291072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A pie de mostrador · 8 entrevistas · julio de 2026</a:t>
            </a:r>
          </a:p>
        </p:txBody>
      </p:sp>
    </p:spTree>
    <p:extLst>
      <p:ext uri="{BB962C8B-B14F-4D97-AF65-F5344CB8AC3E}">
        <p14:creationId xmlns:p14="http://schemas.microsoft.com/office/powerpoint/2010/main" val="9380236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D9D403B-8E42-4BCE-9066-4A08FF56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A pie de mostrador  ·  informe de escucha 01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485B1E-506A-4923-AF18-40977BB9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A86A8"/>
                </a:solidFill>
                <a:latin typeface="Trebuchet MS"/>
                <a:ea typeface="Trebuchet MS"/>
                <a:cs typeface="Trebuchet MS"/>
              </a:rPr>
              <a:t>HALLAZGO 02–03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A96FA9F-4537-4BCA-9A0B-C8E919E6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557784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300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Inventario y márgenes rara vez están del todo a la vista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922460D-B837-4078-9CAE-B054A222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80360"/>
            <a:ext cx="53949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5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En varias conversaciones, inventario, reposición y margen aparecieron como asuntos conocidos pero poco consolidados. Los datos viven entre memoria, hojas, facturas, TPV y comprobaciones manuales. Gestionar varios proveedores añade pedidos, precios y facturas por canales distintos.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01001FA-69E3-43C6-8257-8D9C8A3C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234440"/>
            <a:ext cx="5120640" cy="1307592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7F8"/>
          </a:solidFill>
          <a:ln xmlns:a="http://schemas.openxmlformats.org/drawingml/2006/main" w="11906">
            <a:solidFill>
              <a:srgbClr val="0A86A8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5A5037">
                <a:alpha val="18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5EAEC21-613D-4FBC-BCD4-B4697FB4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325880"/>
            <a:ext cx="4791456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26251F"/>
                </a:solidFill>
                <a:latin typeface="Calibri"/>
                <a:ea typeface="Calibri"/>
                <a:cs typeface="Calibri"/>
              </a:rPr>
              <a:t>«A día de hoy tampoco tenemos un inventario... tampoco podemos decir cuál es nuestra ganancia por producto.»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8EF5A7E-6BAF-42C8-80AC-C0B72AE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249424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43BA6E7-BE55-4EB2-AAE6-9C93A5D8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176272"/>
            <a:ext cx="46085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PROPIETARIO · TIENDA A GRANEL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5EC60C9-F00E-4EE6-ADAC-5D5EF362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200400"/>
            <a:ext cx="1463040" cy="86868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4F0E6"/>
          </a:solidFill>
          <a:ln xmlns:a="http://schemas.openxmlformats.org/drawingml/2006/main" w="11906">
            <a:solidFill>
              <a:srgbClr val="2E8B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2E0E944-F176-4982-B3DA-F8F16DE3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310128"/>
            <a:ext cx="13167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DATOS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275F644-ED66-4111-9A4C-556B6DA4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84448"/>
            <a:ext cx="131673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inventario, margen, facturas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B3C0328-867C-4135-AEC4-EBDA75FA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3401568"/>
            <a:ext cx="411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10D3D00-82A5-4234-A7D3-3F8321C2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200400"/>
            <a:ext cx="1463040" cy="86868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4DD"/>
          </a:solidFill>
          <a:ln xmlns:a="http://schemas.openxmlformats.org/drawingml/2006/main" w="11906">
            <a:solidFill>
              <a:srgbClr val="A1770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06DDEB8-C758-45FE-9600-CEF5F7BA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310128"/>
            <a:ext cx="13167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INTERPRETACIÓN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20EBFE7-A227-4D2B-90F4-499F0045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584448"/>
            <a:ext cx="131673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fiabilidad, tiempo, contexto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A93F1A7-50AB-45F3-89DA-C1CCB42B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8" y="3401568"/>
            <a:ext cx="411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8296298-710F-405B-BCFA-19C9D760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0" y="3200400"/>
            <a:ext cx="1463040" cy="86868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5EAF5"/>
          </a:solidFill>
          <a:ln xmlns:a="http://schemas.openxmlformats.org/drawingml/2006/main" w="11906">
            <a:solidFill>
              <a:srgbClr val="3E63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F8C5CB6-BFC7-4F09-B1A6-6A1E082D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3310128"/>
            <a:ext cx="13167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ACCIÓN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AC449D0-86A0-442B-8131-91FAC278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3584448"/>
            <a:ext cx="1316736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comprar, reponer, fijar precios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BD5311B-A266-448F-B4B4-F8AAF750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31D33A6-4036-4288-8432-7C5BC608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63A8"/>
          </a:solidFill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21D353E-50F9-44E6-8E4B-1C8D6423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BAB339F-4FEE-46F6-B29E-6BC5D75A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CACE8B4-CFBC-4B04-AC87-D812E514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744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0A4D660-6545-47C8-AFB2-A5CFB394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141"/>
          </a:solidFill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28FB0561-3136-4E96-9D23-94E589B7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510"/>
          </a:solidFill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ADFEA12-2197-4046-898E-57B17C9B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911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770A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21B626B-D4E3-48E7-902E-D9DEEB19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6291072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A pie de mostrador · 8 entrevistas · julio de 2026</a:t>
            </a:r>
          </a:p>
        </p:txBody>
      </p:sp>
    </p:spTree>
    <p:extLst>
      <p:ext uri="{BB962C8B-B14F-4D97-AF65-F5344CB8AC3E}">
        <p14:creationId xmlns:p14="http://schemas.microsoft.com/office/powerpoint/2010/main" val="13624292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5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6102582-EEF1-4B40-885D-B0BA806B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A pie de mostrador  ·  informe de escucha 01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9AC8DE9-D723-4998-A833-FFF08C48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C4707E"/>
                </a:solidFill>
                <a:latin typeface="Trebuchet MS"/>
                <a:ea typeface="Trebuchet MS"/>
                <a:cs typeface="Trebuchet MS"/>
              </a:rPr>
              <a:t>HALLAZGO 04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9C83193-2C27-4B37-86AB-1EF53F93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557784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300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Las herramientas se quedan cuando reducen trabajo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EE58A3B-0417-4374-AF5B-792E08F9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80360"/>
            <a:ext cx="53949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5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En esta muestra, la aceptación dependió de ahorrar trabajo visible, funcionar en el momento correcto y no añadir complejidad. WhatsApp resuelve la urgencia; no resuelve el sistema. VeriFactu ya exige decisiones y una fuente de confianza. Las percepciones citadas no son asesoramiento fiscal.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3513FD8-4245-43C2-9475-CDE67249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234440"/>
            <a:ext cx="5120640" cy="1069848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FAEEF0"/>
          </a:solidFill>
          <a:ln xmlns:a="http://schemas.openxmlformats.org/drawingml/2006/main" w="11906">
            <a:solidFill>
              <a:srgbClr val="C4707E"/>
            </a:solidFill>
            <a:prstDash val="solid"/>
          </a:ln>
          <a:effectLst xmlns:a="http://schemas.openxmlformats.org/drawingml/2006/main">
            <a:outerShdw blurRad="76200" dist="25400" dir="5400000" sx="100000" sy="100000" kx="0" ky="0" algn="bl" rotWithShape="0">
              <a:srgbClr val="5A5037">
                <a:alpha val="18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EE0C287-DBBC-417B-B095-E55AB479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325880"/>
            <a:ext cx="4791456" cy="612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26251F"/>
                </a:solidFill>
                <a:latin typeface="Calibri"/>
                <a:ea typeface="Calibri"/>
                <a:cs typeface="Calibri"/>
              </a:rPr>
              <a:t>«Yo me ahorro mucho trabajo con eso, porque si no aquí estuviera yo, mira.»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6B256BF-E800-43D4-B9A6-EF53AD68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011680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5B11247-FA45-4C23-B513-BC2E67DE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1938528"/>
            <a:ext cx="46085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PROPIETARIA · SALÓN DE ESTÉTICA, SOBRE SU APP DE RESERVAS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A04F6BC-96EB-4D8D-A0D3-F7E33D05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200400"/>
            <a:ext cx="1664208" cy="105156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E4F0E6"/>
          </a:solidFill>
          <a:ln xmlns:a="http://schemas.openxmlformats.org/drawingml/2006/main" w="11906">
            <a:solidFill>
              <a:srgbClr val="2E8B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A8FED2A-EB85-42C4-A509-C6E72093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2E8B4A"/>
                </a:solidFill>
                <a:latin typeface="Trebuchet MS"/>
                <a:ea typeface="Trebuchet MS"/>
                <a:cs typeface="Trebuchet MS"/>
              </a:rPr>
              <a:t>SE QUEDA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7450BD5-EA5A-40C2-B342-9D41C634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584448"/>
            <a:ext cx="148132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ahorro claro · valor visible · encaja en el flujo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A7D2EBD-294F-4F0C-B0BC-B829EAF7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3200400"/>
            <a:ext cx="1664208" cy="105156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3E8DB"/>
          </a:solidFill>
          <a:ln xmlns:a="http://schemas.openxmlformats.org/drawingml/2006/main" w="11906">
            <a:solidFill>
              <a:srgbClr val="8A551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6E1B768-F585-42E4-A7E6-9E2B3D9B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A1770A"/>
                </a:solidFill>
                <a:latin typeface="Trebuchet MS"/>
                <a:ea typeface="Trebuchet MS"/>
                <a:cs typeface="Trebuchet MS"/>
              </a:rPr>
              <a:t>WORKAROUND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38576DF-EBFA-4FD2-8F3F-61E8606E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3584448"/>
            <a:ext cx="148132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WhatsApp: inmediato · familiar · fragmentado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8DC5899-AA85-49E5-9BEE-6FFAFEC1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112" y="3200400"/>
            <a:ext cx="1664208" cy="105156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E5EAF5"/>
          </a:solidFill>
          <a:ln xmlns:a="http://schemas.openxmlformats.org/drawingml/2006/main" w="11906">
            <a:solidFill>
              <a:srgbClr val="3E63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2F160EA-2B22-4032-A3EE-72885417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1552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3E63A8"/>
                </a:solidFill>
                <a:latin typeface="Trebuchet MS"/>
                <a:ea typeface="Trebuchet MS"/>
                <a:cs typeface="Trebuchet MS"/>
              </a:rPr>
              <a:t>VERIFACTU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1A9BA25-6FBF-4563-B0D4-ADC4E0CC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1552" y="3584448"/>
            <a:ext cx="1481328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1 ene 2027: sociedades · 1 jul 2027: resto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DE94DD4-8978-453B-B0CA-9EBB818B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AD11920-663C-4A5F-B24B-4EF449BC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63A8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AEA72D2E-600F-4424-8484-FAC52287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7BF58B4-6E4A-4AA4-8D28-49C77145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E9244A2-3263-4EB3-BE97-AB2405F8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744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DD9DE91-2DC6-44B6-A47B-F3F5124B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141"/>
          </a:solidFill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E682E69C-BD39-4973-A85B-4D5270E6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510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A300A94-C28E-44C4-BA40-D4A56DA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911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770A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95063CB-27CD-4B6C-93A0-93666A51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6291072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Fuente de plazos: Agencia Tributaria · contexto a julio de 2026</a:t>
            </a:r>
          </a:p>
        </p:txBody>
      </p:sp>
    </p:spTree>
    <p:extLst>
      <p:ext uri="{BB962C8B-B14F-4D97-AF65-F5344CB8AC3E}">
        <p14:creationId xmlns:p14="http://schemas.microsoft.com/office/powerpoint/2010/main" val="1387978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DAE7B9A-A828-4E4E-A756-0C464BDE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E6B4F"/>
                </a:solidFill>
                <a:latin typeface="Trebuchet MS"/>
                <a:ea typeface="Trebuchet MS"/>
                <a:cs typeface="Trebuchet MS"/>
              </a:rPr>
              <a:t>A pie de mostrador  ·  informe de escucha 01</a:t>
            </a:r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47E5A9B-5A17-4882-81D1-842108F3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11183112" cy="283464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DCEADF"/>
          </a:solidFill>
          <a:ln xmlns:a="http://schemas.openxmlformats.org/drawingml/2006/main" w="11906">
            <a:solidFill>
              <a:srgbClr val="1E6B4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E298A70-3729-4DA5-BEBC-07EB609A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097280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6251F"/>
                </a:solidFill>
                <a:latin typeface="Trebuchet MS"/>
                <a:ea typeface="Trebuchet MS"/>
                <a:cs typeface="Trebuchet MS"/>
              </a:rPr>
              <a:t>Lo que permanece abierto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FBFA8BE-B087-4524-BC31-4261D6F9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10241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500">
                <a:solidFill>
                  <a:srgbClr val="5B584C"/>
                </a:solidFill>
                <a:latin typeface="Calibri"/>
                <a:ea typeface="Calibri"/>
                <a:cs typeface="Calibri"/>
              </a:rPr>
              <a:t>Estas hipótesis necesitan más conversaciones, casos que las contradigan y observación más detallada de cómo se toman decisiones en la práctica.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1621B39-D134-45CC-954B-23BC94DE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06040"/>
            <a:ext cx="10241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E6B4F"/>
                </a:solidFill>
                <a:latin typeface="Calibri"/>
                <a:ea typeface="Calibri"/>
                <a:cs typeface="Calibri"/>
              </a:rPr>
              <a:t>¿Llevas una tienda? Deja tu email o teléfono; yo te contacto  ·  </a:t>
            </a:r>
            <a:r>
              <a:rPr sz="1700" b="1">
                <a:solidFill>
                  <a:srgbClr val="1E6B4F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ec270c43374357"/>
              </a:rPr>
              <a:t>chpmoreno.github.io/apiedemostrador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16383F2-4A1F-4470-8643-B7EFDF76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69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8B8779"/>
                </a:solidFill>
                <a:latin typeface="Trebuchet MS"/>
                <a:ea typeface="Trebuchet MS"/>
                <a:cs typeface="Trebuchet MS"/>
              </a:rPr>
              <a:t>TRES LÍMITES PARA LEER EL INFORME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50308A8-F522-4F8A-9B55-701D9C03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0799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5D8C6BD-675D-4974-9BF7-3FEB74A9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0799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8AE96BA-295E-40F6-A96C-388149AE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8056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26251F"/>
                </a:solidFill>
                <a:latin typeface="Calibri"/>
                <a:ea typeface="Calibri"/>
                <a:cs typeface="Calibri"/>
              </a:rPr>
              <a:t>Esta muestra no representa al comercio local.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50304CE-B1A8-41C8-96FA-3A2BFE61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749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7E353D5-137F-4DFC-8C6D-A31B93C2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749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104720A-0DB9-4351-94D3-0AB37CA9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047488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26251F"/>
                </a:solidFill>
                <a:latin typeface="Calibri"/>
                <a:ea typeface="Calibri"/>
                <a:cs typeface="Calibri"/>
              </a:rPr>
              <a:t>No todas las tiendas definen igual qué significa que les vaya bien.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CA637A4-63BA-49DD-B837-3E4278D7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4184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B4F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D4A3C38-8184-475D-AC94-93BEFFE5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4184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3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5990BDC-C500-46B6-82A9-792B7062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614416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26251F"/>
                </a:solidFill>
                <a:latin typeface="Calibri"/>
                <a:ea typeface="Calibri"/>
                <a:cs typeface="Calibri"/>
              </a:rPr>
              <a:t>Una preocupación operativa no demuestra disposición a pagar por una solución.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E275779-0013-4839-899C-B4372E9E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B4A"/>
          </a:solidFill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A80F08C-6397-4233-B202-FF651A83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63A8"/>
          </a:solidFill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F890FE4-F108-4C1C-85E6-FA7A99A2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07E"/>
          </a:solidFill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38D7026-4E08-4A05-9F24-B18B896D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86A8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89124E5-F909-4A09-9EF5-732003EB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744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8A1A"/>
          </a:solidFill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3A749F1-8CF9-40B0-A430-3D117BB1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141"/>
          </a:solidFill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DBDB84E8-B3C2-4C8F-AF9D-26AAAAE6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6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510"/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CD9E010-DE55-4C4E-818F-0123E909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9112" y="635508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770A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E7CE91F-70E3-4D77-9109-031BDC59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6291072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B8779"/>
                </a:solidFill>
                <a:latin typeface="Calibri"/>
                <a:ea typeface="Calibri"/>
                <a:cs typeface="Calibri"/>
              </a:rPr>
              <a:t>A pie de mostrador · Edición 1 · 8 entrevistas · julio de 2026 · Investigación independiente</a:t>
            </a:r>
          </a:p>
        </p:txBody>
      </p:sp>
    </p:spTree>
    <p:extLst>
      <p:ext uri="{BB962C8B-B14F-4D97-AF65-F5344CB8AC3E}">
        <p14:creationId xmlns:p14="http://schemas.microsoft.com/office/powerpoint/2010/main" val="137146316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2026-07-14T21:46:00.7330000Z</dcterms:created>
  <dcterms:modified xsi:type="dcterms:W3CDTF">2026-07-14T21:46:00.7330000Z</dcterms:modified>
</coreProperties>
</file>