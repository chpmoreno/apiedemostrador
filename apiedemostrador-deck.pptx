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Serie: A pie de mostrador. Primer vistazo público de la investigación de escucha a comercios de barrio en Barcelona, n=8, mayo-julio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muestra: 8 comercios, categorías y tamaños muy distintos. Anonimizados por categoría; los colores son el guiño de identidad.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Transparencia sin autocrítica: mirada direccional, hipótesis, citas literales. Es la sección que genera confianza.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y llamada a la acción: conversaciones de 25 minutos, contacto por email, informe completo en la web. Las tres preguntas son el gancho reflexivo.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6EE"/>
        </a:solidFill>
      </p:bgPr>
    </p:bg>
    <p:spTree>
      <p:nvGrpSpPr>
        <p:cNvPr id="1" name=""/>
        <p:cNvGrpSpPr/>
        <p:nvPr/>
      </p:nvGrpSpPr>
      <p:grpSpPr>
        <a:xfrm>
          <a:off x="0" y="0"/>
          <a:ext cx="0" cy="0"/>
          <a:chOff x="0" y="0"/>
          <a:chExt cx="0" cy="0"/>
        </a:xfrm>
      </p:grpSpPr>
      <p:sp>
        <p:nvSpPr>
          <p:cNvPr id="2" name="Shape 0"/>
          <p:cNvSpPr/>
          <p:nvPr/>
        </p:nvSpPr>
        <p:spPr>
          <a:xfrm>
            <a:off x="0" y="0"/>
            <a:ext cx="761810" cy="256032"/>
          </a:xfrm>
          <a:prstGeom prst="rect">
            <a:avLst/>
          </a:prstGeom>
          <a:solidFill>
            <a:srgbClr val="1E6B4F"/>
          </a:solidFill>
          <a:ln/>
        </p:spPr>
      </p:sp>
      <p:sp>
        <p:nvSpPr>
          <p:cNvPr id="3" name="Shape 1"/>
          <p:cNvSpPr/>
          <p:nvPr/>
        </p:nvSpPr>
        <p:spPr>
          <a:xfrm>
            <a:off x="1523619" y="0"/>
            <a:ext cx="761810" cy="256032"/>
          </a:xfrm>
          <a:prstGeom prst="rect">
            <a:avLst/>
          </a:prstGeom>
          <a:solidFill>
            <a:srgbClr val="1E6B4F"/>
          </a:solidFill>
          <a:ln/>
        </p:spPr>
      </p:sp>
      <p:sp>
        <p:nvSpPr>
          <p:cNvPr id="4" name="Shape 2"/>
          <p:cNvSpPr/>
          <p:nvPr/>
        </p:nvSpPr>
        <p:spPr>
          <a:xfrm>
            <a:off x="3047238" y="0"/>
            <a:ext cx="761810" cy="256032"/>
          </a:xfrm>
          <a:prstGeom prst="rect">
            <a:avLst/>
          </a:prstGeom>
          <a:solidFill>
            <a:srgbClr val="1E6B4F"/>
          </a:solidFill>
          <a:ln/>
        </p:spPr>
      </p:sp>
      <p:sp>
        <p:nvSpPr>
          <p:cNvPr id="5" name="Shape 3"/>
          <p:cNvSpPr/>
          <p:nvPr/>
        </p:nvSpPr>
        <p:spPr>
          <a:xfrm>
            <a:off x="4570857" y="0"/>
            <a:ext cx="761810" cy="256032"/>
          </a:xfrm>
          <a:prstGeom prst="rect">
            <a:avLst/>
          </a:prstGeom>
          <a:solidFill>
            <a:srgbClr val="1E6B4F"/>
          </a:solidFill>
          <a:ln/>
        </p:spPr>
      </p:sp>
      <p:sp>
        <p:nvSpPr>
          <p:cNvPr id="6" name="Shape 4"/>
          <p:cNvSpPr/>
          <p:nvPr/>
        </p:nvSpPr>
        <p:spPr>
          <a:xfrm>
            <a:off x="6094476" y="0"/>
            <a:ext cx="761810" cy="256032"/>
          </a:xfrm>
          <a:prstGeom prst="rect">
            <a:avLst/>
          </a:prstGeom>
          <a:solidFill>
            <a:srgbClr val="1E6B4F"/>
          </a:solidFill>
          <a:ln/>
        </p:spPr>
      </p:sp>
      <p:sp>
        <p:nvSpPr>
          <p:cNvPr id="7" name="Shape 5"/>
          <p:cNvSpPr/>
          <p:nvPr/>
        </p:nvSpPr>
        <p:spPr>
          <a:xfrm>
            <a:off x="7618095" y="0"/>
            <a:ext cx="761810" cy="256032"/>
          </a:xfrm>
          <a:prstGeom prst="rect">
            <a:avLst/>
          </a:prstGeom>
          <a:solidFill>
            <a:srgbClr val="1E6B4F"/>
          </a:solidFill>
          <a:ln/>
        </p:spPr>
      </p:sp>
      <p:sp>
        <p:nvSpPr>
          <p:cNvPr id="8" name="Shape 6"/>
          <p:cNvSpPr/>
          <p:nvPr/>
        </p:nvSpPr>
        <p:spPr>
          <a:xfrm>
            <a:off x="9141714" y="0"/>
            <a:ext cx="761810" cy="256032"/>
          </a:xfrm>
          <a:prstGeom prst="rect">
            <a:avLst/>
          </a:prstGeom>
          <a:solidFill>
            <a:srgbClr val="1E6B4F"/>
          </a:solidFill>
          <a:ln/>
        </p:spPr>
      </p:sp>
      <p:sp>
        <p:nvSpPr>
          <p:cNvPr id="9" name="Shape 7"/>
          <p:cNvSpPr/>
          <p:nvPr/>
        </p:nvSpPr>
        <p:spPr>
          <a:xfrm>
            <a:off x="10665333" y="0"/>
            <a:ext cx="761810" cy="256032"/>
          </a:xfrm>
          <a:prstGeom prst="rect">
            <a:avLst/>
          </a:prstGeom>
          <a:solidFill>
            <a:srgbClr val="1E6B4F"/>
          </a:solidFill>
          <a:ln/>
        </p:spPr>
      </p:sp>
      <p:sp>
        <p:nvSpPr>
          <p:cNvPr id="10" name="Text 8"/>
          <p:cNvSpPr/>
          <p:nvPr/>
        </p:nvSpPr>
        <p:spPr>
          <a:xfrm>
            <a:off x="502920" y="502920"/>
            <a:ext cx="5486400" cy="365760"/>
          </a:xfrm>
          <a:prstGeom prst="rect">
            <a:avLst/>
          </a:prstGeom>
          <a:noFill/>
          <a:ln/>
        </p:spPr>
        <p:txBody>
          <a:bodyPr wrap="square" lIns="0" tIns="0" rIns="0" bIns="0" rtlCol="0" anchor="ctr"/>
          <a:lstStyle/>
          <a:p>
            <a:pPr indent="0" marL="0">
              <a:buNone/>
            </a:pPr>
            <a:r>
              <a:rPr lang="en-US" sz="14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400" dirty="0">
                <a:solidFill>
                  <a:srgbClr val="8B8779"/>
                </a:solidFill>
                <a:latin typeface="Trebuchet MS" pitchFamily="34" charset="0"/>
                <a:ea typeface="Trebuchet MS" pitchFamily="34" charset="-122"/>
                <a:cs typeface="Trebuchet MS" pitchFamily="34" charset="-120"/>
              </a:rPr>
              <a:t>  ·  primer vistazo</a:t>
            </a:r>
            <a:endParaRPr lang="en-US" sz="1400" dirty="0"/>
          </a:p>
        </p:txBody>
      </p:sp>
      <p:sp>
        <p:nvSpPr>
          <p:cNvPr id="11" name="Text 9"/>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b="1" spc="200" kern="0" dirty="0">
                <a:solidFill>
                  <a:srgbClr val="1E6B4F"/>
                </a:solidFill>
                <a:latin typeface="Trebuchet MS" pitchFamily="34" charset="0"/>
                <a:ea typeface="Trebuchet MS" pitchFamily="34" charset="-122"/>
                <a:cs typeface="Trebuchet MS" pitchFamily="34" charset="-120"/>
              </a:rPr>
              <a:t>8 CONVERSACIONES · BARCELONA · MAYO – JULIO 2026</a:t>
            </a:r>
            <a:endParaRPr lang="en-US" sz="1300" dirty="0"/>
          </a:p>
        </p:txBody>
      </p:sp>
      <p:sp>
        <p:nvSpPr>
          <p:cNvPr id="12" name="Text 10"/>
          <p:cNvSpPr/>
          <p:nvPr/>
        </p:nvSpPr>
        <p:spPr>
          <a:xfrm>
            <a:off x="502920" y="1828800"/>
            <a:ext cx="10607040" cy="2377440"/>
          </a:xfrm>
          <a:prstGeom prst="rect">
            <a:avLst/>
          </a:prstGeom>
          <a:noFill/>
          <a:ln/>
        </p:spPr>
        <p:txBody>
          <a:bodyPr wrap="square" lIns="0" tIns="0" rIns="0" bIns="0" rtlCol="0" anchor="t"/>
          <a:lstStyle/>
          <a:p>
            <a:pPr indent="0" marL="0">
              <a:lnSpc>
                <a:spcPct val="102000"/>
              </a:lnSpc>
              <a:buNone/>
            </a:pPr>
            <a:r>
              <a:rPr lang="en-US" sz="4400" b="1" dirty="0">
                <a:solidFill>
                  <a:srgbClr val="26251F"/>
                </a:solidFill>
                <a:latin typeface="Trebuchet MS" pitchFamily="34" charset="0"/>
                <a:ea typeface="Trebuchet MS" pitchFamily="34" charset="-122"/>
                <a:cs typeface="Trebuchet MS" pitchFamily="34" charset="-120"/>
              </a:rPr>
              <a:t>¿Con qué están lidiando, </a:t>
            </a:r>
            <a:pPr indent="0" marL="0">
              <a:lnSpc>
                <a:spcPct val="102000"/>
              </a:lnSpc>
              <a:buNone/>
            </a:pPr>
            <a:r>
              <a:rPr lang="en-US" sz="4400" b="1" dirty="0">
                <a:solidFill>
                  <a:srgbClr val="1E6B4F"/>
                </a:solidFill>
                <a:latin typeface="Trebuchet MS" pitchFamily="34" charset="0"/>
                <a:ea typeface="Trebuchet MS" pitchFamily="34" charset="-122"/>
                <a:cs typeface="Trebuchet MS" pitchFamily="34" charset="-120"/>
              </a:rPr>
              <a:t>en serio</a:t>
            </a:r>
            <a:pPr indent="0" marL="0">
              <a:lnSpc>
                <a:spcPct val="102000"/>
              </a:lnSpc>
              <a:buNone/>
            </a:pPr>
            <a:r>
              <a:rPr lang="en-US" sz="4400" b="1" dirty="0">
                <a:solidFill>
                  <a:srgbClr val="26251F"/>
                </a:solidFill>
                <a:latin typeface="Trebuchet MS" pitchFamily="34" charset="0"/>
                <a:ea typeface="Trebuchet MS" pitchFamily="34" charset="-122"/>
                <a:cs typeface="Trebuchet MS" pitchFamily="34" charset="-120"/>
              </a:rPr>
              <a:t>, los pequeños comercios?</a:t>
            </a:r>
            <a:endParaRPr lang="en-US" sz="4400" dirty="0"/>
          </a:p>
        </p:txBody>
      </p:sp>
      <p:sp>
        <p:nvSpPr>
          <p:cNvPr id="13" name="Text 11"/>
          <p:cNvSpPr/>
          <p:nvPr/>
        </p:nvSpPr>
        <p:spPr>
          <a:xfrm>
            <a:off x="502920" y="4206240"/>
            <a:ext cx="7863840" cy="914400"/>
          </a:xfrm>
          <a:prstGeom prst="rect">
            <a:avLst/>
          </a:prstGeom>
          <a:noFill/>
          <a:ln/>
        </p:spPr>
        <p:txBody>
          <a:bodyPr wrap="square" lIns="0" tIns="0" rIns="0" bIns="0" rtlCol="0" anchor="ctr"/>
          <a:lstStyle/>
          <a:p>
            <a:pPr indent="0" marL="0">
              <a:lnSpc>
                <a:spcPct val="115000"/>
              </a:lnSpc>
              <a:buNone/>
            </a:pPr>
            <a:r>
              <a:rPr lang="en-US" sz="1700" dirty="0">
                <a:solidFill>
                  <a:srgbClr val="5B584C"/>
                </a:solidFill>
                <a:latin typeface="Calibri" pitchFamily="34" charset="0"/>
                <a:ea typeface="Calibri" pitchFamily="34" charset="-122"/>
                <a:cs typeface="Calibri" pitchFamily="34" charset="-120"/>
              </a:rPr>
              <a:t>Escuchamos a 8 comercios de barrio, sin pitch y sin encuesta. Solo una pregunta: ¿cómo es de verdad llevar tu tienda? Esto es lo que nos contaron.</a:t>
            </a:r>
            <a:endParaRPr lang="en-US" sz="1700" dirty="0"/>
          </a:p>
        </p:txBody>
      </p:sp>
      <p:sp>
        <p:nvSpPr>
          <p:cNvPr id="14" name="Shape 12"/>
          <p:cNvSpPr/>
          <p:nvPr/>
        </p:nvSpPr>
        <p:spPr>
          <a:xfrm>
            <a:off x="502920" y="5349240"/>
            <a:ext cx="2697480" cy="457200"/>
          </a:xfrm>
          <a:prstGeom prst="roundRect">
            <a:avLst>
              <a:gd name="adj" fmla="val 50000"/>
            </a:avLst>
          </a:prstGeom>
          <a:solidFill>
            <a:srgbClr val="F2ECDD"/>
          </a:solidFill>
          <a:ln w="12700">
            <a:solidFill>
              <a:srgbClr val="E3DCC9"/>
            </a:solidFill>
            <a:prstDash val="solid"/>
          </a:ln>
        </p:spPr>
      </p:sp>
      <p:sp>
        <p:nvSpPr>
          <p:cNvPr id="15" name="Text 13"/>
          <p:cNvSpPr/>
          <p:nvPr/>
        </p:nvSpPr>
        <p:spPr>
          <a:xfrm>
            <a:off x="502920" y="5349240"/>
            <a:ext cx="2697480" cy="457200"/>
          </a:xfrm>
          <a:prstGeom prst="rect">
            <a:avLst/>
          </a:prstGeom>
          <a:noFill/>
          <a:ln/>
        </p:spPr>
        <p:txBody>
          <a:bodyPr wrap="square" lIns="0" tIns="0" rIns="0" bIns="0" rtlCol="0" anchor="ctr"/>
          <a:lstStyle/>
          <a:p>
            <a:pPr algn="ctr" indent="0" marL="0">
              <a:buNone/>
            </a:pPr>
            <a:r>
              <a:rPr lang="en-US" sz="1200" dirty="0">
                <a:solidFill>
                  <a:srgbClr val="5B584C"/>
                </a:solidFill>
                <a:latin typeface="Calibri" pitchFamily="34" charset="0"/>
                <a:ea typeface="Calibri" pitchFamily="34" charset="-122"/>
                <a:cs typeface="Calibri" pitchFamily="34" charset="-120"/>
              </a:rPr>
              <a:t>8 entrevistas en profundidad</a:t>
            </a:r>
            <a:endParaRPr lang="en-US" sz="1200" dirty="0"/>
          </a:p>
        </p:txBody>
      </p:sp>
      <p:sp>
        <p:nvSpPr>
          <p:cNvPr id="16" name="Shape 14"/>
          <p:cNvSpPr/>
          <p:nvPr/>
        </p:nvSpPr>
        <p:spPr>
          <a:xfrm>
            <a:off x="3337560" y="5349240"/>
            <a:ext cx="2697480" cy="457200"/>
          </a:xfrm>
          <a:prstGeom prst="roundRect">
            <a:avLst>
              <a:gd name="adj" fmla="val 50000"/>
            </a:avLst>
          </a:prstGeom>
          <a:solidFill>
            <a:srgbClr val="F2ECDD"/>
          </a:solidFill>
          <a:ln w="12700">
            <a:solidFill>
              <a:srgbClr val="E3DCC9"/>
            </a:solidFill>
            <a:prstDash val="solid"/>
          </a:ln>
        </p:spPr>
      </p:sp>
      <p:sp>
        <p:nvSpPr>
          <p:cNvPr id="17" name="Text 15"/>
          <p:cNvSpPr/>
          <p:nvPr/>
        </p:nvSpPr>
        <p:spPr>
          <a:xfrm>
            <a:off x="3337560" y="5349240"/>
            <a:ext cx="2697480" cy="457200"/>
          </a:xfrm>
          <a:prstGeom prst="rect">
            <a:avLst/>
          </a:prstGeom>
          <a:noFill/>
          <a:ln/>
        </p:spPr>
        <p:txBody>
          <a:bodyPr wrap="square" lIns="0" tIns="0" rIns="0" bIns="0" rtlCol="0" anchor="ctr"/>
          <a:lstStyle/>
          <a:p>
            <a:pPr algn="ctr" indent="0" marL="0">
              <a:buNone/>
            </a:pPr>
            <a:r>
              <a:rPr lang="en-US" sz="1200" dirty="0">
                <a:solidFill>
                  <a:srgbClr val="5B584C"/>
                </a:solidFill>
                <a:latin typeface="Calibri" pitchFamily="34" charset="0"/>
                <a:ea typeface="Calibri" pitchFamily="34" charset="-122"/>
                <a:cs typeface="Calibri" pitchFamily="34" charset="-120"/>
              </a:rPr>
              <a:t>6 barrios y ciudades</a:t>
            </a:r>
            <a:endParaRPr lang="en-US" sz="1200" dirty="0"/>
          </a:p>
        </p:txBody>
      </p:sp>
      <p:sp>
        <p:nvSpPr>
          <p:cNvPr id="18" name="Shape 16"/>
          <p:cNvSpPr/>
          <p:nvPr/>
        </p:nvSpPr>
        <p:spPr>
          <a:xfrm>
            <a:off x="6172200" y="5349240"/>
            <a:ext cx="2697480" cy="457200"/>
          </a:xfrm>
          <a:prstGeom prst="roundRect">
            <a:avLst>
              <a:gd name="adj" fmla="val 50000"/>
            </a:avLst>
          </a:prstGeom>
          <a:solidFill>
            <a:srgbClr val="F2ECDD"/>
          </a:solidFill>
          <a:ln w="12700">
            <a:solidFill>
              <a:srgbClr val="E3DCC9"/>
            </a:solidFill>
            <a:prstDash val="solid"/>
          </a:ln>
        </p:spPr>
      </p:sp>
      <p:sp>
        <p:nvSpPr>
          <p:cNvPr id="19" name="Text 17"/>
          <p:cNvSpPr/>
          <p:nvPr/>
        </p:nvSpPr>
        <p:spPr>
          <a:xfrm>
            <a:off x="6172200" y="5349240"/>
            <a:ext cx="2697480" cy="457200"/>
          </a:xfrm>
          <a:prstGeom prst="rect">
            <a:avLst/>
          </a:prstGeom>
          <a:noFill/>
          <a:ln/>
        </p:spPr>
        <p:txBody>
          <a:bodyPr wrap="square" lIns="0" tIns="0" rIns="0" bIns="0" rtlCol="0" anchor="ctr"/>
          <a:lstStyle/>
          <a:p>
            <a:pPr algn="ctr" indent="0" marL="0">
              <a:buNone/>
            </a:pPr>
            <a:r>
              <a:rPr lang="en-US" sz="1200" dirty="0">
                <a:solidFill>
                  <a:srgbClr val="5B584C"/>
                </a:solidFill>
                <a:latin typeface="Calibri" pitchFamily="34" charset="0"/>
                <a:ea typeface="Calibri" pitchFamily="34" charset="-122"/>
                <a:cs typeface="Calibri" pitchFamily="34" charset="-120"/>
              </a:rPr>
              <a:t>de 1 persona a ~13 empleados</a:t>
            </a:r>
            <a:endParaRPr lang="en-US" sz="1200" dirty="0"/>
          </a:p>
        </p:txBody>
      </p:sp>
      <p:sp>
        <p:nvSpPr>
          <p:cNvPr id="20" name="Shape 18"/>
          <p:cNvSpPr/>
          <p:nvPr/>
        </p:nvSpPr>
        <p:spPr>
          <a:xfrm>
            <a:off x="9006840" y="5349240"/>
            <a:ext cx="2697480" cy="457200"/>
          </a:xfrm>
          <a:prstGeom prst="roundRect">
            <a:avLst>
              <a:gd name="adj" fmla="val 50000"/>
            </a:avLst>
          </a:prstGeom>
          <a:solidFill>
            <a:srgbClr val="F2ECDD"/>
          </a:solidFill>
          <a:ln w="12700">
            <a:solidFill>
              <a:srgbClr val="E3DCC9"/>
            </a:solidFill>
            <a:prstDash val="solid"/>
          </a:ln>
        </p:spPr>
      </p:sp>
      <p:sp>
        <p:nvSpPr>
          <p:cNvPr id="21" name="Text 19"/>
          <p:cNvSpPr/>
          <p:nvPr/>
        </p:nvSpPr>
        <p:spPr>
          <a:xfrm>
            <a:off x="9006840" y="5349240"/>
            <a:ext cx="2697480" cy="457200"/>
          </a:xfrm>
          <a:prstGeom prst="rect">
            <a:avLst/>
          </a:prstGeom>
          <a:noFill/>
          <a:ln/>
        </p:spPr>
        <p:txBody>
          <a:bodyPr wrap="square" lIns="0" tIns="0" rIns="0" bIns="0" rtlCol="0" anchor="ctr"/>
          <a:lstStyle/>
          <a:p>
            <a:pPr algn="ctr" indent="0" marL="0">
              <a:buNone/>
            </a:pPr>
            <a:r>
              <a:rPr lang="en-US" sz="1200" dirty="0">
                <a:solidFill>
                  <a:srgbClr val="5B584C"/>
                </a:solidFill>
                <a:latin typeface="Calibri" pitchFamily="34" charset="0"/>
                <a:ea typeface="Calibri" pitchFamily="34" charset="-122"/>
                <a:cs typeface="Calibri" pitchFamily="34" charset="-120"/>
              </a:rPr>
              <a:t>6 señales que se repiten</a:t>
            </a:r>
            <a:endParaRPr lang="en-US" sz="1200" dirty="0"/>
          </a:p>
        </p:txBody>
      </p:sp>
      <p:sp>
        <p:nvSpPr>
          <p:cNvPr id="22" name="Shape 20"/>
          <p:cNvSpPr/>
          <p:nvPr/>
        </p:nvSpPr>
        <p:spPr>
          <a:xfrm>
            <a:off x="502920" y="6263640"/>
            <a:ext cx="146304" cy="146304"/>
          </a:xfrm>
          <a:prstGeom prst="ellipse">
            <a:avLst/>
          </a:prstGeom>
          <a:solidFill>
            <a:srgbClr val="2E8B4A"/>
          </a:solidFill>
          <a:ln/>
        </p:spPr>
      </p:sp>
      <p:sp>
        <p:nvSpPr>
          <p:cNvPr id="23" name="Shape 21"/>
          <p:cNvSpPr/>
          <p:nvPr/>
        </p:nvSpPr>
        <p:spPr>
          <a:xfrm>
            <a:off x="758952" y="6263640"/>
            <a:ext cx="146304" cy="146304"/>
          </a:xfrm>
          <a:prstGeom prst="ellipse">
            <a:avLst/>
          </a:prstGeom>
          <a:solidFill>
            <a:srgbClr val="3E63A8"/>
          </a:solidFill>
          <a:ln/>
        </p:spPr>
      </p:sp>
      <p:sp>
        <p:nvSpPr>
          <p:cNvPr id="24" name="Shape 22"/>
          <p:cNvSpPr/>
          <p:nvPr/>
        </p:nvSpPr>
        <p:spPr>
          <a:xfrm>
            <a:off x="1014984" y="6263640"/>
            <a:ext cx="146304" cy="146304"/>
          </a:xfrm>
          <a:prstGeom prst="ellipse">
            <a:avLst/>
          </a:prstGeom>
          <a:solidFill>
            <a:srgbClr val="C4707E"/>
          </a:solidFill>
          <a:ln/>
        </p:spPr>
      </p:sp>
      <p:sp>
        <p:nvSpPr>
          <p:cNvPr id="25" name="Shape 23"/>
          <p:cNvSpPr/>
          <p:nvPr/>
        </p:nvSpPr>
        <p:spPr>
          <a:xfrm>
            <a:off x="1271016" y="6263640"/>
            <a:ext cx="146304" cy="146304"/>
          </a:xfrm>
          <a:prstGeom prst="ellipse">
            <a:avLst/>
          </a:prstGeom>
          <a:solidFill>
            <a:srgbClr val="0A86A8"/>
          </a:solidFill>
          <a:ln/>
        </p:spPr>
      </p:sp>
      <p:sp>
        <p:nvSpPr>
          <p:cNvPr id="26" name="Shape 24"/>
          <p:cNvSpPr/>
          <p:nvPr/>
        </p:nvSpPr>
        <p:spPr>
          <a:xfrm>
            <a:off x="1527048" y="6263640"/>
            <a:ext cx="146304" cy="146304"/>
          </a:xfrm>
          <a:prstGeom prst="ellipse">
            <a:avLst/>
          </a:prstGeom>
          <a:solidFill>
            <a:srgbClr val="6F8A1A"/>
          </a:solidFill>
          <a:ln/>
        </p:spPr>
      </p:sp>
      <p:sp>
        <p:nvSpPr>
          <p:cNvPr id="27" name="Shape 25"/>
          <p:cNvSpPr/>
          <p:nvPr/>
        </p:nvSpPr>
        <p:spPr>
          <a:xfrm>
            <a:off x="1783080" y="6263640"/>
            <a:ext cx="146304" cy="146304"/>
          </a:xfrm>
          <a:prstGeom prst="ellipse">
            <a:avLst/>
          </a:prstGeom>
          <a:solidFill>
            <a:srgbClr val="C04141"/>
          </a:solidFill>
          <a:ln/>
        </p:spPr>
      </p:sp>
      <p:sp>
        <p:nvSpPr>
          <p:cNvPr id="28" name="Shape 26"/>
          <p:cNvSpPr/>
          <p:nvPr/>
        </p:nvSpPr>
        <p:spPr>
          <a:xfrm>
            <a:off x="2039112" y="6263640"/>
            <a:ext cx="146304" cy="146304"/>
          </a:xfrm>
          <a:prstGeom prst="ellipse">
            <a:avLst/>
          </a:prstGeom>
          <a:solidFill>
            <a:srgbClr val="8A5510"/>
          </a:solidFill>
          <a:ln/>
        </p:spPr>
      </p:sp>
      <p:sp>
        <p:nvSpPr>
          <p:cNvPr id="29" name="Shape 27"/>
          <p:cNvSpPr/>
          <p:nvPr/>
        </p:nvSpPr>
        <p:spPr>
          <a:xfrm>
            <a:off x="2295144" y="6263640"/>
            <a:ext cx="146304" cy="146304"/>
          </a:xfrm>
          <a:prstGeom prst="ellipse">
            <a:avLst/>
          </a:prstGeom>
          <a:solidFill>
            <a:srgbClr val="A1770A"/>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02920" y="256032"/>
            <a:ext cx="5486400" cy="320040"/>
          </a:xfrm>
          <a:prstGeom prst="rect">
            <a:avLst/>
          </a:prstGeom>
          <a:noFill/>
          <a:ln/>
        </p:spPr>
        <p:txBody>
          <a:bodyPr wrap="square" lIns="0" tIns="0" rIns="0" bIns="0" rtlCol="0" anchor="ctr"/>
          <a:lstStyle/>
          <a:p>
            <a:pPr indent="0" marL="0">
              <a:buNone/>
            </a:pPr>
            <a:r>
              <a:rPr lang="en-US" sz="12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200" dirty="0">
                <a:solidFill>
                  <a:srgbClr val="8B8779"/>
                </a:solidFill>
                <a:latin typeface="Trebuchet MS" pitchFamily="34" charset="0"/>
                <a:ea typeface="Trebuchet MS" pitchFamily="34" charset="-122"/>
                <a:cs typeface="Trebuchet MS" pitchFamily="34" charset="-120"/>
              </a:rPr>
              <a:t>  ·  primer vistazo</a:t>
            </a:r>
            <a:endParaRPr lang="en-US" sz="1200" dirty="0"/>
          </a:p>
        </p:txBody>
      </p:sp>
      <p:sp>
        <p:nvSpPr>
          <p:cNvPr id="3" name="Text 1"/>
          <p:cNvSpPr/>
          <p:nvPr/>
        </p:nvSpPr>
        <p:spPr>
          <a:xfrm>
            <a:off x="502920" y="777240"/>
            <a:ext cx="10058400" cy="640080"/>
          </a:xfrm>
          <a:prstGeom prst="rect">
            <a:avLst/>
          </a:prstGeom>
          <a:noFill/>
          <a:ln/>
        </p:spPr>
        <p:txBody>
          <a:bodyPr wrap="square" lIns="0" tIns="0" rIns="0" bIns="0" rtlCol="0" anchor="ctr"/>
          <a:lstStyle/>
          <a:p>
            <a:pPr indent="0" marL="0">
              <a:buNone/>
            </a:pPr>
            <a:r>
              <a:rPr lang="en-US" sz="3000" b="1" dirty="0">
                <a:solidFill>
                  <a:srgbClr val="26251F"/>
                </a:solidFill>
                <a:latin typeface="Trebuchet MS" pitchFamily="34" charset="0"/>
                <a:ea typeface="Trebuchet MS" pitchFamily="34" charset="-122"/>
                <a:cs typeface="Trebuchet MS" pitchFamily="34" charset="-120"/>
              </a:rPr>
              <a:t>Ocho tiendas, ocho mundos distintos</a:t>
            </a:r>
            <a:endParaRPr lang="en-US" sz="3000" dirty="0"/>
          </a:p>
        </p:txBody>
      </p:sp>
      <p:sp>
        <p:nvSpPr>
          <p:cNvPr id="4" name="Text 2"/>
          <p:cNvSpPr/>
          <p:nvPr/>
        </p:nvSpPr>
        <p:spPr>
          <a:xfrm>
            <a:off x="502920" y="1463040"/>
            <a:ext cx="9601200" cy="594360"/>
          </a:xfrm>
          <a:prstGeom prst="rect">
            <a:avLst/>
          </a:prstGeom>
          <a:noFill/>
          <a:ln/>
        </p:spPr>
        <p:txBody>
          <a:bodyPr wrap="square" lIns="0" tIns="0" rIns="0" bIns="0" rtlCol="0" anchor="ctr"/>
          <a:lstStyle/>
          <a:p>
            <a:pPr indent="0" marL="0">
              <a:buNone/>
            </a:pPr>
            <a:r>
              <a:rPr lang="en-US" sz="1400" dirty="0">
                <a:solidFill>
                  <a:srgbClr val="5B584C"/>
                </a:solidFill>
                <a:latin typeface="Calibri" pitchFamily="34" charset="0"/>
                <a:ea typeface="Calibri" pitchFamily="34" charset="-122"/>
                <a:cs typeface="Calibri" pitchFamily="34" charset="-120"/>
              </a:rPr>
              <a:t>Sin nombres, para proteger la franqueza de las conversaciones. Cada color de esta serie pertenece a una de estas ocho tiendas: ellas se reconocerán.</a:t>
            </a:r>
            <a:endParaRPr lang="en-US" sz="1400" dirty="0"/>
          </a:p>
        </p:txBody>
      </p:sp>
      <p:sp>
        <p:nvSpPr>
          <p:cNvPr id="5" name="Shape 3"/>
          <p:cNvSpPr/>
          <p:nvPr/>
        </p:nvSpPr>
        <p:spPr>
          <a:xfrm>
            <a:off x="502920" y="2286000"/>
            <a:ext cx="2697480" cy="1417320"/>
          </a:xfrm>
          <a:prstGeom prst="roundRect">
            <a:avLst>
              <a:gd name="adj" fmla="val 3871"/>
            </a:avLst>
          </a:prstGeom>
          <a:solidFill>
            <a:srgbClr val="FFFFFF"/>
          </a:solidFill>
          <a:ln w="12700">
            <a:solidFill>
              <a:srgbClr val="E3DCC9"/>
            </a:solidFill>
            <a:prstDash val="solid"/>
          </a:ln>
          <a:effectLst>
            <a:outerShdw sx="100000" sy="100000" kx="0" ky="0" algn="bl" rotWithShape="0" blurRad="63500" dist="25400" dir="5400000">
              <a:srgbClr val="5A5037">
                <a:alpha val="14000"/>
              </a:srgbClr>
            </a:outerShdw>
          </a:effectLst>
        </p:spPr>
      </p:sp>
      <p:sp>
        <p:nvSpPr>
          <p:cNvPr id="6" name="Shape 4"/>
          <p:cNvSpPr/>
          <p:nvPr/>
        </p:nvSpPr>
        <p:spPr>
          <a:xfrm>
            <a:off x="685800" y="2487168"/>
            <a:ext cx="201168" cy="201168"/>
          </a:xfrm>
          <a:prstGeom prst="ellipse">
            <a:avLst/>
          </a:prstGeom>
          <a:solidFill>
            <a:srgbClr val="2E8B4A"/>
          </a:solidFill>
          <a:ln/>
        </p:spPr>
      </p:sp>
      <p:sp>
        <p:nvSpPr>
          <p:cNvPr id="7" name="Text 5"/>
          <p:cNvSpPr/>
          <p:nvPr/>
        </p:nvSpPr>
        <p:spPr>
          <a:xfrm>
            <a:off x="685800" y="2743200"/>
            <a:ext cx="2331720" cy="594360"/>
          </a:xfrm>
          <a:prstGeom prst="rect">
            <a:avLst/>
          </a:prstGeom>
          <a:noFill/>
          <a:ln/>
        </p:spPr>
        <p:txBody>
          <a:bodyPr wrap="square" lIns="0" tIns="0" rIns="0" bIns="0" rtlCol="0" anchor="t"/>
          <a:lstStyle/>
          <a:p>
            <a:pPr indent="0" marL="0">
              <a:buNone/>
            </a:pPr>
            <a:r>
              <a:rPr lang="en-US" sz="1350" b="1" dirty="0">
                <a:solidFill>
                  <a:srgbClr val="26251F"/>
                </a:solidFill>
                <a:latin typeface="Trebuchet MS" pitchFamily="34" charset="0"/>
                <a:ea typeface="Trebuchet MS" pitchFamily="34" charset="-122"/>
                <a:cs typeface="Trebuchet MS" pitchFamily="34" charset="-120"/>
              </a:rPr>
              <a:t>Alimentación saludable</a:t>
            </a:r>
            <a:endParaRPr lang="en-US" sz="1350" dirty="0"/>
          </a:p>
        </p:txBody>
      </p:sp>
      <p:sp>
        <p:nvSpPr>
          <p:cNvPr id="8" name="Text 6"/>
          <p:cNvSpPr/>
          <p:nvPr/>
        </p:nvSpPr>
        <p:spPr>
          <a:xfrm>
            <a:off x="685800" y="3337560"/>
            <a:ext cx="2331720" cy="274320"/>
          </a:xfrm>
          <a:prstGeom prst="rect">
            <a:avLst/>
          </a:prstGeom>
          <a:noFill/>
          <a:ln/>
        </p:spPr>
        <p:txBody>
          <a:bodyPr wrap="square" lIns="0" tIns="0" rIns="0" bIns="0" rtlCol="0" anchor="ctr"/>
          <a:lstStyle/>
          <a:p>
            <a:pPr indent="0" marL="0">
              <a:buNone/>
            </a:pPr>
            <a:r>
              <a:rPr lang="en-US" sz="1100" dirty="0">
                <a:solidFill>
                  <a:srgbClr val="8B8779"/>
                </a:solidFill>
                <a:latin typeface="Calibri" pitchFamily="34" charset="0"/>
                <a:ea typeface="Calibri" pitchFamily="34" charset="-122"/>
                <a:cs typeface="Calibri" pitchFamily="34" charset="-120"/>
              </a:rPr>
              <a:t>1 persona</a:t>
            </a:r>
            <a:endParaRPr lang="en-US" sz="1100" dirty="0"/>
          </a:p>
        </p:txBody>
      </p:sp>
      <p:sp>
        <p:nvSpPr>
          <p:cNvPr id="9" name="Shape 7"/>
          <p:cNvSpPr/>
          <p:nvPr/>
        </p:nvSpPr>
        <p:spPr>
          <a:xfrm>
            <a:off x="3364992" y="2286000"/>
            <a:ext cx="2697480" cy="1417320"/>
          </a:xfrm>
          <a:prstGeom prst="roundRect">
            <a:avLst>
              <a:gd name="adj" fmla="val 3871"/>
            </a:avLst>
          </a:prstGeom>
          <a:solidFill>
            <a:srgbClr val="FFFFFF"/>
          </a:solidFill>
          <a:ln w="12700">
            <a:solidFill>
              <a:srgbClr val="E3DCC9"/>
            </a:solidFill>
            <a:prstDash val="solid"/>
          </a:ln>
          <a:effectLst>
            <a:outerShdw sx="100000" sy="100000" kx="0" ky="0" algn="bl" rotWithShape="0" blurRad="63500" dist="25400" dir="5400000">
              <a:srgbClr val="5A5037">
                <a:alpha val="14000"/>
              </a:srgbClr>
            </a:outerShdw>
          </a:effectLst>
        </p:spPr>
      </p:sp>
      <p:sp>
        <p:nvSpPr>
          <p:cNvPr id="10" name="Shape 8"/>
          <p:cNvSpPr/>
          <p:nvPr/>
        </p:nvSpPr>
        <p:spPr>
          <a:xfrm>
            <a:off x="3547872" y="2487168"/>
            <a:ext cx="201168" cy="201168"/>
          </a:xfrm>
          <a:prstGeom prst="ellipse">
            <a:avLst/>
          </a:prstGeom>
          <a:solidFill>
            <a:srgbClr val="3E63A8"/>
          </a:solidFill>
          <a:ln/>
        </p:spPr>
      </p:sp>
      <p:sp>
        <p:nvSpPr>
          <p:cNvPr id="11" name="Text 9"/>
          <p:cNvSpPr/>
          <p:nvPr/>
        </p:nvSpPr>
        <p:spPr>
          <a:xfrm>
            <a:off x="3547872" y="2743200"/>
            <a:ext cx="2331720" cy="594360"/>
          </a:xfrm>
          <a:prstGeom prst="rect">
            <a:avLst/>
          </a:prstGeom>
          <a:noFill/>
          <a:ln/>
        </p:spPr>
        <p:txBody>
          <a:bodyPr wrap="square" lIns="0" tIns="0" rIns="0" bIns="0" rtlCol="0" anchor="t"/>
          <a:lstStyle/>
          <a:p>
            <a:pPr indent="0" marL="0">
              <a:buNone/>
            </a:pPr>
            <a:r>
              <a:rPr lang="en-US" sz="1350" b="1" dirty="0">
                <a:solidFill>
                  <a:srgbClr val="26251F"/>
                </a:solidFill>
                <a:latin typeface="Trebuchet MS" pitchFamily="34" charset="0"/>
                <a:ea typeface="Trebuchet MS" pitchFamily="34" charset="-122"/>
                <a:cs typeface="Trebuchet MS" pitchFamily="34" charset="-120"/>
              </a:rPr>
              <a:t>Confección y arreglos</a:t>
            </a:r>
            <a:endParaRPr lang="en-US" sz="1350" dirty="0"/>
          </a:p>
        </p:txBody>
      </p:sp>
      <p:sp>
        <p:nvSpPr>
          <p:cNvPr id="12" name="Text 10"/>
          <p:cNvSpPr/>
          <p:nvPr/>
        </p:nvSpPr>
        <p:spPr>
          <a:xfrm>
            <a:off x="3547872" y="3337560"/>
            <a:ext cx="2331720" cy="274320"/>
          </a:xfrm>
          <a:prstGeom prst="rect">
            <a:avLst/>
          </a:prstGeom>
          <a:noFill/>
          <a:ln/>
        </p:spPr>
        <p:txBody>
          <a:bodyPr wrap="square" lIns="0" tIns="0" rIns="0" bIns="0" rtlCol="0" anchor="ctr"/>
          <a:lstStyle/>
          <a:p>
            <a:pPr indent="0" marL="0">
              <a:buNone/>
            </a:pPr>
            <a:r>
              <a:rPr lang="en-US" sz="1100" dirty="0">
                <a:solidFill>
                  <a:srgbClr val="8B8779"/>
                </a:solidFill>
                <a:latin typeface="Calibri" pitchFamily="34" charset="0"/>
                <a:ea typeface="Calibri" pitchFamily="34" charset="-122"/>
                <a:cs typeface="Calibri" pitchFamily="34" charset="-120"/>
              </a:rPr>
              <a:t>1 persona</a:t>
            </a:r>
            <a:endParaRPr lang="en-US" sz="1100" dirty="0"/>
          </a:p>
        </p:txBody>
      </p:sp>
      <p:sp>
        <p:nvSpPr>
          <p:cNvPr id="13" name="Shape 11"/>
          <p:cNvSpPr/>
          <p:nvPr/>
        </p:nvSpPr>
        <p:spPr>
          <a:xfrm>
            <a:off x="6227064" y="2286000"/>
            <a:ext cx="2697480" cy="1417320"/>
          </a:xfrm>
          <a:prstGeom prst="roundRect">
            <a:avLst>
              <a:gd name="adj" fmla="val 3871"/>
            </a:avLst>
          </a:prstGeom>
          <a:solidFill>
            <a:srgbClr val="FFFFFF"/>
          </a:solidFill>
          <a:ln w="12700">
            <a:solidFill>
              <a:srgbClr val="E3DCC9"/>
            </a:solidFill>
            <a:prstDash val="solid"/>
          </a:ln>
          <a:effectLst>
            <a:outerShdw sx="100000" sy="100000" kx="0" ky="0" algn="bl" rotWithShape="0" blurRad="63500" dist="25400" dir="5400000">
              <a:srgbClr val="5A5037">
                <a:alpha val="14000"/>
              </a:srgbClr>
            </a:outerShdw>
          </a:effectLst>
        </p:spPr>
      </p:sp>
      <p:sp>
        <p:nvSpPr>
          <p:cNvPr id="14" name="Shape 12"/>
          <p:cNvSpPr/>
          <p:nvPr/>
        </p:nvSpPr>
        <p:spPr>
          <a:xfrm>
            <a:off x="6409944" y="2487168"/>
            <a:ext cx="201168" cy="201168"/>
          </a:xfrm>
          <a:prstGeom prst="ellipse">
            <a:avLst/>
          </a:prstGeom>
          <a:solidFill>
            <a:srgbClr val="C4707E"/>
          </a:solidFill>
          <a:ln/>
        </p:spPr>
      </p:sp>
      <p:sp>
        <p:nvSpPr>
          <p:cNvPr id="15" name="Text 13"/>
          <p:cNvSpPr/>
          <p:nvPr/>
        </p:nvSpPr>
        <p:spPr>
          <a:xfrm>
            <a:off x="6409944" y="2743200"/>
            <a:ext cx="2331720" cy="594360"/>
          </a:xfrm>
          <a:prstGeom prst="rect">
            <a:avLst/>
          </a:prstGeom>
          <a:noFill/>
          <a:ln/>
        </p:spPr>
        <p:txBody>
          <a:bodyPr wrap="square" lIns="0" tIns="0" rIns="0" bIns="0" rtlCol="0" anchor="t"/>
          <a:lstStyle/>
          <a:p>
            <a:pPr indent="0" marL="0">
              <a:buNone/>
            </a:pPr>
            <a:r>
              <a:rPr lang="en-US" sz="1350" b="1" dirty="0">
                <a:solidFill>
                  <a:srgbClr val="26251F"/>
                </a:solidFill>
                <a:latin typeface="Trebuchet MS" pitchFamily="34" charset="0"/>
                <a:ea typeface="Trebuchet MS" pitchFamily="34" charset="-122"/>
                <a:cs typeface="Trebuchet MS" pitchFamily="34" charset="-120"/>
              </a:rPr>
              <a:t>Estética y belleza</a:t>
            </a:r>
            <a:endParaRPr lang="en-US" sz="1350" dirty="0"/>
          </a:p>
        </p:txBody>
      </p:sp>
      <p:sp>
        <p:nvSpPr>
          <p:cNvPr id="16" name="Text 14"/>
          <p:cNvSpPr/>
          <p:nvPr/>
        </p:nvSpPr>
        <p:spPr>
          <a:xfrm>
            <a:off x="6409944" y="3337560"/>
            <a:ext cx="2331720" cy="274320"/>
          </a:xfrm>
          <a:prstGeom prst="rect">
            <a:avLst/>
          </a:prstGeom>
          <a:noFill/>
          <a:ln/>
        </p:spPr>
        <p:txBody>
          <a:bodyPr wrap="square" lIns="0" tIns="0" rIns="0" bIns="0" rtlCol="0" anchor="ctr"/>
          <a:lstStyle/>
          <a:p>
            <a:pPr indent="0" marL="0">
              <a:buNone/>
            </a:pPr>
            <a:r>
              <a:rPr lang="en-US" sz="1100" dirty="0">
                <a:solidFill>
                  <a:srgbClr val="8B8779"/>
                </a:solidFill>
                <a:latin typeface="Calibri" pitchFamily="34" charset="0"/>
                <a:ea typeface="Calibri" pitchFamily="34" charset="-122"/>
                <a:cs typeface="Calibri" pitchFamily="34" charset="-120"/>
              </a:rPr>
              <a:t>1 persona + colaboradoras</a:t>
            </a:r>
            <a:endParaRPr lang="en-US" sz="1100" dirty="0"/>
          </a:p>
        </p:txBody>
      </p:sp>
      <p:sp>
        <p:nvSpPr>
          <p:cNvPr id="17" name="Shape 15"/>
          <p:cNvSpPr/>
          <p:nvPr/>
        </p:nvSpPr>
        <p:spPr>
          <a:xfrm>
            <a:off x="9089136" y="2286000"/>
            <a:ext cx="2697480" cy="1417320"/>
          </a:xfrm>
          <a:prstGeom prst="roundRect">
            <a:avLst>
              <a:gd name="adj" fmla="val 3871"/>
            </a:avLst>
          </a:prstGeom>
          <a:solidFill>
            <a:srgbClr val="FFFFFF"/>
          </a:solidFill>
          <a:ln w="12700">
            <a:solidFill>
              <a:srgbClr val="E3DCC9"/>
            </a:solidFill>
            <a:prstDash val="solid"/>
          </a:ln>
          <a:effectLst>
            <a:outerShdw sx="100000" sy="100000" kx="0" ky="0" algn="bl" rotWithShape="0" blurRad="63500" dist="25400" dir="5400000">
              <a:srgbClr val="5A5037">
                <a:alpha val="14000"/>
              </a:srgbClr>
            </a:outerShdw>
          </a:effectLst>
        </p:spPr>
      </p:sp>
      <p:sp>
        <p:nvSpPr>
          <p:cNvPr id="18" name="Shape 16"/>
          <p:cNvSpPr/>
          <p:nvPr/>
        </p:nvSpPr>
        <p:spPr>
          <a:xfrm>
            <a:off x="9272016" y="2487168"/>
            <a:ext cx="201168" cy="201168"/>
          </a:xfrm>
          <a:prstGeom prst="ellipse">
            <a:avLst/>
          </a:prstGeom>
          <a:solidFill>
            <a:srgbClr val="0A86A8"/>
          </a:solidFill>
          <a:ln/>
        </p:spPr>
      </p:sp>
      <p:sp>
        <p:nvSpPr>
          <p:cNvPr id="19" name="Text 17"/>
          <p:cNvSpPr/>
          <p:nvPr/>
        </p:nvSpPr>
        <p:spPr>
          <a:xfrm>
            <a:off x="9272016" y="2743200"/>
            <a:ext cx="2331720" cy="594360"/>
          </a:xfrm>
          <a:prstGeom prst="rect">
            <a:avLst/>
          </a:prstGeom>
          <a:noFill/>
          <a:ln/>
        </p:spPr>
        <p:txBody>
          <a:bodyPr wrap="square" lIns="0" tIns="0" rIns="0" bIns="0" rtlCol="0" anchor="t"/>
          <a:lstStyle/>
          <a:p>
            <a:pPr indent="0" marL="0">
              <a:buNone/>
            </a:pPr>
            <a:r>
              <a:rPr lang="en-US" sz="1350" b="1" dirty="0">
                <a:solidFill>
                  <a:srgbClr val="26251F"/>
                </a:solidFill>
                <a:latin typeface="Trebuchet MS" pitchFamily="34" charset="0"/>
                <a:ea typeface="Trebuchet MS" pitchFamily="34" charset="-122"/>
                <a:cs typeface="Trebuchet MS" pitchFamily="34" charset="-120"/>
              </a:rPr>
              <a:t>Cervecera artesana con tiendas</a:t>
            </a:r>
            <a:endParaRPr lang="en-US" sz="1350" dirty="0"/>
          </a:p>
        </p:txBody>
      </p:sp>
      <p:sp>
        <p:nvSpPr>
          <p:cNvPr id="20" name="Text 18"/>
          <p:cNvSpPr/>
          <p:nvPr/>
        </p:nvSpPr>
        <p:spPr>
          <a:xfrm>
            <a:off x="9272016" y="3337560"/>
            <a:ext cx="2331720" cy="274320"/>
          </a:xfrm>
          <a:prstGeom prst="rect">
            <a:avLst/>
          </a:prstGeom>
          <a:noFill/>
          <a:ln/>
        </p:spPr>
        <p:txBody>
          <a:bodyPr wrap="square" lIns="0" tIns="0" rIns="0" bIns="0" rtlCol="0" anchor="ctr"/>
          <a:lstStyle/>
          <a:p>
            <a:pPr indent="0" marL="0">
              <a:buNone/>
            </a:pPr>
            <a:r>
              <a:rPr lang="en-US" sz="1100" dirty="0">
                <a:solidFill>
                  <a:srgbClr val="8B8779"/>
                </a:solidFill>
                <a:latin typeface="Calibri" pitchFamily="34" charset="0"/>
                <a:ea typeface="Calibri" pitchFamily="34" charset="-122"/>
                <a:cs typeface="Calibri" pitchFamily="34" charset="-120"/>
              </a:rPr>
              <a:t>~13 empleados</a:t>
            </a:r>
            <a:endParaRPr lang="en-US" sz="1100" dirty="0"/>
          </a:p>
        </p:txBody>
      </p:sp>
      <p:sp>
        <p:nvSpPr>
          <p:cNvPr id="21" name="Shape 19"/>
          <p:cNvSpPr/>
          <p:nvPr/>
        </p:nvSpPr>
        <p:spPr>
          <a:xfrm>
            <a:off x="502920" y="3931920"/>
            <a:ext cx="2697480" cy="1417320"/>
          </a:xfrm>
          <a:prstGeom prst="roundRect">
            <a:avLst>
              <a:gd name="adj" fmla="val 3871"/>
            </a:avLst>
          </a:prstGeom>
          <a:solidFill>
            <a:srgbClr val="FFFFFF"/>
          </a:solidFill>
          <a:ln w="12700">
            <a:solidFill>
              <a:srgbClr val="E3DCC9"/>
            </a:solidFill>
            <a:prstDash val="solid"/>
          </a:ln>
          <a:effectLst>
            <a:outerShdw sx="100000" sy="100000" kx="0" ky="0" algn="bl" rotWithShape="0" blurRad="63500" dist="25400" dir="5400000">
              <a:srgbClr val="5A5037">
                <a:alpha val="14000"/>
              </a:srgbClr>
            </a:outerShdw>
          </a:effectLst>
        </p:spPr>
      </p:sp>
      <p:sp>
        <p:nvSpPr>
          <p:cNvPr id="22" name="Shape 20"/>
          <p:cNvSpPr/>
          <p:nvPr/>
        </p:nvSpPr>
        <p:spPr>
          <a:xfrm>
            <a:off x="685800" y="4133088"/>
            <a:ext cx="201168" cy="201168"/>
          </a:xfrm>
          <a:prstGeom prst="ellipse">
            <a:avLst/>
          </a:prstGeom>
          <a:solidFill>
            <a:srgbClr val="6F8A1A"/>
          </a:solidFill>
          <a:ln/>
        </p:spPr>
      </p:sp>
      <p:sp>
        <p:nvSpPr>
          <p:cNvPr id="23" name="Text 21"/>
          <p:cNvSpPr/>
          <p:nvPr/>
        </p:nvSpPr>
        <p:spPr>
          <a:xfrm>
            <a:off x="685800" y="4389120"/>
            <a:ext cx="2331720" cy="594360"/>
          </a:xfrm>
          <a:prstGeom prst="rect">
            <a:avLst/>
          </a:prstGeom>
          <a:noFill/>
          <a:ln/>
        </p:spPr>
        <p:txBody>
          <a:bodyPr wrap="square" lIns="0" tIns="0" rIns="0" bIns="0" rtlCol="0" anchor="t"/>
          <a:lstStyle/>
          <a:p>
            <a:pPr indent="0" marL="0">
              <a:buNone/>
            </a:pPr>
            <a:r>
              <a:rPr lang="en-US" sz="1350" b="1" dirty="0">
                <a:solidFill>
                  <a:srgbClr val="26251F"/>
                </a:solidFill>
                <a:latin typeface="Trebuchet MS" pitchFamily="34" charset="0"/>
                <a:ea typeface="Trebuchet MS" pitchFamily="34" charset="-122"/>
                <a:cs typeface="Trebuchet MS" pitchFamily="34" charset="-120"/>
              </a:rPr>
              <a:t>Detergentes y cosmética a granel</a:t>
            </a:r>
            <a:endParaRPr lang="en-US" sz="1350" dirty="0"/>
          </a:p>
        </p:txBody>
      </p:sp>
      <p:sp>
        <p:nvSpPr>
          <p:cNvPr id="24" name="Text 22"/>
          <p:cNvSpPr/>
          <p:nvPr/>
        </p:nvSpPr>
        <p:spPr>
          <a:xfrm>
            <a:off x="685800" y="4983480"/>
            <a:ext cx="2331720" cy="274320"/>
          </a:xfrm>
          <a:prstGeom prst="rect">
            <a:avLst/>
          </a:prstGeom>
          <a:noFill/>
          <a:ln/>
        </p:spPr>
        <p:txBody>
          <a:bodyPr wrap="square" lIns="0" tIns="0" rIns="0" bIns="0" rtlCol="0" anchor="ctr"/>
          <a:lstStyle/>
          <a:p>
            <a:pPr indent="0" marL="0">
              <a:buNone/>
            </a:pPr>
            <a:r>
              <a:rPr lang="en-US" sz="1100" dirty="0">
                <a:solidFill>
                  <a:srgbClr val="8B8779"/>
                </a:solidFill>
                <a:latin typeface="Calibri" pitchFamily="34" charset="0"/>
                <a:ea typeface="Calibri" pitchFamily="34" charset="-122"/>
                <a:cs typeface="Calibri" pitchFamily="34" charset="-120"/>
              </a:rPr>
              <a:t>pareja fundadora</a:t>
            </a:r>
            <a:endParaRPr lang="en-US" sz="1100" dirty="0"/>
          </a:p>
        </p:txBody>
      </p:sp>
      <p:sp>
        <p:nvSpPr>
          <p:cNvPr id="25" name="Shape 23"/>
          <p:cNvSpPr/>
          <p:nvPr/>
        </p:nvSpPr>
        <p:spPr>
          <a:xfrm>
            <a:off x="3364992" y="3931920"/>
            <a:ext cx="2697480" cy="1417320"/>
          </a:xfrm>
          <a:prstGeom prst="roundRect">
            <a:avLst>
              <a:gd name="adj" fmla="val 3871"/>
            </a:avLst>
          </a:prstGeom>
          <a:solidFill>
            <a:srgbClr val="FFFFFF"/>
          </a:solidFill>
          <a:ln w="12700">
            <a:solidFill>
              <a:srgbClr val="E3DCC9"/>
            </a:solidFill>
            <a:prstDash val="solid"/>
          </a:ln>
          <a:effectLst>
            <a:outerShdw sx="100000" sy="100000" kx="0" ky="0" algn="bl" rotWithShape="0" blurRad="63500" dist="25400" dir="5400000">
              <a:srgbClr val="5A5037">
                <a:alpha val="14000"/>
              </a:srgbClr>
            </a:outerShdw>
          </a:effectLst>
        </p:spPr>
      </p:sp>
      <p:sp>
        <p:nvSpPr>
          <p:cNvPr id="26" name="Shape 24"/>
          <p:cNvSpPr/>
          <p:nvPr/>
        </p:nvSpPr>
        <p:spPr>
          <a:xfrm>
            <a:off x="3547872" y="4133088"/>
            <a:ext cx="201168" cy="201168"/>
          </a:xfrm>
          <a:prstGeom prst="ellipse">
            <a:avLst/>
          </a:prstGeom>
          <a:solidFill>
            <a:srgbClr val="C04141"/>
          </a:solidFill>
          <a:ln/>
        </p:spPr>
      </p:sp>
      <p:sp>
        <p:nvSpPr>
          <p:cNvPr id="27" name="Text 25"/>
          <p:cNvSpPr/>
          <p:nvPr/>
        </p:nvSpPr>
        <p:spPr>
          <a:xfrm>
            <a:off x="3547872" y="4389120"/>
            <a:ext cx="2331720" cy="594360"/>
          </a:xfrm>
          <a:prstGeom prst="rect">
            <a:avLst/>
          </a:prstGeom>
          <a:noFill/>
          <a:ln/>
        </p:spPr>
        <p:txBody>
          <a:bodyPr wrap="square" lIns="0" tIns="0" rIns="0" bIns="0" rtlCol="0" anchor="t"/>
          <a:lstStyle/>
          <a:p>
            <a:pPr indent="0" marL="0">
              <a:buNone/>
            </a:pPr>
            <a:r>
              <a:rPr lang="en-US" sz="1350" b="1" dirty="0">
                <a:solidFill>
                  <a:srgbClr val="26251F"/>
                </a:solidFill>
                <a:latin typeface="Trebuchet MS" pitchFamily="34" charset="0"/>
                <a:ea typeface="Trebuchet MS" pitchFamily="34" charset="-122"/>
                <a:cs typeface="Trebuchet MS" pitchFamily="34" charset="-120"/>
              </a:rPr>
              <a:t>Carnicería premium</a:t>
            </a:r>
            <a:endParaRPr lang="en-US" sz="1350" dirty="0"/>
          </a:p>
        </p:txBody>
      </p:sp>
      <p:sp>
        <p:nvSpPr>
          <p:cNvPr id="28" name="Text 26"/>
          <p:cNvSpPr/>
          <p:nvPr/>
        </p:nvSpPr>
        <p:spPr>
          <a:xfrm>
            <a:off x="3547872" y="4983480"/>
            <a:ext cx="2331720" cy="274320"/>
          </a:xfrm>
          <a:prstGeom prst="rect">
            <a:avLst/>
          </a:prstGeom>
          <a:noFill/>
          <a:ln/>
        </p:spPr>
        <p:txBody>
          <a:bodyPr wrap="square" lIns="0" tIns="0" rIns="0" bIns="0" rtlCol="0" anchor="ctr"/>
          <a:lstStyle/>
          <a:p>
            <a:pPr indent="0" marL="0">
              <a:buNone/>
            </a:pPr>
            <a:r>
              <a:rPr lang="en-US" sz="1100" dirty="0">
                <a:solidFill>
                  <a:srgbClr val="8B8779"/>
                </a:solidFill>
                <a:latin typeface="Calibri" pitchFamily="34" charset="0"/>
                <a:ea typeface="Calibri" pitchFamily="34" charset="-122"/>
                <a:cs typeface="Calibri" pitchFamily="34" charset="-120"/>
              </a:rPr>
              <a:t>2 socios</a:t>
            </a:r>
            <a:endParaRPr lang="en-US" sz="1100" dirty="0"/>
          </a:p>
        </p:txBody>
      </p:sp>
      <p:sp>
        <p:nvSpPr>
          <p:cNvPr id="29" name="Shape 27"/>
          <p:cNvSpPr/>
          <p:nvPr/>
        </p:nvSpPr>
        <p:spPr>
          <a:xfrm>
            <a:off x="6227064" y="3931920"/>
            <a:ext cx="2697480" cy="1417320"/>
          </a:xfrm>
          <a:prstGeom prst="roundRect">
            <a:avLst>
              <a:gd name="adj" fmla="val 3871"/>
            </a:avLst>
          </a:prstGeom>
          <a:solidFill>
            <a:srgbClr val="FFFFFF"/>
          </a:solidFill>
          <a:ln w="12700">
            <a:solidFill>
              <a:srgbClr val="E3DCC9"/>
            </a:solidFill>
            <a:prstDash val="solid"/>
          </a:ln>
          <a:effectLst>
            <a:outerShdw sx="100000" sy="100000" kx="0" ky="0" algn="bl" rotWithShape="0" blurRad="63500" dist="25400" dir="5400000">
              <a:srgbClr val="5A5037">
                <a:alpha val="14000"/>
              </a:srgbClr>
            </a:outerShdw>
          </a:effectLst>
        </p:spPr>
      </p:sp>
      <p:sp>
        <p:nvSpPr>
          <p:cNvPr id="30" name="Shape 28"/>
          <p:cNvSpPr/>
          <p:nvPr/>
        </p:nvSpPr>
        <p:spPr>
          <a:xfrm>
            <a:off x="6409944" y="4133088"/>
            <a:ext cx="201168" cy="201168"/>
          </a:xfrm>
          <a:prstGeom prst="ellipse">
            <a:avLst/>
          </a:prstGeom>
          <a:solidFill>
            <a:srgbClr val="8A5510"/>
          </a:solidFill>
          <a:ln/>
        </p:spPr>
      </p:sp>
      <p:sp>
        <p:nvSpPr>
          <p:cNvPr id="31" name="Text 29"/>
          <p:cNvSpPr/>
          <p:nvPr/>
        </p:nvSpPr>
        <p:spPr>
          <a:xfrm>
            <a:off x="6409944" y="4389120"/>
            <a:ext cx="2331720" cy="594360"/>
          </a:xfrm>
          <a:prstGeom prst="rect">
            <a:avLst/>
          </a:prstGeom>
          <a:noFill/>
          <a:ln/>
        </p:spPr>
        <p:txBody>
          <a:bodyPr wrap="square" lIns="0" tIns="0" rIns="0" bIns="0" rtlCol="0" anchor="t"/>
          <a:lstStyle/>
          <a:p>
            <a:pPr indent="0" marL="0">
              <a:buNone/>
            </a:pPr>
            <a:r>
              <a:rPr lang="en-US" sz="1350" b="1" dirty="0">
                <a:solidFill>
                  <a:srgbClr val="26251F"/>
                </a:solidFill>
                <a:latin typeface="Trebuchet MS" pitchFamily="34" charset="0"/>
                <a:ea typeface="Trebuchet MS" pitchFamily="34" charset="-122"/>
                <a:cs typeface="Trebuchet MS" pitchFamily="34" charset="-120"/>
              </a:rPr>
              <a:t>Café de especialidad y brunch</a:t>
            </a:r>
            <a:endParaRPr lang="en-US" sz="1350" dirty="0"/>
          </a:p>
        </p:txBody>
      </p:sp>
      <p:sp>
        <p:nvSpPr>
          <p:cNvPr id="32" name="Text 30"/>
          <p:cNvSpPr/>
          <p:nvPr/>
        </p:nvSpPr>
        <p:spPr>
          <a:xfrm>
            <a:off x="6409944" y="4983480"/>
            <a:ext cx="2331720" cy="274320"/>
          </a:xfrm>
          <a:prstGeom prst="rect">
            <a:avLst/>
          </a:prstGeom>
          <a:noFill/>
          <a:ln/>
        </p:spPr>
        <p:txBody>
          <a:bodyPr wrap="square" lIns="0" tIns="0" rIns="0" bIns="0" rtlCol="0" anchor="ctr"/>
          <a:lstStyle/>
          <a:p>
            <a:pPr indent="0" marL="0">
              <a:buNone/>
            </a:pPr>
            <a:r>
              <a:rPr lang="en-US" sz="1100" dirty="0">
                <a:solidFill>
                  <a:srgbClr val="8B8779"/>
                </a:solidFill>
                <a:latin typeface="Calibri" pitchFamily="34" charset="0"/>
                <a:ea typeface="Calibri" pitchFamily="34" charset="-122"/>
                <a:cs typeface="Calibri" pitchFamily="34" charset="-120"/>
              </a:rPr>
              <a:t>propietaria + equipo</a:t>
            </a:r>
            <a:endParaRPr lang="en-US" sz="1100" dirty="0"/>
          </a:p>
        </p:txBody>
      </p:sp>
      <p:sp>
        <p:nvSpPr>
          <p:cNvPr id="33" name="Shape 31"/>
          <p:cNvSpPr/>
          <p:nvPr/>
        </p:nvSpPr>
        <p:spPr>
          <a:xfrm>
            <a:off x="9089136" y="3931920"/>
            <a:ext cx="2697480" cy="1417320"/>
          </a:xfrm>
          <a:prstGeom prst="roundRect">
            <a:avLst>
              <a:gd name="adj" fmla="val 3871"/>
            </a:avLst>
          </a:prstGeom>
          <a:solidFill>
            <a:srgbClr val="FFFFFF"/>
          </a:solidFill>
          <a:ln w="12700">
            <a:solidFill>
              <a:srgbClr val="E3DCC9"/>
            </a:solidFill>
            <a:prstDash val="solid"/>
          </a:ln>
          <a:effectLst>
            <a:outerShdw sx="100000" sy="100000" kx="0" ky="0" algn="bl" rotWithShape="0" blurRad="63500" dist="25400" dir="5400000">
              <a:srgbClr val="5A5037">
                <a:alpha val="14000"/>
              </a:srgbClr>
            </a:outerShdw>
          </a:effectLst>
        </p:spPr>
      </p:sp>
      <p:sp>
        <p:nvSpPr>
          <p:cNvPr id="34" name="Shape 32"/>
          <p:cNvSpPr/>
          <p:nvPr/>
        </p:nvSpPr>
        <p:spPr>
          <a:xfrm>
            <a:off x="9272016" y="4133088"/>
            <a:ext cx="201168" cy="201168"/>
          </a:xfrm>
          <a:prstGeom prst="ellipse">
            <a:avLst/>
          </a:prstGeom>
          <a:solidFill>
            <a:srgbClr val="A1770A"/>
          </a:solidFill>
          <a:ln/>
        </p:spPr>
      </p:sp>
      <p:sp>
        <p:nvSpPr>
          <p:cNvPr id="35" name="Text 33"/>
          <p:cNvSpPr/>
          <p:nvPr/>
        </p:nvSpPr>
        <p:spPr>
          <a:xfrm>
            <a:off x="9272016" y="4389120"/>
            <a:ext cx="2331720" cy="594360"/>
          </a:xfrm>
          <a:prstGeom prst="rect">
            <a:avLst/>
          </a:prstGeom>
          <a:noFill/>
          <a:ln/>
        </p:spPr>
        <p:txBody>
          <a:bodyPr wrap="square" lIns="0" tIns="0" rIns="0" bIns="0" rtlCol="0" anchor="t"/>
          <a:lstStyle/>
          <a:p>
            <a:pPr indent="0" marL="0">
              <a:buNone/>
            </a:pPr>
            <a:r>
              <a:rPr lang="en-US" sz="1350" b="1" dirty="0">
                <a:solidFill>
                  <a:srgbClr val="26251F"/>
                </a:solidFill>
                <a:latin typeface="Trebuchet MS" pitchFamily="34" charset="0"/>
                <a:ea typeface="Trebuchet MS" pitchFamily="34" charset="-122"/>
                <a:cs typeface="Trebuchet MS" pitchFamily="34" charset="-120"/>
              </a:rPr>
              <a:t>Artesanía y diseño local</a:t>
            </a:r>
            <a:endParaRPr lang="en-US" sz="1350" dirty="0"/>
          </a:p>
        </p:txBody>
      </p:sp>
      <p:sp>
        <p:nvSpPr>
          <p:cNvPr id="36" name="Text 34"/>
          <p:cNvSpPr/>
          <p:nvPr/>
        </p:nvSpPr>
        <p:spPr>
          <a:xfrm>
            <a:off x="9272016" y="4983480"/>
            <a:ext cx="2331720" cy="274320"/>
          </a:xfrm>
          <a:prstGeom prst="rect">
            <a:avLst/>
          </a:prstGeom>
          <a:noFill/>
          <a:ln/>
        </p:spPr>
        <p:txBody>
          <a:bodyPr wrap="square" lIns="0" tIns="0" rIns="0" bIns="0" rtlCol="0" anchor="ctr"/>
          <a:lstStyle/>
          <a:p>
            <a:pPr indent="0" marL="0">
              <a:buNone/>
            </a:pPr>
            <a:r>
              <a:rPr lang="en-US" sz="1100" dirty="0">
                <a:solidFill>
                  <a:srgbClr val="8B8779"/>
                </a:solidFill>
                <a:latin typeface="Calibri" pitchFamily="34" charset="0"/>
                <a:ea typeface="Calibri" pitchFamily="34" charset="-122"/>
                <a:cs typeface="Calibri" pitchFamily="34" charset="-120"/>
              </a:rPr>
              <a:t>2 fundadoras · 71 artesanos</a:t>
            </a:r>
            <a:endParaRPr lang="en-US" sz="1100" dirty="0"/>
          </a:p>
        </p:txBody>
      </p:sp>
      <p:sp>
        <p:nvSpPr>
          <p:cNvPr id="37" name="Text 35"/>
          <p:cNvSpPr/>
          <p:nvPr/>
        </p:nvSpPr>
        <p:spPr>
          <a:xfrm>
            <a:off x="502920" y="5806440"/>
            <a:ext cx="10515600" cy="320040"/>
          </a:xfrm>
          <a:prstGeom prst="rect">
            <a:avLst/>
          </a:prstGeom>
          <a:noFill/>
          <a:ln/>
        </p:spPr>
        <p:txBody>
          <a:bodyPr wrap="square" lIns="0" tIns="0" rIns="0" bIns="0" rtlCol="0" anchor="ctr"/>
          <a:lstStyle/>
          <a:p>
            <a:pPr indent="0" marL="0">
              <a:buNone/>
            </a:pPr>
            <a:r>
              <a:rPr lang="en-US" sz="1200" dirty="0">
                <a:solidFill>
                  <a:srgbClr val="5B584C"/>
                </a:solidFill>
                <a:latin typeface="Calibri" pitchFamily="34" charset="0"/>
                <a:ea typeface="Calibri" pitchFamily="34" charset="-122"/>
                <a:cs typeface="Calibri" pitchFamily="34" charset="-120"/>
              </a:rPr>
              <a:t>Dónde: Ciutat Vella · Gràcia · Eixample · Sagrada Família · El Born · Santa Coloma de Gramenet</a:t>
            </a:r>
            <a:endParaRPr lang="en-US" sz="1200" dirty="0"/>
          </a:p>
        </p:txBody>
      </p:sp>
      <p:sp>
        <p:nvSpPr>
          <p:cNvPr id="38" name="Shape 36"/>
          <p:cNvSpPr/>
          <p:nvPr/>
        </p:nvSpPr>
        <p:spPr>
          <a:xfrm>
            <a:off x="502920" y="6355080"/>
            <a:ext cx="128016" cy="128016"/>
          </a:xfrm>
          <a:prstGeom prst="ellipse">
            <a:avLst/>
          </a:prstGeom>
          <a:solidFill>
            <a:srgbClr val="2E8B4A"/>
          </a:solidFill>
          <a:ln/>
        </p:spPr>
      </p:sp>
      <p:sp>
        <p:nvSpPr>
          <p:cNvPr id="39" name="Shape 37"/>
          <p:cNvSpPr/>
          <p:nvPr/>
        </p:nvSpPr>
        <p:spPr>
          <a:xfrm>
            <a:off x="722376" y="6355080"/>
            <a:ext cx="128016" cy="128016"/>
          </a:xfrm>
          <a:prstGeom prst="ellipse">
            <a:avLst/>
          </a:prstGeom>
          <a:solidFill>
            <a:srgbClr val="3E63A8"/>
          </a:solidFill>
          <a:ln/>
        </p:spPr>
      </p:sp>
      <p:sp>
        <p:nvSpPr>
          <p:cNvPr id="40" name="Shape 38"/>
          <p:cNvSpPr/>
          <p:nvPr/>
        </p:nvSpPr>
        <p:spPr>
          <a:xfrm>
            <a:off x="941832" y="6355080"/>
            <a:ext cx="128016" cy="128016"/>
          </a:xfrm>
          <a:prstGeom prst="ellipse">
            <a:avLst/>
          </a:prstGeom>
          <a:solidFill>
            <a:srgbClr val="C4707E"/>
          </a:solidFill>
          <a:ln/>
        </p:spPr>
      </p:sp>
      <p:sp>
        <p:nvSpPr>
          <p:cNvPr id="41" name="Shape 39"/>
          <p:cNvSpPr/>
          <p:nvPr/>
        </p:nvSpPr>
        <p:spPr>
          <a:xfrm>
            <a:off x="1161288" y="6355080"/>
            <a:ext cx="128016" cy="128016"/>
          </a:xfrm>
          <a:prstGeom prst="ellipse">
            <a:avLst/>
          </a:prstGeom>
          <a:solidFill>
            <a:srgbClr val="0A86A8"/>
          </a:solidFill>
          <a:ln/>
        </p:spPr>
      </p:sp>
      <p:sp>
        <p:nvSpPr>
          <p:cNvPr id="42" name="Shape 40"/>
          <p:cNvSpPr/>
          <p:nvPr/>
        </p:nvSpPr>
        <p:spPr>
          <a:xfrm>
            <a:off x="1380744" y="6355080"/>
            <a:ext cx="128016" cy="128016"/>
          </a:xfrm>
          <a:prstGeom prst="ellipse">
            <a:avLst/>
          </a:prstGeom>
          <a:solidFill>
            <a:srgbClr val="6F8A1A"/>
          </a:solidFill>
          <a:ln/>
        </p:spPr>
      </p:sp>
      <p:sp>
        <p:nvSpPr>
          <p:cNvPr id="43" name="Shape 41"/>
          <p:cNvSpPr/>
          <p:nvPr/>
        </p:nvSpPr>
        <p:spPr>
          <a:xfrm>
            <a:off x="1600200" y="6355080"/>
            <a:ext cx="128016" cy="128016"/>
          </a:xfrm>
          <a:prstGeom prst="ellipse">
            <a:avLst/>
          </a:prstGeom>
          <a:solidFill>
            <a:srgbClr val="C04141"/>
          </a:solidFill>
          <a:ln/>
        </p:spPr>
      </p:sp>
      <p:sp>
        <p:nvSpPr>
          <p:cNvPr id="44" name="Shape 42"/>
          <p:cNvSpPr/>
          <p:nvPr/>
        </p:nvSpPr>
        <p:spPr>
          <a:xfrm>
            <a:off x="1819656" y="6355080"/>
            <a:ext cx="128016" cy="128016"/>
          </a:xfrm>
          <a:prstGeom prst="ellipse">
            <a:avLst/>
          </a:prstGeom>
          <a:solidFill>
            <a:srgbClr val="8A5510"/>
          </a:solidFill>
          <a:ln/>
        </p:spPr>
      </p:sp>
      <p:sp>
        <p:nvSpPr>
          <p:cNvPr id="45" name="Shape 43"/>
          <p:cNvSpPr/>
          <p:nvPr/>
        </p:nvSpPr>
        <p:spPr>
          <a:xfrm>
            <a:off x="2039112" y="6355080"/>
            <a:ext cx="128016" cy="128016"/>
          </a:xfrm>
          <a:prstGeom prst="ellipse">
            <a:avLst/>
          </a:prstGeom>
          <a:solidFill>
            <a:srgbClr val="A1770A"/>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02920" y="256032"/>
            <a:ext cx="5486400" cy="320040"/>
          </a:xfrm>
          <a:prstGeom prst="rect">
            <a:avLst/>
          </a:prstGeom>
          <a:noFill/>
          <a:ln/>
        </p:spPr>
        <p:txBody>
          <a:bodyPr wrap="square" lIns="0" tIns="0" rIns="0" bIns="0" rtlCol="0" anchor="ctr"/>
          <a:lstStyle/>
          <a:p>
            <a:pPr indent="0" marL="0">
              <a:buNone/>
            </a:pPr>
            <a:r>
              <a:rPr lang="en-US" sz="12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200" dirty="0">
                <a:solidFill>
                  <a:srgbClr val="8B8779"/>
                </a:solidFill>
                <a:latin typeface="Trebuchet MS" pitchFamily="34" charset="0"/>
                <a:ea typeface="Trebuchet MS" pitchFamily="34" charset="-122"/>
                <a:cs typeface="Trebuchet MS" pitchFamily="34" charset="-120"/>
              </a:rPr>
              <a:t>  ·  primer vistazo</a:t>
            </a:r>
            <a:endParaRPr lang="en-US" sz="1200" dirty="0"/>
          </a:p>
        </p:txBody>
      </p:sp>
      <p:sp>
        <p:nvSpPr>
          <p:cNvPr id="3" name="Text 1"/>
          <p:cNvSpPr/>
          <p:nvPr/>
        </p:nvSpPr>
        <p:spPr>
          <a:xfrm>
            <a:off x="502920" y="777240"/>
            <a:ext cx="10058400" cy="640080"/>
          </a:xfrm>
          <a:prstGeom prst="rect">
            <a:avLst/>
          </a:prstGeom>
          <a:noFill/>
          <a:ln/>
        </p:spPr>
        <p:txBody>
          <a:bodyPr wrap="square" lIns="0" tIns="0" rIns="0" bIns="0" rtlCol="0" anchor="ctr"/>
          <a:lstStyle/>
          <a:p>
            <a:pPr indent="0" marL="0">
              <a:buNone/>
            </a:pPr>
            <a:r>
              <a:rPr lang="en-US" sz="3000" b="1" dirty="0">
                <a:solidFill>
                  <a:srgbClr val="26251F"/>
                </a:solidFill>
                <a:latin typeface="Trebuchet MS" pitchFamily="34" charset="0"/>
                <a:ea typeface="Trebuchet MS" pitchFamily="34" charset="-122"/>
                <a:cs typeface="Trebuchet MS" pitchFamily="34" charset="-120"/>
              </a:rPr>
              <a:t>Cómo leer esto (nota honesta)</a:t>
            </a:r>
            <a:endParaRPr lang="en-US" sz="3000" dirty="0"/>
          </a:p>
        </p:txBody>
      </p:sp>
      <p:sp>
        <p:nvSpPr>
          <p:cNvPr id="4" name="Shape 2"/>
          <p:cNvSpPr/>
          <p:nvPr/>
        </p:nvSpPr>
        <p:spPr>
          <a:xfrm>
            <a:off x="502920" y="1691640"/>
            <a:ext cx="5349240" cy="1737360"/>
          </a:xfrm>
          <a:prstGeom prst="roundRect">
            <a:avLst>
              <a:gd name="adj" fmla="val 3158"/>
            </a:avLst>
          </a:prstGeom>
          <a:solidFill>
            <a:srgbClr val="F2ECDD"/>
          </a:solidFill>
          <a:ln w="12700">
            <a:solidFill>
              <a:srgbClr val="E3DCC9"/>
            </a:solidFill>
            <a:prstDash val="solid"/>
          </a:ln>
        </p:spPr>
      </p:sp>
      <p:sp>
        <p:nvSpPr>
          <p:cNvPr id="5" name="Text 3"/>
          <p:cNvSpPr/>
          <p:nvPr/>
        </p:nvSpPr>
        <p:spPr>
          <a:xfrm>
            <a:off x="731520" y="1920240"/>
            <a:ext cx="502920" cy="502920"/>
          </a:xfrm>
          <a:prstGeom prst="rect">
            <a:avLst/>
          </a:prstGeom>
          <a:noFill/>
          <a:ln/>
        </p:spPr>
        <p:txBody>
          <a:bodyPr wrap="square" lIns="0" tIns="0" rIns="0" bIns="0" rtlCol="0" anchor="ctr"/>
          <a:lstStyle/>
          <a:p>
            <a:pPr indent="0" marL="0">
              <a:buNone/>
            </a:pPr>
            <a:r>
              <a:rPr lang="en-US" sz="2200" b="1" dirty="0">
                <a:solidFill>
                  <a:srgbClr val="1E6B4F"/>
                </a:solidFill>
                <a:latin typeface="Trebuchet MS" pitchFamily="34" charset="0"/>
                <a:ea typeface="Trebuchet MS" pitchFamily="34" charset="-122"/>
                <a:cs typeface="Trebuchet MS" pitchFamily="34" charset="-120"/>
              </a:rPr>
              <a:t>1</a:t>
            </a:r>
            <a:endParaRPr lang="en-US" sz="2200" dirty="0"/>
          </a:p>
        </p:txBody>
      </p:sp>
      <p:sp>
        <p:nvSpPr>
          <p:cNvPr id="6" name="Text 4"/>
          <p:cNvSpPr/>
          <p:nvPr/>
        </p:nvSpPr>
        <p:spPr>
          <a:xfrm>
            <a:off x="1280160" y="1920240"/>
            <a:ext cx="4343400" cy="365760"/>
          </a:xfrm>
          <a:prstGeom prst="rect">
            <a:avLst/>
          </a:prstGeom>
          <a:noFill/>
          <a:ln/>
        </p:spPr>
        <p:txBody>
          <a:bodyPr wrap="square" lIns="0" tIns="0" rIns="0" bIns="0" rtlCol="0" anchor="ctr"/>
          <a:lstStyle/>
          <a:p>
            <a:pPr indent="0" marL="0">
              <a:buNone/>
            </a:pPr>
            <a:r>
              <a:rPr lang="en-US" sz="1550" b="1" dirty="0">
                <a:solidFill>
                  <a:srgbClr val="26251F"/>
                </a:solidFill>
                <a:latin typeface="Trebuchet MS" pitchFamily="34" charset="0"/>
                <a:ea typeface="Trebuchet MS" pitchFamily="34" charset="-122"/>
                <a:cs typeface="Trebuchet MS" pitchFamily="34" charset="-120"/>
              </a:rPr>
              <a:t>Escucha abierta, no validación</a:t>
            </a:r>
            <a:endParaRPr lang="en-US" sz="1550" dirty="0"/>
          </a:p>
        </p:txBody>
      </p:sp>
      <p:sp>
        <p:nvSpPr>
          <p:cNvPr id="7" name="Text 5"/>
          <p:cNvSpPr/>
          <p:nvPr/>
        </p:nvSpPr>
        <p:spPr>
          <a:xfrm>
            <a:off x="1280160" y="2331720"/>
            <a:ext cx="4343400" cy="914400"/>
          </a:xfrm>
          <a:prstGeom prst="rect">
            <a:avLst/>
          </a:prstGeom>
          <a:noFill/>
          <a:ln/>
        </p:spPr>
        <p:txBody>
          <a:bodyPr wrap="square" lIns="0" tIns="0" rIns="0" bIns="0" rtlCol="0" anchor="t"/>
          <a:lstStyle/>
          <a:p>
            <a:pPr indent="0" marL="0">
              <a:lnSpc>
                <a:spcPct val="110000"/>
              </a:lnSpc>
              <a:buNone/>
            </a:pPr>
            <a:r>
              <a:rPr lang="en-US" sz="1250" dirty="0">
                <a:solidFill>
                  <a:srgbClr val="5B584C"/>
                </a:solidFill>
                <a:latin typeface="Calibri" pitchFamily="34" charset="0"/>
                <a:ea typeface="Calibri" pitchFamily="34" charset="-122"/>
                <a:cs typeface="Calibri" pitchFamily="34" charset="-120"/>
              </a:rPr>
              <a:t>Sin producto, sin hipótesis. Preguntamos por el pasado y el presente, no por futuros imaginarios.</a:t>
            </a:r>
            <a:endParaRPr lang="en-US" sz="1250" dirty="0"/>
          </a:p>
        </p:txBody>
      </p:sp>
      <p:sp>
        <p:nvSpPr>
          <p:cNvPr id="8" name="Shape 6"/>
          <p:cNvSpPr/>
          <p:nvPr/>
        </p:nvSpPr>
        <p:spPr>
          <a:xfrm>
            <a:off x="6172200" y="1691640"/>
            <a:ext cx="5349240" cy="1737360"/>
          </a:xfrm>
          <a:prstGeom prst="roundRect">
            <a:avLst>
              <a:gd name="adj" fmla="val 3158"/>
            </a:avLst>
          </a:prstGeom>
          <a:solidFill>
            <a:srgbClr val="F2ECDD"/>
          </a:solidFill>
          <a:ln w="12700">
            <a:solidFill>
              <a:srgbClr val="E3DCC9"/>
            </a:solidFill>
            <a:prstDash val="solid"/>
          </a:ln>
        </p:spPr>
      </p:sp>
      <p:sp>
        <p:nvSpPr>
          <p:cNvPr id="9" name="Text 7"/>
          <p:cNvSpPr/>
          <p:nvPr/>
        </p:nvSpPr>
        <p:spPr>
          <a:xfrm>
            <a:off x="6400800" y="1920240"/>
            <a:ext cx="502920" cy="502920"/>
          </a:xfrm>
          <a:prstGeom prst="rect">
            <a:avLst/>
          </a:prstGeom>
          <a:noFill/>
          <a:ln/>
        </p:spPr>
        <p:txBody>
          <a:bodyPr wrap="square" lIns="0" tIns="0" rIns="0" bIns="0" rtlCol="0" anchor="ctr"/>
          <a:lstStyle/>
          <a:p>
            <a:pPr indent="0" marL="0">
              <a:buNone/>
            </a:pPr>
            <a:r>
              <a:rPr lang="en-US" sz="2200" b="1" dirty="0">
                <a:solidFill>
                  <a:srgbClr val="1E6B4F"/>
                </a:solidFill>
                <a:latin typeface="Trebuchet MS" pitchFamily="34" charset="0"/>
                <a:ea typeface="Trebuchet MS" pitchFamily="34" charset="-122"/>
                <a:cs typeface="Trebuchet MS" pitchFamily="34" charset="-120"/>
              </a:rPr>
              <a:t>2</a:t>
            </a:r>
            <a:endParaRPr lang="en-US" sz="2200" dirty="0"/>
          </a:p>
        </p:txBody>
      </p:sp>
      <p:sp>
        <p:nvSpPr>
          <p:cNvPr id="10" name="Text 8"/>
          <p:cNvSpPr/>
          <p:nvPr/>
        </p:nvSpPr>
        <p:spPr>
          <a:xfrm>
            <a:off x="6949440" y="1920240"/>
            <a:ext cx="4343400" cy="365760"/>
          </a:xfrm>
          <a:prstGeom prst="rect">
            <a:avLst/>
          </a:prstGeom>
          <a:noFill/>
          <a:ln/>
        </p:spPr>
        <p:txBody>
          <a:bodyPr wrap="square" lIns="0" tIns="0" rIns="0" bIns="0" rtlCol="0" anchor="ctr"/>
          <a:lstStyle/>
          <a:p>
            <a:pPr indent="0" marL="0">
              <a:buNone/>
            </a:pPr>
            <a:r>
              <a:rPr lang="en-US" sz="1550" b="1" dirty="0">
                <a:solidFill>
                  <a:srgbClr val="26251F"/>
                </a:solidFill>
                <a:latin typeface="Trebuchet MS" pitchFamily="34" charset="0"/>
                <a:ea typeface="Trebuchet MS" pitchFamily="34" charset="-122"/>
                <a:cs typeface="Trebuchet MS" pitchFamily="34" charset="-120"/>
              </a:rPr>
              <a:t>Una mirada direccional, no un censo</a:t>
            </a:r>
            <a:endParaRPr lang="en-US" sz="1550" dirty="0"/>
          </a:p>
        </p:txBody>
      </p:sp>
      <p:sp>
        <p:nvSpPr>
          <p:cNvPr id="11" name="Text 9"/>
          <p:cNvSpPr/>
          <p:nvPr/>
        </p:nvSpPr>
        <p:spPr>
          <a:xfrm>
            <a:off x="6949440" y="2331720"/>
            <a:ext cx="4343400" cy="914400"/>
          </a:xfrm>
          <a:prstGeom prst="rect">
            <a:avLst/>
          </a:prstGeom>
          <a:noFill/>
          <a:ln/>
        </p:spPr>
        <p:txBody>
          <a:bodyPr wrap="square" lIns="0" tIns="0" rIns="0" bIns="0" rtlCol="0" anchor="t"/>
          <a:lstStyle/>
          <a:p>
            <a:pPr indent="0" marL="0">
              <a:lnSpc>
                <a:spcPct val="110000"/>
              </a:lnSpc>
              <a:buNone/>
            </a:pPr>
            <a:r>
              <a:rPr lang="en-US" sz="1250" dirty="0">
                <a:solidFill>
                  <a:srgbClr val="5B584C"/>
                </a:solidFill>
                <a:latin typeface="Calibri" pitchFamily="34" charset="0"/>
                <a:ea typeface="Calibri" pitchFamily="34" charset="-122"/>
                <a:cs typeface="Calibri" pitchFamily="34" charset="-120"/>
              </a:rPr>
              <a:t>Llegamos a estas tiendas a través de personas de confianza; puede que describan a dueños muy presentes y bien conectados. Seguimos ampliando el mapa.</a:t>
            </a:r>
            <a:endParaRPr lang="en-US" sz="1250" dirty="0"/>
          </a:p>
        </p:txBody>
      </p:sp>
      <p:sp>
        <p:nvSpPr>
          <p:cNvPr id="12" name="Shape 10"/>
          <p:cNvSpPr/>
          <p:nvPr/>
        </p:nvSpPr>
        <p:spPr>
          <a:xfrm>
            <a:off x="502920" y="3703320"/>
            <a:ext cx="5349240" cy="1737360"/>
          </a:xfrm>
          <a:prstGeom prst="roundRect">
            <a:avLst>
              <a:gd name="adj" fmla="val 3158"/>
            </a:avLst>
          </a:prstGeom>
          <a:solidFill>
            <a:srgbClr val="F2ECDD"/>
          </a:solidFill>
          <a:ln w="12700">
            <a:solidFill>
              <a:srgbClr val="E3DCC9"/>
            </a:solidFill>
            <a:prstDash val="solid"/>
          </a:ln>
        </p:spPr>
      </p:sp>
      <p:sp>
        <p:nvSpPr>
          <p:cNvPr id="13" name="Text 11"/>
          <p:cNvSpPr/>
          <p:nvPr/>
        </p:nvSpPr>
        <p:spPr>
          <a:xfrm>
            <a:off x="731520" y="3931920"/>
            <a:ext cx="502920" cy="502920"/>
          </a:xfrm>
          <a:prstGeom prst="rect">
            <a:avLst/>
          </a:prstGeom>
          <a:noFill/>
          <a:ln/>
        </p:spPr>
        <p:txBody>
          <a:bodyPr wrap="square" lIns="0" tIns="0" rIns="0" bIns="0" rtlCol="0" anchor="ctr"/>
          <a:lstStyle/>
          <a:p>
            <a:pPr indent="0" marL="0">
              <a:buNone/>
            </a:pPr>
            <a:r>
              <a:rPr lang="en-US" sz="2200" b="1" dirty="0">
                <a:solidFill>
                  <a:srgbClr val="1E6B4F"/>
                </a:solidFill>
                <a:latin typeface="Trebuchet MS" pitchFamily="34" charset="0"/>
                <a:ea typeface="Trebuchet MS" pitchFamily="34" charset="-122"/>
                <a:cs typeface="Trebuchet MS" pitchFamily="34" charset="-120"/>
              </a:rPr>
              <a:t>3</a:t>
            </a:r>
            <a:endParaRPr lang="en-US" sz="2200" dirty="0"/>
          </a:p>
        </p:txBody>
      </p:sp>
      <p:sp>
        <p:nvSpPr>
          <p:cNvPr id="14" name="Text 12"/>
          <p:cNvSpPr/>
          <p:nvPr/>
        </p:nvSpPr>
        <p:spPr>
          <a:xfrm>
            <a:off x="1280160" y="3931920"/>
            <a:ext cx="4343400" cy="365760"/>
          </a:xfrm>
          <a:prstGeom prst="rect">
            <a:avLst/>
          </a:prstGeom>
          <a:noFill/>
          <a:ln/>
        </p:spPr>
        <p:txBody>
          <a:bodyPr wrap="square" lIns="0" tIns="0" rIns="0" bIns="0" rtlCol="0" anchor="ctr"/>
          <a:lstStyle/>
          <a:p>
            <a:pPr indent="0" marL="0">
              <a:buNone/>
            </a:pPr>
            <a:r>
              <a:rPr lang="en-US" sz="1550" b="1" dirty="0">
                <a:solidFill>
                  <a:srgbClr val="26251F"/>
                </a:solidFill>
                <a:latin typeface="Trebuchet MS" pitchFamily="34" charset="0"/>
                <a:ea typeface="Trebuchet MS" pitchFamily="34" charset="-122"/>
                <a:cs typeface="Trebuchet MS" pitchFamily="34" charset="-120"/>
              </a:rPr>
              <a:t>Hipótesis, no conclusiones</a:t>
            </a:r>
            <a:endParaRPr lang="en-US" sz="1550" dirty="0"/>
          </a:p>
        </p:txBody>
      </p:sp>
      <p:sp>
        <p:nvSpPr>
          <p:cNvPr id="15" name="Text 13"/>
          <p:cNvSpPr/>
          <p:nvPr/>
        </p:nvSpPr>
        <p:spPr>
          <a:xfrm>
            <a:off x="1280160" y="4343400"/>
            <a:ext cx="4343400" cy="914400"/>
          </a:xfrm>
          <a:prstGeom prst="rect">
            <a:avLst/>
          </a:prstGeom>
          <a:noFill/>
          <a:ln/>
        </p:spPr>
        <p:txBody>
          <a:bodyPr wrap="square" lIns="0" tIns="0" rIns="0" bIns="0" rtlCol="0" anchor="t"/>
          <a:lstStyle/>
          <a:p>
            <a:pPr indent="0" marL="0">
              <a:lnSpc>
                <a:spcPct val="110000"/>
              </a:lnSpc>
              <a:buNone/>
            </a:pPr>
            <a:r>
              <a:rPr lang="en-US" sz="1250" dirty="0">
                <a:solidFill>
                  <a:srgbClr val="5B584C"/>
                </a:solidFill>
                <a:latin typeface="Calibri" pitchFamily="34" charset="0"/>
                <a:ea typeface="Calibri" pitchFamily="34" charset="-122"/>
                <a:cs typeface="Calibri" pitchFamily="34" charset="-120"/>
              </a:rPr>
              <a:t>Con ocho conversaciones nadie puede afirmar «el comercio de barrio es así». La meta es llegar a doce.</a:t>
            </a:r>
            <a:endParaRPr lang="en-US" sz="1250" dirty="0"/>
          </a:p>
        </p:txBody>
      </p:sp>
      <p:sp>
        <p:nvSpPr>
          <p:cNvPr id="16" name="Shape 14"/>
          <p:cNvSpPr/>
          <p:nvPr/>
        </p:nvSpPr>
        <p:spPr>
          <a:xfrm>
            <a:off x="6172200" y="3703320"/>
            <a:ext cx="5349240" cy="1737360"/>
          </a:xfrm>
          <a:prstGeom prst="roundRect">
            <a:avLst>
              <a:gd name="adj" fmla="val 3158"/>
            </a:avLst>
          </a:prstGeom>
          <a:solidFill>
            <a:srgbClr val="F2ECDD"/>
          </a:solidFill>
          <a:ln w="12700">
            <a:solidFill>
              <a:srgbClr val="E3DCC9"/>
            </a:solidFill>
            <a:prstDash val="solid"/>
          </a:ln>
        </p:spPr>
      </p:sp>
      <p:sp>
        <p:nvSpPr>
          <p:cNvPr id="17" name="Text 15"/>
          <p:cNvSpPr/>
          <p:nvPr/>
        </p:nvSpPr>
        <p:spPr>
          <a:xfrm>
            <a:off x="6400800" y="3931920"/>
            <a:ext cx="502920" cy="502920"/>
          </a:xfrm>
          <a:prstGeom prst="rect">
            <a:avLst/>
          </a:prstGeom>
          <a:noFill/>
          <a:ln/>
        </p:spPr>
        <p:txBody>
          <a:bodyPr wrap="square" lIns="0" tIns="0" rIns="0" bIns="0" rtlCol="0" anchor="ctr"/>
          <a:lstStyle/>
          <a:p>
            <a:pPr indent="0" marL="0">
              <a:buNone/>
            </a:pPr>
            <a:r>
              <a:rPr lang="en-US" sz="2200" b="1" dirty="0">
                <a:solidFill>
                  <a:srgbClr val="1E6B4F"/>
                </a:solidFill>
                <a:latin typeface="Trebuchet MS" pitchFamily="34" charset="0"/>
                <a:ea typeface="Trebuchet MS" pitchFamily="34" charset="-122"/>
                <a:cs typeface="Trebuchet MS" pitchFamily="34" charset="-120"/>
              </a:rPr>
              <a:t>4</a:t>
            </a:r>
            <a:endParaRPr lang="en-US" sz="2200" dirty="0"/>
          </a:p>
        </p:txBody>
      </p:sp>
      <p:sp>
        <p:nvSpPr>
          <p:cNvPr id="18" name="Text 16"/>
          <p:cNvSpPr/>
          <p:nvPr/>
        </p:nvSpPr>
        <p:spPr>
          <a:xfrm>
            <a:off x="6949440" y="3931920"/>
            <a:ext cx="4343400" cy="365760"/>
          </a:xfrm>
          <a:prstGeom prst="rect">
            <a:avLst/>
          </a:prstGeom>
          <a:noFill/>
          <a:ln/>
        </p:spPr>
        <p:txBody>
          <a:bodyPr wrap="square" lIns="0" tIns="0" rIns="0" bIns="0" rtlCol="0" anchor="ctr"/>
          <a:lstStyle/>
          <a:p>
            <a:pPr indent="0" marL="0">
              <a:buNone/>
            </a:pPr>
            <a:r>
              <a:rPr lang="en-US" sz="1550" b="1" dirty="0">
                <a:solidFill>
                  <a:srgbClr val="26251F"/>
                </a:solidFill>
                <a:latin typeface="Trebuchet MS" pitchFamily="34" charset="0"/>
                <a:ea typeface="Trebuchet MS" pitchFamily="34" charset="-122"/>
                <a:cs typeface="Trebuchet MS" pitchFamily="34" charset="-120"/>
              </a:rPr>
              <a:t>Citas literales</a:t>
            </a:r>
            <a:endParaRPr lang="en-US" sz="1550" dirty="0"/>
          </a:p>
        </p:txBody>
      </p:sp>
      <p:sp>
        <p:nvSpPr>
          <p:cNvPr id="19" name="Text 17"/>
          <p:cNvSpPr/>
          <p:nvPr/>
        </p:nvSpPr>
        <p:spPr>
          <a:xfrm>
            <a:off x="6949440" y="4343400"/>
            <a:ext cx="4343400" cy="914400"/>
          </a:xfrm>
          <a:prstGeom prst="rect">
            <a:avLst/>
          </a:prstGeom>
          <a:noFill/>
          <a:ln/>
        </p:spPr>
        <p:txBody>
          <a:bodyPr wrap="square" lIns="0" tIns="0" rIns="0" bIns="0" rtlCol="0" anchor="t"/>
          <a:lstStyle/>
          <a:p>
            <a:pPr indent="0" marL="0">
              <a:lnSpc>
                <a:spcPct val="110000"/>
              </a:lnSpc>
              <a:buNone/>
            </a:pPr>
            <a:r>
              <a:rPr lang="en-US" sz="1250" dirty="0">
                <a:solidFill>
                  <a:srgbClr val="5B584C"/>
                </a:solidFill>
                <a:latin typeface="Calibri" pitchFamily="34" charset="0"/>
                <a:ea typeface="Calibri" pitchFamily="34" charset="-122"/>
                <a:cs typeface="Calibri" pitchFamily="34" charset="-120"/>
              </a:rPr>
              <a:t>Todo lo entrecomillado se dijo en entrevista, palabra por palabra, y se atribuye solo por categoría de tienda.</a:t>
            </a:r>
            <a:endParaRPr lang="en-US" sz="1250" dirty="0"/>
          </a:p>
        </p:txBody>
      </p:sp>
      <p:sp>
        <p:nvSpPr>
          <p:cNvPr id="20" name="Text 18"/>
          <p:cNvSpPr/>
          <p:nvPr/>
        </p:nvSpPr>
        <p:spPr>
          <a:xfrm>
            <a:off x="502920" y="5715000"/>
            <a:ext cx="10515600" cy="365760"/>
          </a:xfrm>
          <a:prstGeom prst="rect">
            <a:avLst/>
          </a:prstGeom>
          <a:noFill/>
          <a:ln/>
        </p:spPr>
        <p:txBody>
          <a:bodyPr wrap="square" lIns="0" tIns="0" rIns="0" bIns="0" rtlCol="0" anchor="ctr"/>
          <a:lstStyle/>
          <a:p>
            <a:pPr indent="0" marL="0">
              <a:buNone/>
            </a:pPr>
            <a:r>
              <a:rPr lang="en-US" sz="1300" i="1" dirty="0">
                <a:solidFill>
                  <a:srgbClr val="5B584C"/>
                </a:solidFill>
                <a:latin typeface="Calibri" pitchFamily="34" charset="0"/>
                <a:ea typeface="Calibri" pitchFamily="34" charset="-122"/>
                <a:cs typeface="Calibri" pitchFamily="34" charset="-120"/>
              </a:rPr>
              <a:t>Un buen informe también cuenta lo que rompe el relato: encontramos contraejemplos en casi todos los patrones.</a:t>
            </a:r>
            <a:endParaRPr lang="en-US" sz="1300" dirty="0"/>
          </a:p>
        </p:txBody>
      </p:sp>
      <p:sp>
        <p:nvSpPr>
          <p:cNvPr id="21" name="Shape 19"/>
          <p:cNvSpPr/>
          <p:nvPr/>
        </p:nvSpPr>
        <p:spPr>
          <a:xfrm>
            <a:off x="502920" y="6355080"/>
            <a:ext cx="128016" cy="128016"/>
          </a:xfrm>
          <a:prstGeom prst="ellipse">
            <a:avLst/>
          </a:prstGeom>
          <a:solidFill>
            <a:srgbClr val="2E8B4A"/>
          </a:solidFill>
          <a:ln/>
        </p:spPr>
      </p:sp>
      <p:sp>
        <p:nvSpPr>
          <p:cNvPr id="22" name="Shape 20"/>
          <p:cNvSpPr/>
          <p:nvPr/>
        </p:nvSpPr>
        <p:spPr>
          <a:xfrm>
            <a:off x="722376" y="6355080"/>
            <a:ext cx="128016" cy="128016"/>
          </a:xfrm>
          <a:prstGeom prst="ellipse">
            <a:avLst/>
          </a:prstGeom>
          <a:solidFill>
            <a:srgbClr val="3E63A8"/>
          </a:solidFill>
          <a:ln/>
        </p:spPr>
      </p:sp>
      <p:sp>
        <p:nvSpPr>
          <p:cNvPr id="23" name="Shape 21"/>
          <p:cNvSpPr/>
          <p:nvPr/>
        </p:nvSpPr>
        <p:spPr>
          <a:xfrm>
            <a:off x="941832" y="6355080"/>
            <a:ext cx="128016" cy="128016"/>
          </a:xfrm>
          <a:prstGeom prst="ellipse">
            <a:avLst/>
          </a:prstGeom>
          <a:solidFill>
            <a:srgbClr val="C4707E"/>
          </a:solidFill>
          <a:ln/>
        </p:spPr>
      </p:sp>
      <p:sp>
        <p:nvSpPr>
          <p:cNvPr id="24" name="Shape 22"/>
          <p:cNvSpPr/>
          <p:nvPr/>
        </p:nvSpPr>
        <p:spPr>
          <a:xfrm>
            <a:off x="1161288" y="6355080"/>
            <a:ext cx="128016" cy="128016"/>
          </a:xfrm>
          <a:prstGeom prst="ellipse">
            <a:avLst/>
          </a:prstGeom>
          <a:solidFill>
            <a:srgbClr val="0A86A8"/>
          </a:solidFill>
          <a:ln/>
        </p:spPr>
      </p:sp>
      <p:sp>
        <p:nvSpPr>
          <p:cNvPr id="25" name="Shape 23"/>
          <p:cNvSpPr/>
          <p:nvPr/>
        </p:nvSpPr>
        <p:spPr>
          <a:xfrm>
            <a:off x="1380744" y="6355080"/>
            <a:ext cx="128016" cy="128016"/>
          </a:xfrm>
          <a:prstGeom prst="ellipse">
            <a:avLst/>
          </a:prstGeom>
          <a:solidFill>
            <a:srgbClr val="6F8A1A"/>
          </a:solidFill>
          <a:ln/>
        </p:spPr>
      </p:sp>
      <p:sp>
        <p:nvSpPr>
          <p:cNvPr id="26" name="Shape 24"/>
          <p:cNvSpPr/>
          <p:nvPr/>
        </p:nvSpPr>
        <p:spPr>
          <a:xfrm>
            <a:off x="1600200" y="6355080"/>
            <a:ext cx="128016" cy="128016"/>
          </a:xfrm>
          <a:prstGeom prst="ellipse">
            <a:avLst/>
          </a:prstGeom>
          <a:solidFill>
            <a:srgbClr val="C04141"/>
          </a:solidFill>
          <a:ln/>
        </p:spPr>
      </p:sp>
      <p:sp>
        <p:nvSpPr>
          <p:cNvPr id="27" name="Shape 25"/>
          <p:cNvSpPr/>
          <p:nvPr/>
        </p:nvSpPr>
        <p:spPr>
          <a:xfrm>
            <a:off x="1819656" y="6355080"/>
            <a:ext cx="128016" cy="128016"/>
          </a:xfrm>
          <a:prstGeom prst="ellipse">
            <a:avLst/>
          </a:prstGeom>
          <a:solidFill>
            <a:srgbClr val="8A5510"/>
          </a:solidFill>
          <a:ln/>
        </p:spPr>
      </p:sp>
      <p:sp>
        <p:nvSpPr>
          <p:cNvPr id="28" name="Shape 26"/>
          <p:cNvSpPr/>
          <p:nvPr/>
        </p:nvSpPr>
        <p:spPr>
          <a:xfrm>
            <a:off x="2039112" y="6355080"/>
            <a:ext cx="128016" cy="128016"/>
          </a:xfrm>
          <a:prstGeom prst="ellipse">
            <a:avLst/>
          </a:prstGeom>
          <a:solidFill>
            <a:srgbClr val="A1770A"/>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02920" y="256032"/>
            <a:ext cx="5486400" cy="320040"/>
          </a:xfrm>
          <a:prstGeom prst="rect">
            <a:avLst/>
          </a:prstGeom>
          <a:noFill/>
          <a:ln/>
        </p:spPr>
        <p:txBody>
          <a:bodyPr wrap="square" lIns="0" tIns="0" rIns="0" bIns="0" rtlCol="0" anchor="ctr"/>
          <a:lstStyle/>
          <a:p>
            <a:pPr indent="0" marL="0">
              <a:buNone/>
            </a:pPr>
            <a:r>
              <a:rPr lang="en-US" sz="12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200" dirty="0">
                <a:solidFill>
                  <a:srgbClr val="8B8779"/>
                </a:solidFill>
                <a:latin typeface="Trebuchet MS" pitchFamily="34" charset="0"/>
                <a:ea typeface="Trebuchet MS" pitchFamily="34" charset="-122"/>
                <a:cs typeface="Trebuchet MS" pitchFamily="34" charset="-120"/>
              </a:rPr>
              <a:t>  ·  primer vistazo</a:t>
            </a:r>
            <a:endParaRPr lang="en-US" sz="1200" dirty="0"/>
          </a:p>
        </p:txBody>
      </p:sp>
      <p:sp>
        <p:nvSpPr>
          <p:cNvPr id="3" name="Text 1"/>
          <p:cNvSpPr/>
          <p:nvPr/>
        </p:nvSpPr>
        <p:spPr>
          <a:xfrm>
            <a:off x="502920" y="868680"/>
            <a:ext cx="2743200" cy="320040"/>
          </a:xfrm>
          <a:prstGeom prst="rect">
            <a:avLst/>
          </a:prstGeom>
          <a:noFill/>
          <a:ln/>
        </p:spPr>
        <p:txBody>
          <a:bodyPr wrap="square" lIns="0" tIns="0" rIns="0" bIns="0" rtlCol="0" anchor="ctr"/>
          <a:lstStyle/>
          <a:p>
            <a:pPr indent="0" marL="0">
              <a:buNone/>
            </a:pPr>
            <a:r>
              <a:rPr lang="en-US" sz="1300" b="1" spc="200" kern="0" dirty="0">
                <a:solidFill>
                  <a:srgbClr val="2E8B4A"/>
                </a:solidFill>
                <a:latin typeface="Trebuchet MS" pitchFamily="34" charset="0"/>
                <a:ea typeface="Trebuchet MS" pitchFamily="34" charset="-122"/>
                <a:cs typeface="Trebuchet MS" pitchFamily="34" charset="-120"/>
              </a:rPr>
              <a:t>SEÑAL 01</a:t>
            </a:r>
            <a:endParaRPr lang="en-US" sz="1300" dirty="0"/>
          </a:p>
        </p:txBody>
      </p:sp>
      <p:sp>
        <p:nvSpPr>
          <p:cNvPr id="4" name="Text 2"/>
          <p:cNvSpPr/>
          <p:nvPr/>
        </p:nvSpPr>
        <p:spPr>
          <a:xfrm>
            <a:off x="502920" y="1234440"/>
            <a:ext cx="5577840" cy="1554480"/>
          </a:xfrm>
          <a:prstGeom prst="rect">
            <a:avLst/>
          </a:prstGeom>
          <a:noFill/>
          <a:ln/>
        </p:spPr>
        <p:txBody>
          <a:bodyPr wrap="square" lIns="0" tIns="0" rIns="0" bIns="0" rtlCol="0" anchor="t"/>
          <a:lstStyle/>
          <a:p>
            <a:pPr indent="0" marL="0">
              <a:lnSpc>
                <a:spcPct val="102000"/>
              </a:lnSpc>
              <a:buNone/>
            </a:pPr>
            <a:r>
              <a:rPr lang="en-US" sz="3000" b="1" dirty="0">
                <a:solidFill>
                  <a:srgbClr val="26251F"/>
                </a:solidFill>
                <a:latin typeface="Trebuchet MS" pitchFamily="34" charset="0"/>
                <a:ea typeface="Trebuchet MS" pitchFamily="34" charset="-122"/>
                <a:cs typeface="Trebuchet MS" pitchFamily="34" charset="-120"/>
              </a:rPr>
              <a:t>El negocio vive en tu cabeza</a:t>
            </a:r>
            <a:endParaRPr lang="en-US" sz="3000" dirty="0"/>
          </a:p>
        </p:txBody>
      </p:sp>
      <p:sp>
        <p:nvSpPr>
          <p:cNvPr id="5" name="Text 3"/>
          <p:cNvSpPr/>
          <p:nvPr/>
        </p:nvSpPr>
        <p:spPr>
          <a:xfrm>
            <a:off x="502920" y="2880360"/>
            <a:ext cx="5394960" cy="2377440"/>
          </a:xfrm>
          <a:prstGeom prst="rect">
            <a:avLst/>
          </a:prstGeom>
          <a:noFill/>
          <a:ln/>
        </p:spPr>
        <p:txBody>
          <a:bodyPr wrap="square" lIns="0" tIns="0" rIns="0" bIns="0" rtlCol="0" anchor="t"/>
          <a:lstStyle/>
          <a:p>
            <a:pPr indent="0" marL="0">
              <a:lnSpc>
                <a:spcPct val="115000"/>
              </a:lnSpc>
              <a:buNone/>
            </a:pPr>
            <a:r>
              <a:rPr lang="en-US" sz="1500" dirty="0">
                <a:solidFill>
                  <a:srgbClr val="5B584C"/>
                </a:solidFill>
                <a:latin typeface="Calibri" pitchFamily="34" charset="0"/>
                <a:ea typeface="Calibri" pitchFamily="34" charset="-122"/>
                <a:cs typeface="Calibri" pitchFamily="34" charset="-120"/>
              </a:rPr>
              <a:t>Precios, proveedores, clientes, criterio: todo lo lleva el dueño. Se delegan tareas, pero no el juicio. Y cuando una tienda cambia de manos, lo que se pierde no está en ningún sistema: estaba en la cabeza de la dueña anterior.</a:t>
            </a:r>
            <a:endParaRPr lang="en-US" sz="1500" dirty="0"/>
          </a:p>
        </p:txBody>
      </p:sp>
      <p:sp>
        <p:nvSpPr>
          <p:cNvPr id="6" name="Shape 4"/>
          <p:cNvSpPr/>
          <p:nvPr/>
        </p:nvSpPr>
        <p:spPr>
          <a:xfrm>
            <a:off x="6492240" y="1234440"/>
            <a:ext cx="5120640" cy="832104"/>
          </a:xfrm>
          <a:prstGeom prst="roundRect">
            <a:avLst>
              <a:gd name="adj" fmla="val 4396"/>
            </a:avLst>
          </a:prstGeom>
          <a:solidFill>
            <a:srgbClr val="FFFFFF"/>
          </a:solidFill>
          <a:ln w="12700">
            <a:solidFill>
              <a:srgbClr val="E3DCC9"/>
            </a:solidFill>
            <a:prstDash val="solid"/>
          </a:ln>
          <a:effectLst>
            <a:outerShdw sx="100000" sy="100000" kx="0" ky="0" algn="bl" rotWithShape="0" blurRad="76200" dist="25400" dir="5400000">
              <a:srgbClr val="5A5037">
                <a:alpha val="18000"/>
              </a:srgbClr>
            </a:outerShdw>
          </a:effectLst>
        </p:spPr>
      </p:sp>
      <p:sp>
        <p:nvSpPr>
          <p:cNvPr id="7" name="Text 5"/>
          <p:cNvSpPr/>
          <p:nvPr/>
        </p:nvSpPr>
        <p:spPr>
          <a:xfrm>
            <a:off x="6656832" y="1325880"/>
            <a:ext cx="4791456" cy="374904"/>
          </a:xfrm>
          <a:prstGeom prst="rect">
            <a:avLst/>
          </a:prstGeom>
          <a:noFill/>
          <a:ln/>
        </p:spPr>
        <p:txBody>
          <a:bodyPr wrap="square" lIns="0" tIns="0" rIns="0" bIns="0" rtlCol="0" anchor="t"/>
          <a:lstStyle/>
          <a:p>
            <a:pPr indent="0" marL="0">
              <a:buNone/>
            </a:pPr>
            <a:r>
              <a:rPr lang="en-US" sz="1300" i="1" dirty="0">
                <a:solidFill>
                  <a:srgbClr val="26251F"/>
                </a:solidFill>
                <a:latin typeface="Calibri" pitchFamily="34" charset="0"/>
                <a:ea typeface="Calibri" pitchFamily="34" charset="-122"/>
                <a:cs typeface="Calibri" pitchFamily="34" charset="-120"/>
              </a:rPr>
              <a:t>«Todo está en mi cabeza. No tengo nada de sistema.»</a:t>
            </a:r>
            <a:endParaRPr lang="en-US" sz="1300" dirty="0"/>
          </a:p>
        </p:txBody>
      </p:sp>
      <p:sp>
        <p:nvSpPr>
          <p:cNvPr id="8" name="Shape 6"/>
          <p:cNvSpPr/>
          <p:nvPr/>
        </p:nvSpPr>
        <p:spPr>
          <a:xfrm>
            <a:off x="6656832" y="1773936"/>
            <a:ext cx="109728" cy="109728"/>
          </a:xfrm>
          <a:prstGeom prst="ellipse">
            <a:avLst/>
          </a:prstGeom>
          <a:solidFill>
            <a:srgbClr val="2E8B4A"/>
          </a:solidFill>
          <a:ln/>
        </p:spPr>
      </p:sp>
      <p:sp>
        <p:nvSpPr>
          <p:cNvPr id="9" name="Text 7"/>
          <p:cNvSpPr/>
          <p:nvPr/>
        </p:nvSpPr>
        <p:spPr>
          <a:xfrm>
            <a:off x="6839712" y="1700784"/>
            <a:ext cx="4608576" cy="256032"/>
          </a:xfrm>
          <a:prstGeom prst="rect">
            <a:avLst/>
          </a:prstGeom>
          <a:noFill/>
          <a:ln/>
        </p:spPr>
        <p:txBody>
          <a:bodyPr wrap="square" lIns="0" tIns="0" rIns="0" bIns="0" rtlCol="0" anchor="ctr"/>
          <a:lstStyle/>
          <a:p>
            <a:pPr indent="0" marL="0">
              <a:buNone/>
            </a:pPr>
            <a:r>
              <a:rPr lang="en-US" sz="850" spc="150" kern="0" dirty="0">
                <a:solidFill>
                  <a:srgbClr val="8B8779"/>
                </a:solidFill>
                <a:latin typeface="Calibri" pitchFamily="34" charset="0"/>
                <a:ea typeface="Calibri" pitchFamily="34" charset="-122"/>
                <a:cs typeface="Calibri" pitchFamily="34" charset="-120"/>
              </a:rPr>
              <a:t>PROPIETARIA · TIENDA DE ALIMENTACIÓN</a:t>
            </a:r>
            <a:endParaRPr lang="en-US" sz="850" dirty="0"/>
          </a:p>
        </p:txBody>
      </p:sp>
      <p:sp>
        <p:nvSpPr>
          <p:cNvPr id="10" name="Shape 8"/>
          <p:cNvSpPr/>
          <p:nvPr/>
        </p:nvSpPr>
        <p:spPr>
          <a:xfrm>
            <a:off x="6492240" y="2340864"/>
            <a:ext cx="5120640" cy="1069848"/>
          </a:xfrm>
          <a:prstGeom prst="roundRect">
            <a:avLst>
              <a:gd name="adj" fmla="val 3419"/>
            </a:avLst>
          </a:prstGeom>
          <a:solidFill>
            <a:srgbClr val="FFFFFF"/>
          </a:solidFill>
          <a:ln w="12700">
            <a:solidFill>
              <a:srgbClr val="E3DCC9"/>
            </a:solidFill>
            <a:prstDash val="solid"/>
          </a:ln>
          <a:effectLst>
            <a:outerShdw sx="100000" sy="100000" kx="0" ky="0" algn="bl" rotWithShape="0" blurRad="76200" dist="25400" dir="5400000">
              <a:srgbClr val="5A5037">
                <a:alpha val="18000"/>
              </a:srgbClr>
            </a:outerShdw>
          </a:effectLst>
        </p:spPr>
      </p:sp>
      <p:sp>
        <p:nvSpPr>
          <p:cNvPr id="11" name="Text 9"/>
          <p:cNvSpPr/>
          <p:nvPr/>
        </p:nvSpPr>
        <p:spPr>
          <a:xfrm>
            <a:off x="6656832" y="2432304"/>
            <a:ext cx="4791456" cy="612648"/>
          </a:xfrm>
          <a:prstGeom prst="rect">
            <a:avLst/>
          </a:prstGeom>
          <a:noFill/>
          <a:ln/>
        </p:spPr>
        <p:txBody>
          <a:bodyPr wrap="square" lIns="0" tIns="0" rIns="0" bIns="0" rtlCol="0" anchor="t"/>
          <a:lstStyle/>
          <a:p>
            <a:pPr indent="0" marL="0">
              <a:buNone/>
            </a:pPr>
            <a:r>
              <a:rPr lang="en-US" sz="1300" i="1" dirty="0">
                <a:solidFill>
                  <a:srgbClr val="26251F"/>
                </a:solidFill>
                <a:latin typeface="Calibri" pitchFamily="34" charset="0"/>
                <a:ea typeface="Calibri" pitchFamily="34" charset="-122"/>
                <a:cs typeface="Calibri" pitchFamily="34" charset="-120"/>
              </a:rPr>
              <a:t>«Como era la dueña, ella lo tenía en la cabeza, entonces eso vale tanto... no estaba registrado en el sistema.»</a:t>
            </a:r>
            <a:endParaRPr lang="en-US" sz="1300" dirty="0"/>
          </a:p>
        </p:txBody>
      </p:sp>
      <p:sp>
        <p:nvSpPr>
          <p:cNvPr id="12" name="Shape 10"/>
          <p:cNvSpPr/>
          <p:nvPr/>
        </p:nvSpPr>
        <p:spPr>
          <a:xfrm>
            <a:off x="6656832" y="3118104"/>
            <a:ext cx="109728" cy="109728"/>
          </a:xfrm>
          <a:prstGeom prst="ellipse">
            <a:avLst/>
          </a:prstGeom>
          <a:solidFill>
            <a:srgbClr val="6F8A1A"/>
          </a:solidFill>
          <a:ln/>
        </p:spPr>
      </p:sp>
      <p:sp>
        <p:nvSpPr>
          <p:cNvPr id="13" name="Text 11"/>
          <p:cNvSpPr/>
          <p:nvPr/>
        </p:nvSpPr>
        <p:spPr>
          <a:xfrm>
            <a:off x="6839712" y="3044952"/>
            <a:ext cx="4608576" cy="256032"/>
          </a:xfrm>
          <a:prstGeom prst="rect">
            <a:avLst/>
          </a:prstGeom>
          <a:noFill/>
          <a:ln/>
        </p:spPr>
        <p:txBody>
          <a:bodyPr wrap="square" lIns="0" tIns="0" rIns="0" bIns="0" rtlCol="0" anchor="ctr"/>
          <a:lstStyle/>
          <a:p>
            <a:pPr indent="0" marL="0">
              <a:buNone/>
            </a:pPr>
            <a:r>
              <a:rPr lang="en-US" sz="850" spc="150" kern="0" dirty="0">
                <a:solidFill>
                  <a:srgbClr val="8B8779"/>
                </a:solidFill>
                <a:latin typeface="Calibri" pitchFamily="34" charset="0"/>
                <a:ea typeface="Calibri" pitchFamily="34" charset="-122"/>
                <a:cs typeface="Calibri" pitchFamily="34" charset="-120"/>
              </a:rPr>
              <a:t>NUEVO PROPIETARIO · TIENDA A GRANEL</a:t>
            </a:r>
            <a:endParaRPr lang="en-US" sz="850" dirty="0"/>
          </a:p>
        </p:txBody>
      </p:sp>
      <p:sp>
        <p:nvSpPr>
          <p:cNvPr id="14" name="Shape 12"/>
          <p:cNvSpPr/>
          <p:nvPr/>
        </p:nvSpPr>
        <p:spPr>
          <a:xfrm>
            <a:off x="502920" y="6355080"/>
            <a:ext cx="128016" cy="128016"/>
          </a:xfrm>
          <a:prstGeom prst="ellipse">
            <a:avLst/>
          </a:prstGeom>
          <a:solidFill>
            <a:srgbClr val="2E8B4A"/>
          </a:solidFill>
          <a:ln/>
        </p:spPr>
      </p:sp>
      <p:sp>
        <p:nvSpPr>
          <p:cNvPr id="15" name="Shape 13"/>
          <p:cNvSpPr/>
          <p:nvPr/>
        </p:nvSpPr>
        <p:spPr>
          <a:xfrm>
            <a:off x="722376" y="6355080"/>
            <a:ext cx="128016" cy="128016"/>
          </a:xfrm>
          <a:prstGeom prst="ellipse">
            <a:avLst/>
          </a:prstGeom>
          <a:solidFill>
            <a:srgbClr val="3E63A8"/>
          </a:solidFill>
          <a:ln/>
        </p:spPr>
      </p:sp>
      <p:sp>
        <p:nvSpPr>
          <p:cNvPr id="16" name="Shape 14"/>
          <p:cNvSpPr/>
          <p:nvPr/>
        </p:nvSpPr>
        <p:spPr>
          <a:xfrm>
            <a:off x="941832" y="6355080"/>
            <a:ext cx="128016" cy="128016"/>
          </a:xfrm>
          <a:prstGeom prst="ellipse">
            <a:avLst/>
          </a:prstGeom>
          <a:solidFill>
            <a:srgbClr val="C4707E"/>
          </a:solidFill>
          <a:ln/>
        </p:spPr>
      </p:sp>
      <p:sp>
        <p:nvSpPr>
          <p:cNvPr id="17" name="Shape 15"/>
          <p:cNvSpPr/>
          <p:nvPr/>
        </p:nvSpPr>
        <p:spPr>
          <a:xfrm>
            <a:off x="1161288" y="6355080"/>
            <a:ext cx="128016" cy="128016"/>
          </a:xfrm>
          <a:prstGeom prst="ellipse">
            <a:avLst/>
          </a:prstGeom>
          <a:solidFill>
            <a:srgbClr val="0A86A8"/>
          </a:solidFill>
          <a:ln/>
        </p:spPr>
      </p:sp>
      <p:sp>
        <p:nvSpPr>
          <p:cNvPr id="18" name="Shape 16"/>
          <p:cNvSpPr/>
          <p:nvPr/>
        </p:nvSpPr>
        <p:spPr>
          <a:xfrm>
            <a:off x="1380744" y="6355080"/>
            <a:ext cx="128016" cy="128016"/>
          </a:xfrm>
          <a:prstGeom prst="ellipse">
            <a:avLst/>
          </a:prstGeom>
          <a:solidFill>
            <a:srgbClr val="6F8A1A"/>
          </a:solidFill>
          <a:ln/>
        </p:spPr>
      </p:sp>
      <p:sp>
        <p:nvSpPr>
          <p:cNvPr id="19" name="Shape 17"/>
          <p:cNvSpPr/>
          <p:nvPr/>
        </p:nvSpPr>
        <p:spPr>
          <a:xfrm>
            <a:off x="1600200" y="6355080"/>
            <a:ext cx="128016" cy="128016"/>
          </a:xfrm>
          <a:prstGeom prst="ellipse">
            <a:avLst/>
          </a:prstGeom>
          <a:solidFill>
            <a:srgbClr val="C04141"/>
          </a:solidFill>
          <a:ln/>
        </p:spPr>
      </p:sp>
      <p:sp>
        <p:nvSpPr>
          <p:cNvPr id="20" name="Shape 18"/>
          <p:cNvSpPr/>
          <p:nvPr/>
        </p:nvSpPr>
        <p:spPr>
          <a:xfrm>
            <a:off x="1819656" y="6355080"/>
            <a:ext cx="128016" cy="128016"/>
          </a:xfrm>
          <a:prstGeom prst="ellipse">
            <a:avLst/>
          </a:prstGeom>
          <a:solidFill>
            <a:srgbClr val="8A5510"/>
          </a:solidFill>
          <a:ln/>
        </p:spPr>
      </p:sp>
      <p:sp>
        <p:nvSpPr>
          <p:cNvPr id="21" name="Shape 19"/>
          <p:cNvSpPr/>
          <p:nvPr/>
        </p:nvSpPr>
        <p:spPr>
          <a:xfrm>
            <a:off x="2039112" y="6355080"/>
            <a:ext cx="128016" cy="128016"/>
          </a:xfrm>
          <a:prstGeom prst="ellipse">
            <a:avLst/>
          </a:prstGeom>
          <a:solidFill>
            <a:srgbClr val="A1770A"/>
          </a:solidFill>
          <a:ln/>
        </p:spPr>
      </p:sp>
      <p:sp>
        <p:nvSpPr>
          <p:cNvPr id="22" name="Text 20"/>
          <p:cNvSpPr/>
          <p:nvPr/>
        </p:nvSpPr>
        <p:spPr>
          <a:xfrm>
            <a:off x="8485632" y="6291072"/>
            <a:ext cx="3200400" cy="274320"/>
          </a:xfrm>
          <a:prstGeom prst="rect">
            <a:avLst/>
          </a:prstGeom>
          <a:noFill/>
          <a:ln/>
        </p:spPr>
        <p:txBody>
          <a:bodyPr wrap="square" lIns="0" tIns="0" rIns="0" bIns="0" rtlCol="0" anchor="ctr"/>
          <a:lstStyle/>
          <a:p>
            <a:pPr algn="r" indent="0" marL="0">
              <a:buNone/>
            </a:pPr>
            <a:r>
              <a:rPr lang="en-US" sz="900" dirty="0">
                <a:solidFill>
                  <a:srgbClr val="8B8779"/>
                </a:solidFill>
                <a:latin typeface="Calibri" pitchFamily="34" charset="0"/>
                <a:ea typeface="Calibri" pitchFamily="34" charset="-122"/>
                <a:cs typeface="Calibri" pitchFamily="34" charset="-120"/>
              </a:rPr>
              <a:t>A pie de mostrador · n=8 · Julio 2026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02920" y="256032"/>
            <a:ext cx="5486400" cy="320040"/>
          </a:xfrm>
          <a:prstGeom prst="rect">
            <a:avLst/>
          </a:prstGeom>
          <a:noFill/>
          <a:ln/>
        </p:spPr>
        <p:txBody>
          <a:bodyPr wrap="square" lIns="0" tIns="0" rIns="0" bIns="0" rtlCol="0" anchor="ctr"/>
          <a:lstStyle/>
          <a:p>
            <a:pPr indent="0" marL="0">
              <a:buNone/>
            </a:pPr>
            <a:r>
              <a:rPr lang="en-US" sz="12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200" dirty="0">
                <a:solidFill>
                  <a:srgbClr val="8B8779"/>
                </a:solidFill>
                <a:latin typeface="Trebuchet MS" pitchFamily="34" charset="0"/>
                <a:ea typeface="Trebuchet MS" pitchFamily="34" charset="-122"/>
                <a:cs typeface="Trebuchet MS" pitchFamily="34" charset="-120"/>
              </a:rPr>
              <a:t>  ·  primer vistazo</a:t>
            </a:r>
            <a:endParaRPr lang="en-US" sz="1200" dirty="0"/>
          </a:p>
        </p:txBody>
      </p:sp>
      <p:sp>
        <p:nvSpPr>
          <p:cNvPr id="3" name="Text 1"/>
          <p:cNvSpPr/>
          <p:nvPr/>
        </p:nvSpPr>
        <p:spPr>
          <a:xfrm>
            <a:off x="502920" y="868680"/>
            <a:ext cx="2743200" cy="320040"/>
          </a:xfrm>
          <a:prstGeom prst="rect">
            <a:avLst/>
          </a:prstGeom>
          <a:noFill/>
          <a:ln/>
        </p:spPr>
        <p:txBody>
          <a:bodyPr wrap="square" lIns="0" tIns="0" rIns="0" bIns="0" rtlCol="0" anchor="ctr"/>
          <a:lstStyle/>
          <a:p>
            <a:pPr indent="0" marL="0">
              <a:buNone/>
            </a:pPr>
            <a:r>
              <a:rPr lang="en-US" sz="1300" b="1" spc="200" kern="0" dirty="0">
                <a:solidFill>
                  <a:srgbClr val="0A86A8"/>
                </a:solidFill>
                <a:latin typeface="Trebuchet MS" pitchFamily="34" charset="0"/>
                <a:ea typeface="Trebuchet MS" pitchFamily="34" charset="-122"/>
                <a:cs typeface="Trebuchet MS" pitchFamily="34" charset="-120"/>
              </a:rPr>
              <a:t>SEÑAL 02</a:t>
            </a:r>
            <a:endParaRPr lang="en-US" sz="1300" dirty="0"/>
          </a:p>
        </p:txBody>
      </p:sp>
      <p:sp>
        <p:nvSpPr>
          <p:cNvPr id="4" name="Text 2"/>
          <p:cNvSpPr/>
          <p:nvPr/>
        </p:nvSpPr>
        <p:spPr>
          <a:xfrm>
            <a:off x="502920" y="1234440"/>
            <a:ext cx="5577840" cy="1554480"/>
          </a:xfrm>
          <a:prstGeom prst="rect">
            <a:avLst/>
          </a:prstGeom>
          <a:noFill/>
          <a:ln/>
        </p:spPr>
        <p:txBody>
          <a:bodyPr wrap="square" lIns="0" tIns="0" rIns="0" bIns="0" rtlCol="0" anchor="t"/>
          <a:lstStyle/>
          <a:p>
            <a:pPr indent="0" marL="0">
              <a:lnSpc>
                <a:spcPct val="102000"/>
              </a:lnSpc>
              <a:buNone/>
            </a:pPr>
            <a:r>
              <a:rPr lang="en-US" sz="3000" b="1" dirty="0">
                <a:solidFill>
                  <a:srgbClr val="26251F"/>
                </a:solidFill>
                <a:latin typeface="Trebuchet MS" pitchFamily="34" charset="0"/>
                <a:ea typeface="Trebuchet MS" pitchFamily="34" charset="-122"/>
                <a:cs typeface="Trebuchet MS" pitchFamily="34" charset="-120"/>
              </a:rPr>
              <a:t>Datos tienes. Lo que falta es la conclusión</a:t>
            </a:r>
            <a:endParaRPr lang="en-US" sz="3000" dirty="0"/>
          </a:p>
        </p:txBody>
      </p:sp>
      <p:sp>
        <p:nvSpPr>
          <p:cNvPr id="5" name="Text 3"/>
          <p:cNvSpPr/>
          <p:nvPr/>
        </p:nvSpPr>
        <p:spPr>
          <a:xfrm>
            <a:off x="502920" y="2880360"/>
            <a:ext cx="5394960" cy="2377440"/>
          </a:xfrm>
          <a:prstGeom prst="rect">
            <a:avLst/>
          </a:prstGeom>
          <a:noFill/>
          <a:ln/>
        </p:spPr>
        <p:txBody>
          <a:bodyPr wrap="square" lIns="0" tIns="0" rIns="0" bIns="0" rtlCol="0" anchor="t"/>
          <a:lstStyle/>
          <a:p>
            <a:pPr indent="0" marL="0">
              <a:lnSpc>
                <a:spcPct val="115000"/>
              </a:lnSpc>
              <a:buNone/>
            </a:pPr>
            <a:r>
              <a:rPr lang="en-US" sz="1500" dirty="0">
                <a:solidFill>
                  <a:srgbClr val="5B584C"/>
                </a:solidFill>
                <a:latin typeface="Calibri" pitchFamily="34" charset="0"/>
                <a:ea typeface="Calibri" pitchFamily="34" charset="-122"/>
                <a:cs typeface="Calibri" pitchFamily="34" charset="-120"/>
              </a:rPr>
              <a:t>El TPV acumula números, pero nadie tiene una tarde libre para convertirlos en una decisión difícil. Algunos ni pueden mirar sus propios datos desde casa. El problema no es la falta de información: es el último kilómetro entre el dato y la acción.</a:t>
            </a:r>
            <a:endParaRPr lang="en-US" sz="1500" dirty="0"/>
          </a:p>
        </p:txBody>
      </p:sp>
      <p:sp>
        <p:nvSpPr>
          <p:cNvPr id="6" name="Shape 4"/>
          <p:cNvSpPr/>
          <p:nvPr/>
        </p:nvSpPr>
        <p:spPr>
          <a:xfrm>
            <a:off x="6492240" y="1234440"/>
            <a:ext cx="5120640" cy="1307592"/>
          </a:xfrm>
          <a:prstGeom prst="roundRect">
            <a:avLst>
              <a:gd name="adj" fmla="val 2797"/>
            </a:avLst>
          </a:prstGeom>
          <a:solidFill>
            <a:srgbClr val="FFFFFF"/>
          </a:solidFill>
          <a:ln w="12700">
            <a:solidFill>
              <a:srgbClr val="E3DCC9"/>
            </a:solidFill>
            <a:prstDash val="solid"/>
          </a:ln>
          <a:effectLst>
            <a:outerShdw sx="100000" sy="100000" kx="0" ky="0" algn="bl" rotWithShape="0" blurRad="76200" dist="25400" dir="5400000">
              <a:srgbClr val="5A5037">
                <a:alpha val="18000"/>
              </a:srgbClr>
            </a:outerShdw>
          </a:effectLst>
        </p:spPr>
      </p:sp>
      <p:sp>
        <p:nvSpPr>
          <p:cNvPr id="7" name="Text 5"/>
          <p:cNvSpPr/>
          <p:nvPr/>
        </p:nvSpPr>
        <p:spPr>
          <a:xfrm>
            <a:off x="6656832" y="1325880"/>
            <a:ext cx="4791456" cy="850392"/>
          </a:xfrm>
          <a:prstGeom prst="rect">
            <a:avLst/>
          </a:prstGeom>
          <a:noFill/>
          <a:ln/>
        </p:spPr>
        <p:txBody>
          <a:bodyPr wrap="square" lIns="0" tIns="0" rIns="0" bIns="0" rtlCol="0" anchor="t"/>
          <a:lstStyle/>
          <a:p>
            <a:pPr indent="0" marL="0">
              <a:buNone/>
            </a:pPr>
            <a:r>
              <a:rPr lang="en-US" sz="1300" i="1" dirty="0">
                <a:solidFill>
                  <a:srgbClr val="26251F"/>
                </a:solidFill>
                <a:latin typeface="Calibri" pitchFamily="34" charset="0"/>
                <a:ea typeface="Calibri" pitchFamily="34" charset="-122"/>
                <a:cs typeface="Calibri" pitchFamily="34" charset="-120"/>
              </a:rPr>
              <a:t>«Aquí tienes un montón de información, pero hay que encontrar el tiempo de sacarla y de llegar a las conclusiones... Esa información la tienes que dar masticada.»</a:t>
            </a:r>
            <a:endParaRPr lang="en-US" sz="1300" dirty="0"/>
          </a:p>
        </p:txBody>
      </p:sp>
      <p:sp>
        <p:nvSpPr>
          <p:cNvPr id="8" name="Shape 6"/>
          <p:cNvSpPr/>
          <p:nvPr/>
        </p:nvSpPr>
        <p:spPr>
          <a:xfrm>
            <a:off x="6656832" y="2249424"/>
            <a:ext cx="109728" cy="109728"/>
          </a:xfrm>
          <a:prstGeom prst="ellipse">
            <a:avLst/>
          </a:prstGeom>
          <a:solidFill>
            <a:srgbClr val="0A86A8"/>
          </a:solidFill>
          <a:ln/>
        </p:spPr>
      </p:sp>
      <p:sp>
        <p:nvSpPr>
          <p:cNvPr id="9" name="Text 7"/>
          <p:cNvSpPr/>
          <p:nvPr/>
        </p:nvSpPr>
        <p:spPr>
          <a:xfrm>
            <a:off x="6839712" y="2176272"/>
            <a:ext cx="4608576" cy="256032"/>
          </a:xfrm>
          <a:prstGeom prst="rect">
            <a:avLst/>
          </a:prstGeom>
          <a:noFill/>
          <a:ln/>
        </p:spPr>
        <p:txBody>
          <a:bodyPr wrap="square" lIns="0" tIns="0" rIns="0" bIns="0" rtlCol="0" anchor="ctr"/>
          <a:lstStyle/>
          <a:p>
            <a:pPr indent="0" marL="0">
              <a:buNone/>
            </a:pPr>
            <a:r>
              <a:rPr lang="en-US" sz="850" spc="150" kern="0" dirty="0">
                <a:solidFill>
                  <a:srgbClr val="8B8779"/>
                </a:solidFill>
                <a:latin typeface="Calibri" pitchFamily="34" charset="0"/>
                <a:ea typeface="Calibri" pitchFamily="34" charset="-122"/>
                <a:cs typeface="Calibri" pitchFamily="34" charset="-120"/>
              </a:rPr>
              <a:t>FUNDADOR · CERVECERA ARTESANA</a:t>
            </a:r>
            <a:endParaRPr lang="en-US" sz="850" dirty="0"/>
          </a:p>
        </p:txBody>
      </p:sp>
      <p:sp>
        <p:nvSpPr>
          <p:cNvPr id="10" name="Shape 8"/>
          <p:cNvSpPr/>
          <p:nvPr/>
        </p:nvSpPr>
        <p:spPr>
          <a:xfrm>
            <a:off x="6492240" y="3200400"/>
            <a:ext cx="1463040" cy="868680"/>
          </a:xfrm>
          <a:prstGeom prst="roundRect">
            <a:avLst>
              <a:gd name="adj" fmla="val 5263"/>
            </a:avLst>
          </a:prstGeom>
          <a:solidFill>
            <a:srgbClr val="F2ECDD"/>
          </a:solidFill>
          <a:ln w="12700">
            <a:solidFill>
              <a:srgbClr val="E3DCC9"/>
            </a:solidFill>
            <a:prstDash val="solid"/>
          </a:ln>
        </p:spPr>
      </p:sp>
      <p:sp>
        <p:nvSpPr>
          <p:cNvPr id="11" name="Text 9"/>
          <p:cNvSpPr/>
          <p:nvPr/>
        </p:nvSpPr>
        <p:spPr>
          <a:xfrm>
            <a:off x="6565392" y="3310128"/>
            <a:ext cx="1316736" cy="256032"/>
          </a:xfrm>
          <a:prstGeom prst="rect">
            <a:avLst/>
          </a:prstGeom>
          <a:noFill/>
          <a:ln/>
        </p:spPr>
        <p:txBody>
          <a:bodyPr wrap="square" lIns="0" tIns="0" rIns="0" bIns="0" rtlCol="0" anchor="ctr"/>
          <a:lstStyle/>
          <a:p>
            <a:pPr algn="ctr" indent="0" marL="0">
              <a:buNone/>
            </a:pPr>
            <a:r>
              <a:rPr lang="en-US" sz="1050" b="1" dirty="0">
                <a:solidFill>
                  <a:srgbClr val="26251F"/>
                </a:solidFill>
                <a:latin typeface="Trebuchet MS" pitchFamily="34" charset="0"/>
                <a:ea typeface="Trebuchet MS" pitchFamily="34" charset="-122"/>
                <a:cs typeface="Trebuchet MS" pitchFamily="34" charset="-120"/>
              </a:rPr>
              <a:t>DATOS</a:t>
            </a:r>
            <a:endParaRPr lang="en-US" sz="1050" dirty="0"/>
          </a:p>
        </p:txBody>
      </p:sp>
      <p:sp>
        <p:nvSpPr>
          <p:cNvPr id="12" name="Text 10"/>
          <p:cNvSpPr/>
          <p:nvPr/>
        </p:nvSpPr>
        <p:spPr>
          <a:xfrm>
            <a:off x="6565392" y="3584448"/>
            <a:ext cx="1316736" cy="438912"/>
          </a:xfrm>
          <a:prstGeom prst="rect">
            <a:avLst/>
          </a:prstGeom>
          <a:noFill/>
          <a:ln/>
        </p:spPr>
        <p:txBody>
          <a:bodyPr wrap="square" lIns="0" tIns="0" rIns="0" bIns="0" rtlCol="0" anchor="t"/>
          <a:lstStyle/>
          <a:p>
            <a:pPr algn="ctr" indent="0" marL="0">
              <a:buNone/>
            </a:pPr>
            <a:r>
              <a:rPr lang="en-US" sz="950" dirty="0">
                <a:solidFill>
                  <a:srgbClr val="5B584C"/>
                </a:solidFill>
                <a:latin typeface="Calibri" pitchFamily="34" charset="0"/>
                <a:ea typeface="Calibri" pitchFamily="34" charset="-122"/>
                <a:cs typeface="Calibri" pitchFamily="34" charset="-120"/>
              </a:rPr>
              <a:t>TPV, facturas, historial</a:t>
            </a:r>
            <a:endParaRPr lang="en-US" sz="950" dirty="0"/>
          </a:p>
        </p:txBody>
      </p:sp>
      <p:sp>
        <p:nvSpPr>
          <p:cNvPr id="13" name="Text 11"/>
          <p:cNvSpPr/>
          <p:nvPr/>
        </p:nvSpPr>
        <p:spPr>
          <a:xfrm>
            <a:off x="7973568" y="3401568"/>
            <a:ext cx="411480" cy="457200"/>
          </a:xfrm>
          <a:prstGeom prst="rect">
            <a:avLst/>
          </a:prstGeom>
          <a:noFill/>
          <a:ln/>
        </p:spPr>
        <p:txBody>
          <a:bodyPr wrap="square" lIns="0" tIns="0" rIns="0" bIns="0" rtlCol="0" anchor="ctr"/>
          <a:lstStyle/>
          <a:p>
            <a:pPr algn="ctr" indent="0" marL="0">
              <a:buNone/>
            </a:pPr>
            <a:r>
              <a:rPr lang="en-US" sz="2000" b="1" dirty="0">
                <a:solidFill>
                  <a:srgbClr val="8B8779"/>
                </a:solidFill>
                <a:latin typeface="Calibri" pitchFamily="34" charset="0"/>
                <a:ea typeface="Calibri" pitchFamily="34" charset="-122"/>
                <a:cs typeface="Calibri" pitchFamily="34" charset="-120"/>
              </a:rPr>
              <a:t>→</a:t>
            </a:r>
            <a:endParaRPr lang="en-US" sz="2000" dirty="0"/>
          </a:p>
        </p:txBody>
      </p:sp>
      <p:sp>
        <p:nvSpPr>
          <p:cNvPr id="14" name="Shape 12"/>
          <p:cNvSpPr/>
          <p:nvPr/>
        </p:nvSpPr>
        <p:spPr>
          <a:xfrm>
            <a:off x="8412480" y="3200400"/>
            <a:ext cx="1463040" cy="868680"/>
          </a:xfrm>
          <a:prstGeom prst="roundRect">
            <a:avLst>
              <a:gd name="adj" fmla="val 5263"/>
            </a:avLst>
          </a:prstGeom>
          <a:solidFill>
            <a:srgbClr val="F2ECDD"/>
          </a:solidFill>
          <a:ln w="12700">
            <a:solidFill>
              <a:srgbClr val="E3DCC9"/>
            </a:solidFill>
            <a:prstDash val="solid"/>
          </a:ln>
        </p:spPr>
      </p:sp>
      <p:sp>
        <p:nvSpPr>
          <p:cNvPr id="15" name="Text 13"/>
          <p:cNvSpPr/>
          <p:nvPr/>
        </p:nvSpPr>
        <p:spPr>
          <a:xfrm>
            <a:off x="8485632" y="3310128"/>
            <a:ext cx="1316736" cy="256032"/>
          </a:xfrm>
          <a:prstGeom prst="rect">
            <a:avLst/>
          </a:prstGeom>
          <a:noFill/>
          <a:ln/>
        </p:spPr>
        <p:txBody>
          <a:bodyPr wrap="square" lIns="0" tIns="0" rIns="0" bIns="0" rtlCol="0" anchor="ctr"/>
          <a:lstStyle/>
          <a:p>
            <a:pPr algn="ctr" indent="0" marL="0">
              <a:buNone/>
            </a:pPr>
            <a:r>
              <a:rPr lang="en-US" sz="1050" b="1" dirty="0">
                <a:solidFill>
                  <a:srgbClr val="26251F"/>
                </a:solidFill>
                <a:latin typeface="Trebuchet MS" pitchFamily="34" charset="0"/>
                <a:ea typeface="Trebuchet MS" pitchFamily="34" charset="-122"/>
                <a:cs typeface="Trebuchet MS" pitchFamily="34" charset="-120"/>
              </a:rPr>
              <a:t>INTERPRETACIÓN</a:t>
            </a:r>
            <a:endParaRPr lang="en-US" sz="1050" dirty="0"/>
          </a:p>
        </p:txBody>
      </p:sp>
      <p:sp>
        <p:nvSpPr>
          <p:cNvPr id="16" name="Text 14"/>
          <p:cNvSpPr/>
          <p:nvPr/>
        </p:nvSpPr>
        <p:spPr>
          <a:xfrm>
            <a:off x="8485632" y="3584448"/>
            <a:ext cx="1316736" cy="438912"/>
          </a:xfrm>
          <a:prstGeom prst="rect">
            <a:avLst/>
          </a:prstGeom>
          <a:noFill/>
          <a:ln/>
        </p:spPr>
        <p:txBody>
          <a:bodyPr wrap="square" lIns="0" tIns="0" rIns="0" bIns="0" rtlCol="0" anchor="t"/>
          <a:lstStyle/>
          <a:p>
            <a:pPr algn="ctr" indent="0" marL="0">
              <a:buNone/>
            </a:pPr>
            <a:r>
              <a:rPr lang="en-US" sz="950" dirty="0">
                <a:solidFill>
                  <a:srgbClr val="5B584C"/>
                </a:solidFill>
                <a:latin typeface="Calibri" pitchFamily="34" charset="0"/>
                <a:ea typeface="Calibri" pitchFamily="34" charset="-122"/>
                <a:cs typeface="Calibri" pitchFamily="34" charset="-120"/>
              </a:rPr>
              <a:t>tiempo, confianza, contexto</a:t>
            </a:r>
            <a:endParaRPr lang="en-US" sz="950" dirty="0"/>
          </a:p>
        </p:txBody>
      </p:sp>
      <p:sp>
        <p:nvSpPr>
          <p:cNvPr id="17" name="Text 15"/>
          <p:cNvSpPr/>
          <p:nvPr/>
        </p:nvSpPr>
        <p:spPr>
          <a:xfrm>
            <a:off x="9893808" y="3401568"/>
            <a:ext cx="411480" cy="457200"/>
          </a:xfrm>
          <a:prstGeom prst="rect">
            <a:avLst/>
          </a:prstGeom>
          <a:noFill/>
          <a:ln/>
        </p:spPr>
        <p:txBody>
          <a:bodyPr wrap="square" lIns="0" tIns="0" rIns="0" bIns="0" rtlCol="0" anchor="ctr"/>
          <a:lstStyle/>
          <a:p>
            <a:pPr algn="ctr" indent="0" marL="0">
              <a:buNone/>
            </a:pPr>
            <a:r>
              <a:rPr lang="en-US" sz="2000" b="1" dirty="0">
                <a:solidFill>
                  <a:srgbClr val="8B8779"/>
                </a:solidFill>
                <a:latin typeface="Calibri" pitchFamily="34" charset="0"/>
                <a:ea typeface="Calibri" pitchFamily="34" charset="-122"/>
                <a:cs typeface="Calibri" pitchFamily="34" charset="-120"/>
              </a:rPr>
              <a:t>→</a:t>
            </a:r>
            <a:endParaRPr lang="en-US" sz="2000" dirty="0"/>
          </a:p>
        </p:txBody>
      </p:sp>
      <p:sp>
        <p:nvSpPr>
          <p:cNvPr id="18" name="Shape 16"/>
          <p:cNvSpPr/>
          <p:nvPr/>
        </p:nvSpPr>
        <p:spPr>
          <a:xfrm>
            <a:off x="10332720" y="3200400"/>
            <a:ext cx="1463040" cy="868680"/>
          </a:xfrm>
          <a:prstGeom prst="roundRect">
            <a:avLst>
              <a:gd name="adj" fmla="val 5263"/>
            </a:avLst>
          </a:prstGeom>
          <a:solidFill>
            <a:srgbClr val="F2ECDD"/>
          </a:solidFill>
          <a:ln w="12700">
            <a:solidFill>
              <a:srgbClr val="E3DCC9"/>
            </a:solidFill>
            <a:prstDash val="solid"/>
          </a:ln>
        </p:spPr>
      </p:sp>
      <p:sp>
        <p:nvSpPr>
          <p:cNvPr id="19" name="Text 17"/>
          <p:cNvSpPr/>
          <p:nvPr/>
        </p:nvSpPr>
        <p:spPr>
          <a:xfrm>
            <a:off x="10405872" y="3310128"/>
            <a:ext cx="1316736" cy="256032"/>
          </a:xfrm>
          <a:prstGeom prst="rect">
            <a:avLst/>
          </a:prstGeom>
          <a:noFill/>
          <a:ln/>
        </p:spPr>
        <p:txBody>
          <a:bodyPr wrap="square" lIns="0" tIns="0" rIns="0" bIns="0" rtlCol="0" anchor="ctr"/>
          <a:lstStyle/>
          <a:p>
            <a:pPr algn="ctr" indent="0" marL="0">
              <a:buNone/>
            </a:pPr>
            <a:r>
              <a:rPr lang="en-US" sz="1050" b="1" dirty="0">
                <a:solidFill>
                  <a:srgbClr val="26251F"/>
                </a:solidFill>
                <a:latin typeface="Trebuchet MS" pitchFamily="34" charset="0"/>
                <a:ea typeface="Trebuchet MS" pitchFamily="34" charset="-122"/>
                <a:cs typeface="Trebuchet MS" pitchFamily="34" charset="-120"/>
              </a:rPr>
              <a:t>ACCIÓN</a:t>
            </a:r>
            <a:endParaRPr lang="en-US" sz="1050" dirty="0"/>
          </a:p>
        </p:txBody>
      </p:sp>
      <p:sp>
        <p:nvSpPr>
          <p:cNvPr id="20" name="Text 18"/>
          <p:cNvSpPr/>
          <p:nvPr/>
        </p:nvSpPr>
        <p:spPr>
          <a:xfrm>
            <a:off x="10405872" y="3584448"/>
            <a:ext cx="1316736" cy="438912"/>
          </a:xfrm>
          <a:prstGeom prst="rect">
            <a:avLst/>
          </a:prstGeom>
          <a:noFill/>
          <a:ln/>
        </p:spPr>
        <p:txBody>
          <a:bodyPr wrap="square" lIns="0" tIns="0" rIns="0" bIns="0" rtlCol="0" anchor="t"/>
          <a:lstStyle/>
          <a:p>
            <a:pPr algn="ctr" indent="0" marL="0">
              <a:buNone/>
            </a:pPr>
            <a:r>
              <a:rPr lang="en-US" sz="950" dirty="0">
                <a:solidFill>
                  <a:srgbClr val="5B584C"/>
                </a:solidFill>
                <a:latin typeface="Calibri" pitchFamily="34" charset="0"/>
                <a:ea typeface="Calibri" pitchFamily="34" charset="-122"/>
                <a:cs typeface="Calibri" pitchFamily="34" charset="-120"/>
              </a:rPr>
              <a:t>reponer, dejar, cambiar</a:t>
            </a:r>
            <a:endParaRPr lang="en-US" sz="950" dirty="0"/>
          </a:p>
        </p:txBody>
      </p:sp>
      <p:sp>
        <p:nvSpPr>
          <p:cNvPr id="21" name="Shape 19"/>
          <p:cNvSpPr/>
          <p:nvPr/>
        </p:nvSpPr>
        <p:spPr>
          <a:xfrm>
            <a:off x="502920" y="6355080"/>
            <a:ext cx="128016" cy="128016"/>
          </a:xfrm>
          <a:prstGeom prst="ellipse">
            <a:avLst/>
          </a:prstGeom>
          <a:solidFill>
            <a:srgbClr val="2E8B4A"/>
          </a:solidFill>
          <a:ln/>
        </p:spPr>
      </p:sp>
      <p:sp>
        <p:nvSpPr>
          <p:cNvPr id="22" name="Shape 20"/>
          <p:cNvSpPr/>
          <p:nvPr/>
        </p:nvSpPr>
        <p:spPr>
          <a:xfrm>
            <a:off x="722376" y="6355080"/>
            <a:ext cx="128016" cy="128016"/>
          </a:xfrm>
          <a:prstGeom prst="ellipse">
            <a:avLst/>
          </a:prstGeom>
          <a:solidFill>
            <a:srgbClr val="3E63A8"/>
          </a:solidFill>
          <a:ln/>
        </p:spPr>
      </p:sp>
      <p:sp>
        <p:nvSpPr>
          <p:cNvPr id="23" name="Shape 21"/>
          <p:cNvSpPr/>
          <p:nvPr/>
        </p:nvSpPr>
        <p:spPr>
          <a:xfrm>
            <a:off x="941832" y="6355080"/>
            <a:ext cx="128016" cy="128016"/>
          </a:xfrm>
          <a:prstGeom prst="ellipse">
            <a:avLst/>
          </a:prstGeom>
          <a:solidFill>
            <a:srgbClr val="C4707E"/>
          </a:solidFill>
          <a:ln/>
        </p:spPr>
      </p:sp>
      <p:sp>
        <p:nvSpPr>
          <p:cNvPr id="24" name="Shape 22"/>
          <p:cNvSpPr/>
          <p:nvPr/>
        </p:nvSpPr>
        <p:spPr>
          <a:xfrm>
            <a:off x="1161288" y="6355080"/>
            <a:ext cx="128016" cy="128016"/>
          </a:xfrm>
          <a:prstGeom prst="ellipse">
            <a:avLst/>
          </a:prstGeom>
          <a:solidFill>
            <a:srgbClr val="0A86A8"/>
          </a:solidFill>
          <a:ln/>
        </p:spPr>
      </p:sp>
      <p:sp>
        <p:nvSpPr>
          <p:cNvPr id="25" name="Shape 23"/>
          <p:cNvSpPr/>
          <p:nvPr/>
        </p:nvSpPr>
        <p:spPr>
          <a:xfrm>
            <a:off x="1380744" y="6355080"/>
            <a:ext cx="128016" cy="128016"/>
          </a:xfrm>
          <a:prstGeom prst="ellipse">
            <a:avLst/>
          </a:prstGeom>
          <a:solidFill>
            <a:srgbClr val="6F8A1A"/>
          </a:solidFill>
          <a:ln/>
        </p:spPr>
      </p:sp>
      <p:sp>
        <p:nvSpPr>
          <p:cNvPr id="26" name="Shape 24"/>
          <p:cNvSpPr/>
          <p:nvPr/>
        </p:nvSpPr>
        <p:spPr>
          <a:xfrm>
            <a:off x="1600200" y="6355080"/>
            <a:ext cx="128016" cy="128016"/>
          </a:xfrm>
          <a:prstGeom prst="ellipse">
            <a:avLst/>
          </a:prstGeom>
          <a:solidFill>
            <a:srgbClr val="C04141"/>
          </a:solidFill>
          <a:ln/>
        </p:spPr>
      </p:sp>
      <p:sp>
        <p:nvSpPr>
          <p:cNvPr id="27" name="Shape 25"/>
          <p:cNvSpPr/>
          <p:nvPr/>
        </p:nvSpPr>
        <p:spPr>
          <a:xfrm>
            <a:off x="1819656" y="6355080"/>
            <a:ext cx="128016" cy="128016"/>
          </a:xfrm>
          <a:prstGeom prst="ellipse">
            <a:avLst/>
          </a:prstGeom>
          <a:solidFill>
            <a:srgbClr val="8A5510"/>
          </a:solidFill>
          <a:ln/>
        </p:spPr>
      </p:sp>
      <p:sp>
        <p:nvSpPr>
          <p:cNvPr id="28" name="Shape 26"/>
          <p:cNvSpPr/>
          <p:nvPr/>
        </p:nvSpPr>
        <p:spPr>
          <a:xfrm>
            <a:off x="2039112" y="6355080"/>
            <a:ext cx="128016" cy="128016"/>
          </a:xfrm>
          <a:prstGeom prst="ellipse">
            <a:avLst/>
          </a:prstGeom>
          <a:solidFill>
            <a:srgbClr val="A1770A"/>
          </a:solidFill>
          <a:ln/>
        </p:spPr>
      </p:sp>
      <p:sp>
        <p:nvSpPr>
          <p:cNvPr id="29" name="Text 27"/>
          <p:cNvSpPr/>
          <p:nvPr/>
        </p:nvSpPr>
        <p:spPr>
          <a:xfrm>
            <a:off x="8485632" y="6291072"/>
            <a:ext cx="3200400" cy="274320"/>
          </a:xfrm>
          <a:prstGeom prst="rect">
            <a:avLst/>
          </a:prstGeom>
          <a:noFill/>
          <a:ln/>
        </p:spPr>
        <p:txBody>
          <a:bodyPr wrap="square" lIns="0" tIns="0" rIns="0" bIns="0" rtlCol="0" anchor="ctr"/>
          <a:lstStyle/>
          <a:p>
            <a:pPr algn="r" indent="0" marL="0">
              <a:buNone/>
            </a:pPr>
            <a:r>
              <a:rPr lang="en-US" sz="900" dirty="0">
                <a:solidFill>
                  <a:srgbClr val="8B8779"/>
                </a:solidFill>
                <a:latin typeface="Calibri" pitchFamily="34" charset="0"/>
                <a:ea typeface="Calibri" pitchFamily="34" charset="-122"/>
                <a:cs typeface="Calibri" pitchFamily="34" charset="-120"/>
              </a:rPr>
              <a:t>A pie de mostrador · n=8 · Julio 2026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02920" y="256032"/>
            <a:ext cx="5486400" cy="320040"/>
          </a:xfrm>
          <a:prstGeom prst="rect">
            <a:avLst/>
          </a:prstGeom>
          <a:noFill/>
          <a:ln/>
        </p:spPr>
        <p:txBody>
          <a:bodyPr wrap="square" lIns="0" tIns="0" rIns="0" bIns="0" rtlCol="0" anchor="ctr"/>
          <a:lstStyle/>
          <a:p>
            <a:pPr indent="0" marL="0">
              <a:buNone/>
            </a:pPr>
            <a:r>
              <a:rPr lang="en-US" sz="12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200" dirty="0">
                <a:solidFill>
                  <a:srgbClr val="8B8779"/>
                </a:solidFill>
                <a:latin typeface="Trebuchet MS" pitchFamily="34" charset="0"/>
                <a:ea typeface="Trebuchet MS" pitchFamily="34" charset="-122"/>
                <a:cs typeface="Trebuchet MS" pitchFamily="34" charset="-120"/>
              </a:rPr>
              <a:t>  ·  primer vistazo</a:t>
            </a:r>
            <a:endParaRPr lang="en-US" sz="1200" dirty="0"/>
          </a:p>
        </p:txBody>
      </p:sp>
      <p:sp>
        <p:nvSpPr>
          <p:cNvPr id="3" name="Text 1"/>
          <p:cNvSpPr/>
          <p:nvPr/>
        </p:nvSpPr>
        <p:spPr>
          <a:xfrm>
            <a:off x="502920" y="868680"/>
            <a:ext cx="2743200" cy="320040"/>
          </a:xfrm>
          <a:prstGeom prst="rect">
            <a:avLst/>
          </a:prstGeom>
          <a:noFill/>
          <a:ln/>
        </p:spPr>
        <p:txBody>
          <a:bodyPr wrap="square" lIns="0" tIns="0" rIns="0" bIns="0" rtlCol="0" anchor="ctr"/>
          <a:lstStyle/>
          <a:p>
            <a:pPr indent="0" marL="0">
              <a:buNone/>
            </a:pPr>
            <a:r>
              <a:rPr lang="en-US" sz="1300" b="1" spc="200" kern="0" dirty="0">
                <a:solidFill>
                  <a:srgbClr val="8A5510"/>
                </a:solidFill>
                <a:latin typeface="Trebuchet MS" pitchFamily="34" charset="0"/>
                <a:ea typeface="Trebuchet MS" pitchFamily="34" charset="-122"/>
                <a:cs typeface="Trebuchet MS" pitchFamily="34" charset="-120"/>
              </a:rPr>
              <a:t>SEÑAL 03</a:t>
            </a:r>
            <a:endParaRPr lang="en-US" sz="1300" dirty="0"/>
          </a:p>
        </p:txBody>
      </p:sp>
      <p:sp>
        <p:nvSpPr>
          <p:cNvPr id="4" name="Text 2"/>
          <p:cNvSpPr/>
          <p:nvPr/>
        </p:nvSpPr>
        <p:spPr>
          <a:xfrm>
            <a:off x="502920" y="1234440"/>
            <a:ext cx="5577840" cy="1554480"/>
          </a:xfrm>
          <a:prstGeom prst="rect">
            <a:avLst/>
          </a:prstGeom>
          <a:noFill/>
          <a:ln/>
        </p:spPr>
        <p:txBody>
          <a:bodyPr wrap="square" lIns="0" tIns="0" rIns="0" bIns="0" rtlCol="0" anchor="t"/>
          <a:lstStyle/>
          <a:p>
            <a:pPr indent="0" marL="0">
              <a:lnSpc>
                <a:spcPct val="102000"/>
              </a:lnSpc>
              <a:buNone/>
            </a:pPr>
            <a:r>
              <a:rPr lang="en-US" sz="3000" b="1" dirty="0">
                <a:solidFill>
                  <a:srgbClr val="26251F"/>
                </a:solidFill>
                <a:latin typeface="Trebuchet MS" pitchFamily="34" charset="0"/>
                <a:ea typeface="Trebuchet MS" pitchFamily="34" charset="-122"/>
                <a:cs typeface="Trebuchet MS" pitchFamily="34" charset="-120"/>
              </a:rPr>
              <a:t>A tus proveedores los persigues tú</a:t>
            </a:r>
            <a:endParaRPr lang="en-US" sz="3000" dirty="0"/>
          </a:p>
        </p:txBody>
      </p:sp>
      <p:sp>
        <p:nvSpPr>
          <p:cNvPr id="5" name="Text 3"/>
          <p:cNvSpPr/>
          <p:nvPr/>
        </p:nvSpPr>
        <p:spPr>
          <a:xfrm>
            <a:off x="502920" y="2880360"/>
            <a:ext cx="5394960" cy="2377440"/>
          </a:xfrm>
          <a:prstGeom prst="rect">
            <a:avLst/>
          </a:prstGeom>
          <a:noFill/>
          <a:ln/>
        </p:spPr>
        <p:txBody>
          <a:bodyPr wrap="square" lIns="0" tIns="0" rIns="0" bIns="0" rtlCol="0" anchor="t"/>
          <a:lstStyle/>
          <a:p>
            <a:pPr indent="0" marL="0">
              <a:lnSpc>
                <a:spcPct val="115000"/>
              </a:lnSpc>
              <a:buNone/>
            </a:pPr>
            <a:r>
              <a:rPr lang="en-US" sz="1500" dirty="0">
                <a:solidFill>
                  <a:srgbClr val="5B584C"/>
                </a:solidFill>
                <a:latin typeface="Calibri" pitchFamily="34" charset="0"/>
                <a:ea typeface="Calibri" pitchFamily="34" charset="-122"/>
                <a:cs typeface="Calibri" pitchFamily="34" charset="-120"/>
              </a:rPr>
              <a:t>Pedidos por WhatsApp, facturas que se revisan línea a línea (o no se revisan), precios que cambian sin aviso, inventario «a ojo». Cada tienda lo sufre por un canal distinto, pero la sensación es la misma: la visibilidad la pones tú, a pulso.</a:t>
            </a:r>
            <a:endParaRPr lang="en-US" sz="1500" dirty="0"/>
          </a:p>
        </p:txBody>
      </p:sp>
      <p:sp>
        <p:nvSpPr>
          <p:cNvPr id="6" name="Shape 4"/>
          <p:cNvSpPr/>
          <p:nvPr/>
        </p:nvSpPr>
        <p:spPr>
          <a:xfrm>
            <a:off x="6492240" y="1234440"/>
            <a:ext cx="5120640" cy="1069848"/>
          </a:xfrm>
          <a:prstGeom prst="roundRect">
            <a:avLst>
              <a:gd name="adj" fmla="val 3419"/>
            </a:avLst>
          </a:prstGeom>
          <a:solidFill>
            <a:srgbClr val="FFFFFF"/>
          </a:solidFill>
          <a:ln w="12700">
            <a:solidFill>
              <a:srgbClr val="E3DCC9"/>
            </a:solidFill>
            <a:prstDash val="solid"/>
          </a:ln>
          <a:effectLst>
            <a:outerShdw sx="100000" sy="100000" kx="0" ky="0" algn="bl" rotWithShape="0" blurRad="76200" dist="25400" dir="5400000">
              <a:srgbClr val="5A5037">
                <a:alpha val="18000"/>
              </a:srgbClr>
            </a:outerShdw>
          </a:effectLst>
        </p:spPr>
      </p:sp>
      <p:sp>
        <p:nvSpPr>
          <p:cNvPr id="7" name="Text 5"/>
          <p:cNvSpPr/>
          <p:nvPr/>
        </p:nvSpPr>
        <p:spPr>
          <a:xfrm>
            <a:off x="6656832" y="1325880"/>
            <a:ext cx="4791456" cy="612648"/>
          </a:xfrm>
          <a:prstGeom prst="rect">
            <a:avLst/>
          </a:prstGeom>
          <a:noFill/>
          <a:ln/>
        </p:spPr>
        <p:txBody>
          <a:bodyPr wrap="square" lIns="0" tIns="0" rIns="0" bIns="0" rtlCol="0" anchor="t"/>
          <a:lstStyle/>
          <a:p>
            <a:pPr indent="0" marL="0">
              <a:buNone/>
            </a:pPr>
            <a:r>
              <a:rPr lang="en-US" sz="1300" i="1" dirty="0">
                <a:solidFill>
                  <a:srgbClr val="26251F"/>
                </a:solidFill>
                <a:latin typeface="Calibri" pitchFamily="34" charset="0"/>
                <a:ea typeface="Calibri" pitchFamily="34" charset="-122"/>
                <a:cs typeface="Calibri" pitchFamily="34" charset="-120"/>
              </a:rPr>
              <a:t>«Yo me entero seis meses después que me cambiaron el precio de la leche, yo la guardo, la paso y la pago.»</a:t>
            </a:r>
            <a:endParaRPr lang="en-US" sz="1300" dirty="0"/>
          </a:p>
        </p:txBody>
      </p:sp>
      <p:sp>
        <p:nvSpPr>
          <p:cNvPr id="8" name="Shape 6"/>
          <p:cNvSpPr/>
          <p:nvPr/>
        </p:nvSpPr>
        <p:spPr>
          <a:xfrm>
            <a:off x="6656832" y="2011680"/>
            <a:ext cx="109728" cy="109728"/>
          </a:xfrm>
          <a:prstGeom prst="ellipse">
            <a:avLst/>
          </a:prstGeom>
          <a:solidFill>
            <a:srgbClr val="8A5510"/>
          </a:solidFill>
          <a:ln/>
        </p:spPr>
      </p:sp>
      <p:sp>
        <p:nvSpPr>
          <p:cNvPr id="9" name="Text 7"/>
          <p:cNvSpPr/>
          <p:nvPr/>
        </p:nvSpPr>
        <p:spPr>
          <a:xfrm>
            <a:off x="6839712" y="1938528"/>
            <a:ext cx="4608576" cy="256032"/>
          </a:xfrm>
          <a:prstGeom prst="rect">
            <a:avLst/>
          </a:prstGeom>
          <a:noFill/>
          <a:ln/>
        </p:spPr>
        <p:txBody>
          <a:bodyPr wrap="square" lIns="0" tIns="0" rIns="0" bIns="0" rtlCol="0" anchor="ctr"/>
          <a:lstStyle/>
          <a:p>
            <a:pPr indent="0" marL="0">
              <a:buNone/>
            </a:pPr>
            <a:r>
              <a:rPr lang="en-US" sz="850" spc="150" kern="0" dirty="0">
                <a:solidFill>
                  <a:srgbClr val="8B8779"/>
                </a:solidFill>
                <a:latin typeface="Calibri" pitchFamily="34" charset="0"/>
                <a:ea typeface="Calibri" pitchFamily="34" charset="-122"/>
                <a:cs typeface="Calibri" pitchFamily="34" charset="-120"/>
              </a:rPr>
              <a:t>PROPIETARIA · HOSTELERÍA, CITANDO A UNA COLEGA</a:t>
            </a:r>
            <a:endParaRPr lang="en-US" sz="850" dirty="0"/>
          </a:p>
        </p:txBody>
      </p:sp>
      <p:sp>
        <p:nvSpPr>
          <p:cNvPr id="10" name="Shape 8"/>
          <p:cNvSpPr/>
          <p:nvPr/>
        </p:nvSpPr>
        <p:spPr>
          <a:xfrm>
            <a:off x="6492240" y="2578608"/>
            <a:ext cx="5120640" cy="1307592"/>
          </a:xfrm>
          <a:prstGeom prst="roundRect">
            <a:avLst>
              <a:gd name="adj" fmla="val 2797"/>
            </a:avLst>
          </a:prstGeom>
          <a:solidFill>
            <a:srgbClr val="FFFFFF"/>
          </a:solidFill>
          <a:ln w="12700">
            <a:solidFill>
              <a:srgbClr val="E3DCC9"/>
            </a:solidFill>
            <a:prstDash val="solid"/>
          </a:ln>
          <a:effectLst>
            <a:outerShdw sx="100000" sy="100000" kx="0" ky="0" algn="bl" rotWithShape="0" blurRad="76200" dist="25400" dir="5400000">
              <a:srgbClr val="5A5037">
                <a:alpha val="18000"/>
              </a:srgbClr>
            </a:outerShdw>
          </a:effectLst>
        </p:spPr>
      </p:sp>
      <p:sp>
        <p:nvSpPr>
          <p:cNvPr id="11" name="Text 9"/>
          <p:cNvSpPr/>
          <p:nvPr/>
        </p:nvSpPr>
        <p:spPr>
          <a:xfrm>
            <a:off x="6656832" y="2670048"/>
            <a:ext cx="4791456" cy="850392"/>
          </a:xfrm>
          <a:prstGeom prst="rect">
            <a:avLst/>
          </a:prstGeom>
          <a:noFill/>
          <a:ln/>
        </p:spPr>
        <p:txBody>
          <a:bodyPr wrap="square" lIns="0" tIns="0" rIns="0" bIns="0" rtlCol="0" anchor="t"/>
          <a:lstStyle/>
          <a:p>
            <a:pPr indent="0" marL="0">
              <a:buNone/>
            </a:pPr>
            <a:r>
              <a:rPr lang="en-US" sz="1300" i="1" dirty="0">
                <a:solidFill>
                  <a:srgbClr val="26251F"/>
                </a:solidFill>
                <a:latin typeface="Calibri" pitchFamily="34" charset="0"/>
                <a:ea typeface="Calibri" pitchFamily="34" charset="-122"/>
                <a:cs typeface="Calibri" pitchFamily="34" charset="-120"/>
              </a:rPr>
              <a:t>«A día de hoy tampoco tenemos un inventario... tampoco estamos en la capacidad de decirte cuál es nuestra ganancia por producto.»</a:t>
            </a:r>
            <a:endParaRPr lang="en-US" sz="1300" dirty="0"/>
          </a:p>
        </p:txBody>
      </p:sp>
      <p:sp>
        <p:nvSpPr>
          <p:cNvPr id="12" name="Shape 10"/>
          <p:cNvSpPr/>
          <p:nvPr/>
        </p:nvSpPr>
        <p:spPr>
          <a:xfrm>
            <a:off x="6656832" y="3593592"/>
            <a:ext cx="109728" cy="109728"/>
          </a:xfrm>
          <a:prstGeom prst="ellipse">
            <a:avLst/>
          </a:prstGeom>
          <a:solidFill>
            <a:srgbClr val="6F8A1A"/>
          </a:solidFill>
          <a:ln/>
        </p:spPr>
      </p:sp>
      <p:sp>
        <p:nvSpPr>
          <p:cNvPr id="13" name="Text 11"/>
          <p:cNvSpPr/>
          <p:nvPr/>
        </p:nvSpPr>
        <p:spPr>
          <a:xfrm>
            <a:off x="6839712" y="3520440"/>
            <a:ext cx="4608576" cy="256032"/>
          </a:xfrm>
          <a:prstGeom prst="rect">
            <a:avLst/>
          </a:prstGeom>
          <a:noFill/>
          <a:ln/>
        </p:spPr>
        <p:txBody>
          <a:bodyPr wrap="square" lIns="0" tIns="0" rIns="0" bIns="0" rtlCol="0" anchor="ctr"/>
          <a:lstStyle/>
          <a:p>
            <a:pPr indent="0" marL="0">
              <a:buNone/>
            </a:pPr>
            <a:r>
              <a:rPr lang="en-US" sz="850" spc="150" kern="0" dirty="0">
                <a:solidFill>
                  <a:srgbClr val="8B8779"/>
                </a:solidFill>
                <a:latin typeface="Calibri" pitchFamily="34" charset="0"/>
                <a:ea typeface="Calibri" pitchFamily="34" charset="-122"/>
                <a:cs typeface="Calibri" pitchFamily="34" charset="-120"/>
              </a:rPr>
              <a:t>PROPIETARIO · TIENDA A GRANEL</a:t>
            </a:r>
            <a:endParaRPr lang="en-US" sz="850" dirty="0"/>
          </a:p>
        </p:txBody>
      </p:sp>
      <p:sp>
        <p:nvSpPr>
          <p:cNvPr id="14" name="Shape 12"/>
          <p:cNvSpPr/>
          <p:nvPr/>
        </p:nvSpPr>
        <p:spPr>
          <a:xfrm>
            <a:off x="502920" y="6355080"/>
            <a:ext cx="128016" cy="128016"/>
          </a:xfrm>
          <a:prstGeom prst="ellipse">
            <a:avLst/>
          </a:prstGeom>
          <a:solidFill>
            <a:srgbClr val="2E8B4A"/>
          </a:solidFill>
          <a:ln/>
        </p:spPr>
      </p:sp>
      <p:sp>
        <p:nvSpPr>
          <p:cNvPr id="15" name="Shape 13"/>
          <p:cNvSpPr/>
          <p:nvPr/>
        </p:nvSpPr>
        <p:spPr>
          <a:xfrm>
            <a:off x="722376" y="6355080"/>
            <a:ext cx="128016" cy="128016"/>
          </a:xfrm>
          <a:prstGeom prst="ellipse">
            <a:avLst/>
          </a:prstGeom>
          <a:solidFill>
            <a:srgbClr val="3E63A8"/>
          </a:solidFill>
          <a:ln/>
        </p:spPr>
      </p:sp>
      <p:sp>
        <p:nvSpPr>
          <p:cNvPr id="16" name="Shape 14"/>
          <p:cNvSpPr/>
          <p:nvPr/>
        </p:nvSpPr>
        <p:spPr>
          <a:xfrm>
            <a:off x="941832" y="6355080"/>
            <a:ext cx="128016" cy="128016"/>
          </a:xfrm>
          <a:prstGeom prst="ellipse">
            <a:avLst/>
          </a:prstGeom>
          <a:solidFill>
            <a:srgbClr val="C4707E"/>
          </a:solidFill>
          <a:ln/>
        </p:spPr>
      </p:sp>
      <p:sp>
        <p:nvSpPr>
          <p:cNvPr id="17" name="Shape 15"/>
          <p:cNvSpPr/>
          <p:nvPr/>
        </p:nvSpPr>
        <p:spPr>
          <a:xfrm>
            <a:off x="1161288" y="6355080"/>
            <a:ext cx="128016" cy="128016"/>
          </a:xfrm>
          <a:prstGeom prst="ellipse">
            <a:avLst/>
          </a:prstGeom>
          <a:solidFill>
            <a:srgbClr val="0A86A8"/>
          </a:solidFill>
          <a:ln/>
        </p:spPr>
      </p:sp>
      <p:sp>
        <p:nvSpPr>
          <p:cNvPr id="18" name="Shape 16"/>
          <p:cNvSpPr/>
          <p:nvPr/>
        </p:nvSpPr>
        <p:spPr>
          <a:xfrm>
            <a:off x="1380744" y="6355080"/>
            <a:ext cx="128016" cy="128016"/>
          </a:xfrm>
          <a:prstGeom prst="ellipse">
            <a:avLst/>
          </a:prstGeom>
          <a:solidFill>
            <a:srgbClr val="6F8A1A"/>
          </a:solidFill>
          <a:ln/>
        </p:spPr>
      </p:sp>
      <p:sp>
        <p:nvSpPr>
          <p:cNvPr id="19" name="Shape 17"/>
          <p:cNvSpPr/>
          <p:nvPr/>
        </p:nvSpPr>
        <p:spPr>
          <a:xfrm>
            <a:off x="1600200" y="6355080"/>
            <a:ext cx="128016" cy="128016"/>
          </a:xfrm>
          <a:prstGeom prst="ellipse">
            <a:avLst/>
          </a:prstGeom>
          <a:solidFill>
            <a:srgbClr val="C04141"/>
          </a:solidFill>
          <a:ln/>
        </p:spPr>
      </p:sp>
      <p:sp>
        <p:nvSpPr>
          <p:cNvPr id="20" name="Shape 18"/>
          <p:cNvSpPr/>
          <p:nvPr/>
        </p:nvSpPr>
        <p:spPr>
          <a:xfrm>
            <a:off x="1819656" y="6355080"/>
            <a:ext cx="128016" cy="128016"/>
          </a:xfrm>
          <a:prstGeom prst="ellipse">
            <a:avLst/>
          </a:prstGeom>
          <a:solidFill>
            <a:srgbClr val="8A5510"/>
          </a:solidFill>
          <a:ln/>
        </p:spPr>
      </p:sp>
      <p:sp>
        <p:nvSpPr>
          <p:cNvPr id="21" name="Shape 19"/>
          <p:cNvSpPr/>
          <p:nvPr/>
        </p:nvSpPr>
        <p:spPr>
          <a:xfrm>
            <a:off x="2039112" y="6355080"/>
            <a:ext cx="128016" cy="128016"/>
          </a:xfrm>
          <a:prstGeom prst="ellipse">
            <a:avLst/>
          </a:prstGeom>
          <a:solidFill>
            <a:srgbClr val="A1770A"/>
          </a:solidFill>
          <a:ln/>
        </p:spPr>
      </p:sp>
      <p:sp>
        <p:nvSpPr>
          <p:cNvPr id="22" name="Text 20"/>
          <p:cNvSpPr/>
          <p:nvPr/>
        </p:nvSpPr>
        <p:spPr>
          <a:xfrm>
            <a:off x="8485632" y="6291072"/>
            <a:ext cx="3200400" cy="274320"/>
          </a:xfrm>
          <a:prstGeom prst="rect">
            <a:avLst/>
          </a:prstGeom>
          <a:noFill/>
          <a:ln/>
        </p:spPr>
        <p:txBody>
          <a:bodyPr wrap="square" lIns="0" tIns="0" rIns="0" bIns="0" rtlCol="0" anchor="ctr"/>
          <a:lstStyle/>
          <a:p>
            <a:pPr algn="r" indent="0" marL="0">
              <a:buNone/>
            </a:pPr>
            <a:r>
              <a:rPr lang="en-US" sz="900" dirty="0">
                <a:solidFill>
                  <a:srgbClr val="8B8779"/>
                </a:solidFill>
                <a:latin typeface="Calibri" pitchFamily="34" charset="0"/>
                <a:ea typeface="Calibri" pitchFamily="34" charset="-122"/>
                <a:cs typeface="Calibri" pitchFamily="34" charset="-120"/>
              </a:rPr>
              <a:t>A pie de mostrador · n=8 · Julio 2026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02920" y="256032"/>
            <a:ext cx="5486400" cy="320040"/>
          </a:xfrm>
          <a:prstGeom prst="rect">
            <a:avLst/>
          </a:prstGeom>
          <a:noFill/>
          <a:ln/>
        </p:spPr>
        <p:txBody>
          <a:bodyPr wrap="square" lIns="0" tIns="0" rIns="0" bIns="0" rtlCol="0" anchor="ctr"/>
          <a:lstStyle/>
          <a:p>
            <a:pPr indent="0" marL="0">
              <a:buNone/>
            </a:pPr>
            <a:r>
              <a:rPr lang="en-US" sz="12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200" dirty="0">
                <a:solidFill>
                  <a:srgbClr val="8B8779"/>
                </a:solidFill>
                <a:latin typeface="Trebuchet MS" pitchFamily="34" charset="0"/>
                <a:ea typeface="Trebuchet MS" pitchFamily="34" charset="-122"/>
                <a:cs typeface="Trebuchet MS" pitchFamily="34" charset="-120"/>
              </a:rPr>
              <a:t>  ·  primer vistazo</a:t>
            </a:r>
            <a:endParaRPr lang="en-US" sz="1200" dirty="0"/>
          </a:p>
        </p:txBody>
      </p:sp>
      <p:sp>
        <p:nvSpPr>
          <p:cNvPr id="3" name="Text 1"/>
          <p:cNvSpPr/>
          <p:nvPr/>
        </p:nvSpPr>
        <p:spPr>
          <a:xfrm>
            <a:off x="502920" y="868680"/>
            <a:ext cx="2743200" cy="320040"/>
          </a:xfrm>
          <a:prstGeom prst="rect">
            <a:avLst/>
          </a:prstGeom>
          <a:noFill/>
          <a:ln/>
        </p:spPr>
        <p:txBody>
          <a:bodyPr wrap="square" lIns="0" tIns="0" rIns="0" bIns="0" rtlCol="0" anchor="ctr"/>
          <a:lstStyle/>
          <a:p>
            <a:pPr indent="0" marL="0">
              <a:buNone/>
            </a:pPr>
            <a:r>
              <a:rPr lang="en-US" sz="1300" b="1" spc="200" kern="0" dirty="0">
                <a:solidFill>
                  <a:srgbClr val="3E63A8"/>
                </a:solidFill>
                <a:latin typeface="Trebuchet MS" pitchFamily="34" charset="0"/>
                <a:ea typeface="Trebuchet MS" pitchFamily="34" charset="-122"/>
                <a:cs typeface="Trebuchet MS" pitchFamily="34" charset="-120"/>
              </a:rPr>
              <a:t>SEÑAL 04</a:t>
            </a:r>
            <a:endParaRPr lang="en-US" sz="1300" dirty="0"/>
          </a:p>
        </p:txBody>
      </p:sp>
      <p:sp>
        <p:nvSpPr>
          <p:cNvPr id="4" name="Text 2"/>
          <p:cNvSpPr/>
          <p:nvPr/>
        </p:nvSpPr>
        <p:spPr>
          <a:xfrm>
            <a:off x="502920" y="1234440"/>
            <a:ext cx="5577840" cy="1554480"/>
          </a:xfrm>
          <a:prstGeom prst="rect">
            <a:avLst/>
          </a:prstGeom>
          <a:noFill/>
          <a:ln/>
        </p:spPr>
        <p:txBody>
          <a:bodyPr wrap="square" lIns="0" tIns="0" rIns="0" bIns="0" rtlCol="0" anchor="t"/>
          <a:lstStyle/>
          <a:p>
            <a:pPr indent="0" marL="0">
              <a:lnSpc>
                <a:spcPct val="102000"/>
              </a:lnSpc>
              <a:buNone/>
            </a:pPr>
            <a:r>
              <a:rPr lang="en-US" sz="3000" b="1" dirty="0">
                <a:solidFill>
                  <a:srgbClr val="26251F"/>
                </a:solidFill>
                <a:latin typeface="Trebuchet MS" pitchFamily="34" charset="0"/>
                <a:ea typeface="Trebuchet MS" pitchFamily="34" charset="-122"/>
                <a:cs typeface="Trebuchet MS" pitchFamily="34" charset="-120"/>
              </a:rPr>
              <a:t>Tu clientela vuelve por ti. Y eso también te ata</a:t>
            </a:r>
            <a:endParaRPr lang="en-US" sz="3000" dirty="0"/>
          </a:p>
        </p:txBody>
      </p:sp>
      <p:sp>
        <p:nvSpPr>
          <p:cNvPr id="5" name="Text 3"/>
          <p:cNvSpPr/>
          <p:nvPr/>
        </p:nvSpPr>
        <p:spPr>
          <a:xfrm>
            <a:off x="502920" y="2880360"/>
            <a:ext cx="5394960" cy="2377440"/>
          </a:xfrm>
          <a:prstGeom prst="rect">
            <a:avLst/>
          </a:prstGeom>
          <a:noFill/>
          <a:ln/>
        </p:spPr>
        <p:txBody>
          <a:bodyPr wrap="square" lIns="0" tIns="0" rIns="0" bIns="0" rtlCol="0" anchor="t"/>
          <a:lstStyle/>
          <a:p>
            <a:pPr indent="0" marL="0">
              <a:lnSpc>
                <a:spcPct val="115000"/>
              </a:lnSpc>
              <a:buNone/>
            </a:pPr>
            <a:r>
              <a:rPr lang="en-US" sz="1500" dirty="0">
                <a:solidFill>
                  <a:srgbClr val="5B584C"/>
                </a:solidFill>
                <a:latin typeface="Calibri" pitchFamily="34" charset="0"/>
                <a:ea typeface="Calibri" pitchFamily="34" charset="-122"/>
                <a:cs typeface="Calibri" pitchFamily="34" charset="-120"/>
              </a:rPr>
              <a:t>La confianza y el trato personal son la ventaja frente a cualquier gigante: nadie te compite en conocer a tu gente. Pero esa misma fuerza te encadena al mostrador. Si el negocio eres tú, no puedes enfermarte, ni mudarte, ni abrir una segunda tienda sin clonarte.</a:t>
            </a:r>
            <a:endParaRPr lang="en-US" sz="1500" dirty="0"/>
          </a:p>
        </p:txBody>
      </p:sp>
      <p:sp>
        <p:nvSpPr>
          <p:cNvPr id="6" name="Shape 4"/>
          <p:cNvSpPr/>
          <p:nvPr/>
        </p:nvSpPr>
        <p:spPr>
          <a:xfrm>
            <a:off x="6492240" y="1234440"/>
            <a:ext cx="5120640" cy="1069848"/>
          </a:xfrm>
          <a:prstGeom prst="roundRect">
            <a:avLst>
              <a:gd name="adj" fmla="val 3419"/>
            </a:avLst>
          </a:prstGeom>
          <a:solidFill>
            <a:srgbClr val="FFFFFF"/>
          </a:solidFill>
          <a:ln w="12700">
            <a:solidFill>
              <a:srgbClr val="E3DCC9"/>
            </a:solidFill>
            <a:prstDash val="solid"/>
          </a:ln>
          <a:effectLst>
            <a:outerShdw sx="100000" sy="100000" kx="0" ky="0" algn="bl" rotWithShape="0" blurRad="76200" dist="25400" dir="5400000">
              <a:srgbClr val="5A5037">
                <a:alpha val="18000"/>
              </a:srgbClr>
            </a:outerShdw>
          </a:effectLst>
        </p:spPr>
      </p:sp>
      <p:sp>
        <p:nvSpPr>
          <p:cNvPr id="7" name="Text 5"/>
          <p:cNvSpPr/>
          <p:nvPr/>
        </p:nvSpPr>
        <p:spPr>
          <a:xfrm>
            <a:off x="6656832" y="1325880"/>
            <a:ext cx="4791456" cy="612648"/>
          </a:xfrm>
          <a:prstGeom prst="rect">
            <a:avLst/>
          </a:prstGeom>
          <a:noFill/>
          <a:ln/>
        </p:spPr>
        <p:txBody>
          <a:bodyPr wrap="square" lIns="0" tIns="0" rIns="0" bIns="0" rtlCol="0" anchor="t"/>
          <a:lstStyle/>
          <a:p>
            <a:pPr indent="0" marL="0">
              <a:buNone/>
            </a:pPr>
            <a:r>
              <a:rPr lang="en-US" sz="1300" i="1" dirty="0">
                <a:solidFill>
                  <a:srgbClr val="26251F"/>
                </a:solidFill>
                <a:latin typeface="Calibri" pitchFamily="34" charset="0"/>
                <a:ea typeface="Calibri" pitchFamily="34" charset="-122"/>
                <a:cs typeface="Calibri" pitchFamily="34" charset="-120"/>
              </a:rPr>
              <a:t>«Lo que les gusta a la gente de algo local es que pueden hablar contigo y conocerte un poquito.»</a:t>
            </a:r>
            <a:endParaRPr lang="en-US" sz="1300" dirty="0"/>
          </a:p>
        </p:txBody>
      </p:sp>
      <p:sp>
        <p:nvSpPr>
          <p:cNvPr id="8" name="Shape 6"/>
          <p:cNvSpPr/>
          <p:nvPr/>
        </p:nvSpPr>
        <p:spPr>
          <a:xfrm>
            <a:off x="6656832" y="2011680"/>
            <a:ext cx="109728" cy="109728"/>
          </a:xfrm>
          <a:prstGeom prst="ellipse">
            <a:avLst/>
          </a:prstGeom>
          <a:solidFill>
            <a:srgbClr val="3E63A8"/>
          </a:solidFill>
          <a:ln/>
        </p:spPr>
      </p:sp>
      <p:sp>
        <p:nvSpPr>
          <p:cNvPr id="9" name="Text 7"/>
          <p:cNvSpPr/>
          <p:nvPr/>
        </p:nvSpPr>
        <p:spPr>
          <a:xfrm>
            <a:off x="6839712" y="1938528"/>
            <a:ext cx="4608576" cy="256032"/>
          </a:xfrm>
          <a:prstGeom prst="rect">
            <a:avLst/>
          </a:prstGeom>
          <a:noFill/>
          <a:ln/>
        </p:spPr>
        <p:txBody>
          <a:bodyPr wrap="square" lIns="0" tIns="0" rIns="0" bIns="0" rtlCol="0" anchor="ctr"/>
          <a:lstStyle/>
          <a:p>
            <a:pPr indent="0" marL="0">
              <a:buNone/>
            </a:pPr>
            <a:r>
              <a:rPr lang="en-US" sz="850" spc="150" kern="0" dirty="0">
                <a:solidFill>
                  <a:srgbClr val="8B8779"/>
                </a:solidFill>
                <a:latin typeface="Calibri" pitchFamily="34" charset="0"/>
                <a:ea typeface="Calibri" pitchFamily="34" charset="-122"/>
                <a:cs typeface="Calibri" pitchFamily="34" charset="-120"/>
              </a:rPr>
              <a:t>MODISTA · TALLER DE CONFECCIÓN</a:t>
            </a:r>
            <a:endParaRPr lang="en-US" sz="850" dirty="0"/>
          </a:p>
        </p:txBody>
      </p:sp>
      <p:sp>
        <p:nvSpPr>
          <p:cNvPr id="10" name="Shape 8"/>
          <p:cNvSpPr/>
          <p:nvPr/>
        </p:nvSpPr>
        <p:spPr>
          <a:xfrm>
            <a:off x="6492240" y="2578608"/>
            <a:ext cx="5120640" cy="1069848"/>
          </a:xfrm>
          <a:prstGeom prst="roundRect">
            <a:avLst>
              <a:gd name="adj" fmla="val 3419"/>
            </a:avLst>
          </a:prstGeom>
          <a:solidFill>
            <a:srgbClr val="FFFFFF"/>
          </a:solidFill>
          <a:ln w="12700">
            <a:solidFill>
              <a:srgbClr val="E3DCC9"/>
            </a:solidFill>
            <a:prstDash val="solid"/>
          </a:ln>
          <a:effectLst>
            <a:outerShdw sx="100000" sy="100000" kx="0" ky="0" algn="bl" rotWithShape="0" blurRad="76200" dist="25400" dir="5400000">
              <a:srgbClr val="5A5037">
                <a:alpha val="18000"/>
              </a:srgbClr>
            </a:outerShdw>
          </a:effectLst>
        </p:spPr>
      </p:sp>
      <p:sp>
        <p:nvSpPr>
          <p:cNvPr id="11" name="Text 9"/>
          <p:cNvSpPr/>
          <p:nvPr/>
        </p:nvSpPr>
        <p:spPr>
          <a:xfrm>
            <a:off x="6656832" y="2670048"/>
            <a:ext cx="4791456" cy="612648"/>
          </a:xfrm>
          <a:prstGeom prst="rect">
            <a:avLst/>
          </a:prstGeom>
          <a:noFill/>
          <a:ln/>
        </p:spPr>
        <p:txBody>
          <a:bodyPr wrap="square" lIns="0" tIns="0" rIns="0" bIns="0" rtlCol="0" anchor="t"/>
          <a:lstStyle/>
          <a:p>
            <a:pPr indent="0" marL="0">
              <a:buNone/>
            </a:pPr>
            <a:r>
              <a:rPr lang="en-US" sz="1300" i="1" dirty="0">
                <a:solidFill>
                  <a:srgbClr val="26251F"/>
                </a:solidFill>
                <a:latin typeface="Calibri" pitchFamily="34" charset="0"/>
                <a:ea typeface="Calibri" pitchFamily="34" charset="-122"/>
                <a:cs typeface="Calibri" pitchFamily="34" charset="-120"/>
              </a:rPr>
              <a:t>«Si eres capaz de reproducirte a ti, vas a poder reproducir otra tienda. Pero si no, es muy difícil.»</a:t>
            </a:r>
            <a:endParaRPr lang="en-US" sz="1300" dirty="0"/>
          </a:p>
        </p:txBody>
      </p:sp>
      <p:sp>
        <p:nvSpPr>
          <p:cNvPr id="12" name="Shape 10"/>
          <p:cNvSpPr/>
          <p:nvPr/>
        </p:nvSpPr>
        <p:spPr>
          <a:xfrm>
            <a:off x="6656832" y="3355848"/>
            <a:ext cx="109728" cy="109728"/>
          </a:xfrm>
          <a:prstGeom prst="ellipse">
            <a:avLst/>
          </a:prstGeom>
          <a:solidFill>
            <a:srgbClr val="2E8B4A"/>
          </a:solidFill>
          <a:ln/>
        </p:spPr>
      </p:sp>
      <p:sp>
        <p:nvSpPr>
          <p:cNvPr id="13" name="Text 11"/>
          <p:cNvSpPr/>
          <p:nvPr/>
        </p:nvSpPr>
        <p:spPr>
          <a:xfrm>
            <a:off x="6839712" y="3282696"/>
            <a:ext cx="4608576" cy="256032"/>
          </a:xfrm>
          <a:prstGeom prst="rect">
            <a:avLst/>
          </a:prstGeom>
          <a:noFill/>
          <a:ln/>
        </p:spPr>
        <p:txBody>
          <a:bodyPr wrap="square" lIns="0" tIns="0" rIns="0" bIns="0" rtlCol="0" anchor="ctr"/>
          <a:lstStyle/>
          <a:p>
            <a:pPr indent="0" marL="0">
              <a:buNone/>
            </a:pPr>
            <a:r>
              <a:rPr lang="en-US" sz="850" spc="150" kern="0" dirty="0">
                <a:solidFill>
                  <a:srgbClr val="8B8779"/>
                </a:solidFill>
                <a:latin typeface="Calibri" pitchFamily="34" charset="0"/>
                <a:ea typeface="Calibri" pitchFamily="34" charset="-122"/>
                <a:cs typeface="Calibri" pitchFamily="34" charset="-120"/>
              </a:rPr>
              <a:t>PROPIETARIA · TIENDA DE ALIMENTACIÓN</a:t>
            </a:r>
            <a:endParaRPr lang="en-US" sz="850" dirty="0"/>
          </a:p>
        </p:txBody>
      </p:sp>
      <p:sp>
        <p:nvSpPr>
          <p:cNvPr id="14" name="Shape 12"/>
          <p:cNvSpPr/>
          <p:nvPr/>
        </p:nvSpPr>
        <p:spPr>
          <a:xfrm>
            <a:off x="502920" y="6355080"/>
            <a:ext cx="128016" cy="128016"/>
          </a:xfrm>
          <a:prstGeom prst="ellipse">
            <a:avLst/>
          </a:prstGeom>
          <a:solidFill>
            <a:srgbClr val="2E8B4A"/>
          </a:solidFill>
          <a:ln/>
        </p:spPr>
      </p:sp>
      <p:sp>
        <p:nvSpPr>
          <p:cNvPr id="15" name="Shape 13"/>
          <p:cNvSpPr/>
          <p:nvPr/>
        </p:nvSpPr>
        <p:spPr>
          <a:xfrm>
            <a:off x="722376" y="6355080"/>
            <a:ext cx="128016" cy="128016"/>
          </a:xfrm>
          <a:prstGeom prst="ellipse">
            <a:avLst/>
          </a:prstGeom>
          <a:solidFill>
            <a:srgbClr val="3E63A8"/>
          </a:solidFill>
          <a:ln/>
        </p:spPr>
      </p:sp>
      <p:sp>
        <p:nvSpPr>
          <p:cNvPr id="16" name="Shape 14"/>
          <p:cNvSpPr/>
          <p:nvPr/>
        </p:nvSpPr>
        <p:spPr>
          <a:xfrm>
            <a:off x="941832" y="6355080"/>
            <a:ext cx="128016" cy="128016"/>
          </a:xfrm>
          <a:prstGeom prst="ellipse">
            <a:avLst/>
          </a:prstGeom>
          <a:solidFill>
            <a:srgbClr val="C4707E"/>
          </a:solidFill>
          <a:ln/>
        </p:spPr>
      </p:sp>
      <p:sp>
        <p:nvSpPr>
          <p:cNvPr id="17" name="Shape 15"/>
          <p:cNvSpPr/>
          <p:nvPr/>
        </p:nvSpPr>
        <p:spPr>
          <a:xfrm>
            <a:off x="1161288" y="6355080"/>
            <a:ext cx="128016" cy="128016"/>
          </a:xfrm>
          <a:prstGeom prst="ellipse">
            <a:avLst/>
          </a:prstGeom>
          <a:solidFill>
            <a:srgbClr val="0A86A8"/>
          </a:solidFill>
          <a:ln/>
        </p:spPr>
      </p:sp>
      <p:sp>
        <p:nvSpPr>
          <p:cNvPr id="18" name="Shape 16"/>
          <p:cNvSpPr/>
          <p:nvPr/>
        </p:nvSpPr>
        <p:spPr>
          <a:xfrm>
            <a:off x="1380744" y="6355080"/>
            <a:ext cx="128016" cy="128016"/>
          </a:xfrm>
          <a:prstGeom prst="ellipse">
            <a:avLst/>
          </a:prstGeom>
          <a:solidFill>
            <a:srgbClr val="6F8A1A"/>
          </a:solidFill>
          <a:ln/>
        </p:spPr>
      </p:sp>
      <p:sp>
        <p:nvSpPr>
          <p:cNvPr id="19" name="Shape 17"/>
          <p:cNvSpPr/>
          <p:nvPr/>
        </p:nvSpPr>
        <p:spPr>
          <a:xfrm>
            <a:off x="1600200" y="6355080"/>
            <a:ext cx="128016" cy="128016"/>
          </a:xfrm>
          <a:prstGeom prst="ellipse">
            <a:avLst/>
          </a:prstGeom>
          <a:solidFill>
            <a:srgbClr val="C04141"/>
          </a:solidFill>
          <a:ln/>
        </p:spPr>
      </p:sp>
      <p:sp>
        <p:nvSpPr>
          <p:cNvPr id="20" name="Shape 18"/>
          <p:cNvSpPr/>
          <p:nvPr/>
        </p:nvSpPr>
        <p:spPr>
          <a:xfrm>
            <a:off x="1819656" y="6355080"/>
            <a:ext cx="128016" cy="128016"/>
          </a:xfrm>
          <a:prstGeom prst="ellipse">
            <a:avLst/>
          </a:prstGeom>
          <a:solidFill>
            <a:srgbClr val="8A5510"/>
          </a:solidFill>
          <a:ln/>
        </p:spPr>
      </p:sp>
      <p:sp>
        <p:nvSpPr>
          <p:cNvPr id="21" name="Shape 19"/>
          <p:cNvSpPr/>
          <p:nvPr/>
        </p:nvSpPr>
        <p:spPr>
          <a:xfrm>
            <a:off x="2039112" y="6355080"/>
            <a:ext cx="128016" cy="128016"/>
          </a:xfrm>
          <a:prstGeom prst="ellipse">
            <a:avLst/>
          </a:prstGeom>
          <a:solidFill>
            <a:srgbClr val="A1770A"/>
          </a:solidFill>
          <a:ln/>
        </p:spPr>
      </p:sp>
      <p:sp>
        <p:nvSpPr>
          <p:cNvPr id="22" name="Text 20"/>
          <p:cNvSpPr/>
          <p:nvPr/>
        </p:nvSpPr>
        <p:spPr>
          <a:xfrm>
            <a:off x="8485632" y="6291072"/>
            <a:ext cx="3200400" cy="274320"/>
          </a:xfrm>
          <a:prstGeom prst="rect">
            <a:avLst/>
          </a:prstGeom>
          <a:noFill/>
          <a:ln/>
        </p:spPr>
        <p:txBody>
          <a:bodyPr wrap="square" lIns="0" tIns="0" rIns="0" bIns="0" rtlCol="0" anchor="ctr"/>
          <a:lstStyle/>
          <a:p>
            <a:pPr algn="r" indent="0" marL="0">
              <a:buNone/>
            </a:pPr>
            <a:r>
              <a:rPr lang="en-US" sz="900" dirty="0">
                <a:solidFill>
                  <a:srgbClr val="8B8779"/>
                </a:solidFill>
                <a:latin typeface="Calibri" pitchFamily="34" charset="0"/>
                <a:ea typeface="Calibri" pitchFamily="34" charset="-122"/>
                <a:cs typeface="Calibri" pitchFamily="34" charset="-120"/>
              </a:rPr>
              <a:t>A pie de mostrador · n=8 · Julio 2026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02920" y="256032"/>
            <a:ext cx="5486400" cy="320040"/>
          </a:xfrm>
          <a:prstGeom prst="rect">
            <a:avLst/>
          </a:prstGeom>
          <a:noFill/>
          <a:ln/>
        </p:spPr>
        <p:txBody>
          <a:bodyPr wrap="square" lIns="0" tIns="0" rIns="0" bIns="0" rtlCol="0" anchor="ctr"/>
          <a:lstStyle/>
          <a:p>
            <a:pPr indent="0" marL="0">
              <a:buNone/>
            </a:pPr>
            <a:r>
              <a:rPr lang="en-US" sz="12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200" dirty="0">
                <a:solidFill>
                  <a:srgbClr val="8B8779"/>
                </a:solidFill>
                <a:latin typeface="Trebuchet MS" pitchFamily="34" charset="0"/>
                <a:ea typeface="Trebuchet MS" pitchFamily="34" charset="-122"/>
                <a:cs typeface="Trebuchet MS" pitchFamily="34" charset="-120"/>
              </a:rPr>
              <a:t>  ·  primer vistazo</a:t>
            </a:r>
            <a:endParaRPr lang="en-US" sz="1200" dirty="0"/>
          </a:p>
        </p:txBody>
      </p:sp>
      <p:sp>
        <p:nvSpPr>
          <p:cNvPr id="3" name="Text 1"/>
          <p:cNvSpPr/>
          <p:nvPr/>
        </p:nvSpPr>
        <p:spPr>
          <a:xfrm>
            <a:off x="502920" y="868680"/>
            <a:ext cx="2743200" cy="320040"/>
          </a:xfrm>
          <a:prstGeom prst="rect">
            <a:avLst/>
          </a:prstGeom>
          <a:noFill/>
          <a:ln/>
        </p:spPr>
        <p:txBody>
          <a:bodyPr wrap="square" lIns="0" tIns="0" rIns="0" bIns="0" rtlCol="0" anchor="ctr"/>
          <a:lstStyle/>
          <a:p>
            <a:pPr indent="0" marL="0">
              <a:buNone/>
            </a:pPr>
            <a:r>
              <a:rPr lang="en-US" sz="1300" b="1" spc="200" kern="0" dirty="0">
                <a:solidFill>
                  <a:srgbClr val="C4707E"/>
                </a:solidFill>
                <a:latin typeface="Trebuchet MS" pitchFamily="34" charset="0"/>
                <a:ea typeface="Trebuchet MS" pitchFamily="34" charset="-122"/>
                <a:cs typeface="Trebuchet MS" pitchFamily="34" charset="-120"/>
              </a:rPr>
              <a:t>SEÑAL 05</a:t>
            </a:r>
            <a:endParaRPr lang="en-US" sz="1300" dirty="0"/>
          </a:p>
        </p:txBody>
      </p:sp>
      <p:sp>
        <p:nvSpPr>
          <p:cNvPr id="4" name="Text 2"/>
          <p:cNvSpPr/>
          <p:nvPr/>
        </p:nvSpPr>
        <p:spPr>
          <a:xfrm>
            <a:off x="502920" y="1234440"/>
            <a:ext cx="5577840" cy="1554480"/>
          </a:xfrm>
          <a:prstGeom prst="rect">
            <a:avLst/>
          </a:prstGeom>
          <a:noFill/>
          <a:ln/>
        </p:spPr>
        <p:txBody>
          <a:bodyPr wrap="square" lIns="0" tIns="0" rIns="0" bIns="0" rtlCol="0" anchor="t"/>
          <a:lstStyle/>
          <a:p>
            <a:pPr indent="0" marL="0">
              <a:lnSpc>
                <a:spcPct val="102000"/>
              </a:lnSpc>
              <a:buNone/>
            </a:pPr>
            <a:r>
              <a:rPr lang="en-US" sz="3000" b="1" dirty="0">
                <a:solidFill>
                  <a:srgbClr val="26251F"/>
                </a:solidFill>
                <a:latin typeface="Trebuchet MS" pitchFamily="34" charset="0"/>
                <a:ea typeface="Trebuchet MS" pitchFamily="34" charset="-122"/>
                <a:cs typeface="Trebuchet MS" pitchFamily="34" charset="-120"/>
              </a:rPr>
              <a:t>La tecnología se gana el sitio, o sobra</a:t>
            </a:r>
            <a:endParaRPr lang="en-US" sz="3000" dirty="0"/>
          </a:p>
        </p:txBody>
      </p:sp>
      <p:sp>
        <p:nvSpPr>
          <p:cNvPr id="5" name="Text 3"/>
          <p:cNvSpPr/>
          <p:nvPr/>
        </p:nvSpPr>
        <p:spPr>
          <a:xfrm>
            <a:off x="502920" y="2880360"/>
            <a:ext cx="5394960" cy="2377440"/>
          </a:xfrm>
          <a:prstGeom prst="rect">
            <a:avLst/>
          </a:prstGeom>
          <a:noFill/>
          <a:ln/>
        </p:spPr>
        <p:txBody>
          <a:bodyPr wrap="square" lIns="0" tIns="0" rIns="0" bIns="0" rtlCol="0" anchor="t"/>
          <a:lstStyle/>
          <a:p>
            <a:pPr indent="0" marL="0">
              <a:lnSpc>
                <a:spcPct val="115000"/>
              </a:lnSpc>
              <a:buNone/>
            </a:pPr>
            <a:r>
              <a:rPr lang="en-US" sz="1500" dirty="0">
                <a:solidFill>
                  <a:srgbClr val="5B584C"/>
                </a:solidFill>
                <a:latin typeface="Calibri" pitchFamily="34" charset="0"/>
                <a:ea typeface="Calibri" pitchFamily="34" charset="-122"/>
                <a:cs typeface="Calibri" pitchFamily="34" charset="-120"/>
              </a:rPr>
              <a:t>Nadie es «anti-tecnología»: pagan sin quejarse por herramientas que ahorran trabajo visible, hoy. Lo que no perdonan es la complejidad, las promesas a seis meses y las soluciones genéricas hechas para cumplir el expediente.</a:t>
            </a:r>
            <a:endParaRPr lang="en-US" sz="1500" dirty="0"/>
          </a:p>
        </p:txBody>
      </p:sp>
      <p:sp>
        <p:nvSpPr>
          <p:cNvPr id="6" name="Shape 4"/>
          <p:cNvSpPr/>
          <p:nvPr/>
        </p:nvSpPr>
        <p:spPr>
          <a:xfrm>
            <a:off x="6492240" y="1234440"/>
            <a:ext cx="5120640" cy="1069848"/>
          </a:xfrm>
          <a:prstGeom prst="roundRect">
            <a:avLst>
              <a:gd name="adj" fmla="val 3419"/>
            </a:avLst>
          </a:prstGeom>
          <a:solidFill>
            <a:srgbClr val="FFFFFF"/>
          </a:solidFill>
          <a:ln w="12700">
            <a:solidFill>
              <a:srgbClr val="E3DCC9"/>
            </a:solidFill>
            <a:prstDash val="solid"/>
          </a:ln>
          <a:effectLst>
            <a:outerShdw sx="100000" sy="100000" kx="0" ky="0" algn="bl" rotWithShape="0" blurRad="76200" dist="25400" dir="5400000">
              <a:srgbClr val="5A5037">
                <a:alpha val="18000"/>
              </a:srgbClr>
            </a:outerShdw>
          </a:effectLst>
        </p:spPr>
      </p:sp>
      <p:sp>
        <p:nvSpPr>
          <p:cNvPr id="7" name="Text 5"/>
          <p:cNvSpPr/>
          <p:nvPr/>
        </p:nvSpPr>
        <p:spPr>
          <a:xfrm>
            <a:off x="6656832" y="1325880"/>
            <a:ext cx="4791456" cy="612648"/>
          </a:xfrm>
          <a:prstGeom prst="rect">
            <a:avLst/>
          </a:prstGeom>
          <a:noFill/>
          <a:ln/>
        </p:spPr>
        <p:txBody>
          <a:bodyPr wrap="square" lIns="0" tIns="0" rIns="0" bIns="0" rtlCol="0" anchor="t"/>
          <a:lstStyle/>
          <a:p>
            <a:pPr indent="0" marL="0">
              <a:buNone/>
            </a:pPr>
            <a:r>
              <a:rPr lang="en-US" sz="1300" i="1" dirty="0">
                <a:solidFill>
                  <a:srgbClr val="26251F"/>
                </a:solidFill>
                <a:latin typeface="Calibri" pitchFamily="34" charset="0"/>
                <a:ea typeface="Calibri" pitchFamily="34" charset="-122"/>
                <a:cs typeface="Calibri" pitchFamily="34" charset="-120"/>
              </a:rPr>
              <a:t>«Yo me ahorro mucho trabajo con eso, porque si no aquí estuviera yo, mira.»</a:t>
            </a:r>
            <a:endParaRPr lang="en-US" sz="1300" dirty="0"/>
          </a:p>
        </p:txBody>
      </p:sp>
      <p:sp>
        <p:nvSpPr>
          <p:cNvPr id="8" name="Shape 6"/>
          <p:cNvSpPr/>
          <p:nvPr/>
        </p:nvSpPr>
        <p:spPr>
          <a:xfrm>
            <a:off x="6656832" y="2011680"/>
            <a:ext cx="109728" cy="109728"/>
          </a:xfrm>
          <a:prstGeom prst="ellipse">
            <a:avLst/>
          </a:prstGeom>
          <a:solidFill>
            <a:srgbClr val="C4707E"/>
          </a:solidFill>
          <a:ln/>
        </p:spPr>
      </p:sp>
      <p:sp>
        <p:nvSpPr>
          <p:cNvPr id="9" name="Text 7"/>
          <p:cNvSpPr/>
          <p:nvPr/>
        </p:nvSpPr>
        <p:spPr>
          <a:xfrm>
            <a:off x="6839712" y="1938528"/>
            <a:ext cx="4608576" cy="256032"/>
          </a:xfrm>
          <a:prstGeom prst="rect">
            <a:avLst/>
          </a:prstGeom>
          <a:noFill/>
          <a:ln/>
        </p:spPr>
        <p:txBody>
          <a:bodyPr wrap="square" lIns="0" tIns="0" rIns="0" bIns="0" rtlCol="0" anchor="ctr"/>
          <a:lstStyle/>
          <a:p>
            <a:pPr indent="0" marL="0">
              <a:buNone/>
            </a:pPr>
            <a:r>
              <a:rPr lang="en-US" sz="850" spc="150" kern="0" dirty="0">
                <a:solidFill>
                  <a:srgbClr val="8B8779"/>
                </a:solidFill>
                <a:latin typeface="Calibri" pitchFamily="34" charset="0"/>
                <a:ea typeface="Calibri" pitchFamily="34" charset="-122"/>
                <a:cs typeface="Calibri" pitchFamily="34" charset="-120"/>
              </a:rPr>
              <a:t>PROPIETARIA · SALÓN DE ESTÉTICA, SOBRE SU APP DE RESERVAS</a:t>
            </a:r>
            <a:endParaRPr lang="en-US" sz="850" dirty="0"/>
          </a:p>
        </p:txBody>
      </p:sp>
      <p:sp>
        <p:nvSpPr>
          <p:cNvPr id="10" name="Shape 8"/>
          <p:cNvSpPr/>
          <p:nvPr/>
        </p:nvSpPr>
        <p:spPr>
          <a:xfrm>
            <a:off x="6492240" y="3200400"/>
            <a:ext cx="1664208" cy="1051560"/>
          </a:xfrm>
          <a:prstGeom prst="roundRect">
            <a:avLst>
              <a:gd name="adj" fmla="val 4348"/>
            </a:avLst>
          </a:prstGeom>
          <a:solidFill>
            <a:srgbClr val="F2ECDD"/>
          </a:solidFill>
          <a:ln w="12700">
            <a:solidFill>
              <a:srgbClr val="E3DCC9"/>
            </a:solidFill>
            <a:prstDash val="solid"/>
          </a:ln>
        </p:spPr>
      </p:sp>
      <p:sp>
        <p:nvSpPr>
          <p:cNvPr id="11" name="Text 9"/>
          <p:cNvSpPr/>
          <p:nvPr/>
        </p:nvSpPr>
        <p:spPr>
          <a:xfrm>
            <a:off x="6583680" y="3310128"/>
            <a:ext cx="1481328" cy="256032"/>
          </a:xfrm>
          <a:prstGeom prst="rect">
            <a:avLst/>
          </a:prstGeom>
          <a:noFill/>
          <a:ln/>
        </p:spPr>
        <p:txBody>
          <a:bodyPr wrap="square" lIns="0" tIns="0" rIns="0" bIns="0" rtlCol="0" anchor="ctr"/>
          <a:lstStyle/>
          <a:p>
            <a:pPr indent="0" marL="0">
              <a:buNone/>
            </a:pPr>
            <a:r>
              <a:rPr lang="en-US" sz="1050" b="1" dirty="0">
                <a:solidFill>
                  <a:srgbClr val="2E8B4A"/>
                </a:solidFill>
                <a:latin typeface="Trebuchet MS" pitchFamily="34" charset="0"/>
                <a:ea typeface="Trebuchet MS" pitchFamily="34" charset="-122"/>
                <a:cs typeface="Trebuchet MS" pitchFamily="34" charset="-120"/>
              </a:rPr>
              <a:t>SE QUEDA</a:t>
            </a:r>
            <a:endParaRPr lang="en-US" sz="1050" dirty="0"/>
          </a:p>
        </p:txBody>
      </p:sp>
      <p:sp>
        <p:nvSpPr>
          <p:cNvPr id="12" name="Text 10"/>
          <p:cNvSpPr/>
          <p:nvPr/>
        </p:nvSpPr>
        <p:spPr>
          <a:xfrm>
            <a:off x="6583680" y="3584448"/>
            <a:ext cx="1481328" cy="594360"/>
          </a:xfrm>
          <a:prstGeom prst="rect">
            <a:avLst/>
          </a:prstGeom>
          <a:noFill/>
          <a:ln/>
        </p:spPr>
        <p:txBody>
          <a:bodyPr wrap="square" lIns="0" tIns="0" rIns="0" bIns="0" rtlCol="0" anchor="t"/>
          <a:lstStyle/>
          <a:p>
            <a:pPr indent="0" marL="0">
              <a:buNone/>
            </a:pPr>
            <a:r>
              <a:rPr lang="en-US" sz="950" dirty="0">
                <a:solidFill>
                  <a:srgbClr val="5B584C"/>
                </a:solidFill>
                <a:latin typeface="Calibri" pitchFamily="34" charset="0"/>
                <a:ea typeface="Calibri" pitchFamily="34" charset="-122"/>
                <a:cs typeface="Calibri" pitchFamily="34" charset="-120"/>
              </a:rPr>
              <a:t>ahorro claro · valor visible · encaja en el flujo</a:t>
            </a:r>
            <a:endParaRPr lang="en-US" sz="950" dirty="0"/>
          </a:p>
        </p:txBody>
      </p:sp>
      <p:sp>
        <p:nvSpPr>
          <p:cNvPr id="13" name="Shape 11"/>
          <p:cNvSpPr/>
          <p:nvPr/>
        </p:nvSpPr>
        <p:spPr>
          <a:xfrm>
            <a:off x="8266176" y="3200400"/>
            <a:ext cx="1664208" cy="1051560"/>
          </a:xfrm>
          <a:prstGeom prst="roundRect">
            <a:avLst>
              <a:gd name="adj" fmla="val 4348"/>
            </a:avLst>
          </a:prstGeom>
          <a:solidFill>
            <a:srgbClr val="F2ECDD"/>
          </a:solidFill>
          <a:ln w="12700">
            <a:solidFill>
              <a:srgbClr val="E3DCC9"/>
            </a:solidFill>
            <a:prstDash val="solid"/>
          </a:ln>
        </p:spPr>
      </p:sp>
      <p:sp>
        <p:nvSpPr>
          <p:cNvPr id="14" name="Text 12"/>
          <p:cNvSpPr/>
          <p:nvPr/>
        </p:nvSpPr>
        <p:spPr>
          <a:xfrm>
            <a:off x="8357616" y="3310128"/>
            <a:ext cx="1481328" cy="256032"/>
          </a:xfrm>
          <a:prstGeom prst="rect">
            <a:avLst/>
          </a:prstGeom>
          <a:noFill/>
          <a:ln/>
        </p:spPr>
        <p:txBody>
          <a:bodyPr wrap="square" lIns="0" tIns="0" rIns="0" bIns="0" rtlCol="0" anchor="ctr"/>
          <a:lstStyle/>
          <a:p>
            <a:pPr indent="0" marL="0">
              <a:buNone/>
            </a:pPr>
            <a:r>
              <a:rPr lang="en-US" sz="1050" b="1" dirty="0">
                <a:solidFill>
                  <a:srgbClr val="A1770A"/>
                </a:solidFill>
                <a:latin typeface="Trebuchet MS" pitchFamily="34" charset="0"/>
                <a:ea typeface="Trebuchet MS" pitchFamily="34" charset="-122"/>
                <a:cs typeface="Trebuchet MS" pitchFamily="34" charset="-120"/>
              </a:rPr>
              <a:t>EN DUDA</a:t>
            </a:r>
            <a:endParaRPr lang="en-US" sz="1050" dirty="0"/>
          </a:p>
        </p:txBody>
      </p:sp>
      <p:sp>
        <p:nvSpPr>
          <p:cNvPr id="15" name="Text 13"/>
          <p:cNvSpPr/>
          <p:nvPr/>
        </p:nvSpPr>
        <p:spPr>
          <a:xfrm>
            <a:off x="8357616" y="3584448"/>
            <a:ext cx="1481328" cy="594360"/>
          </a:xfrm>
          <a:prstGeom prst="rect">
            <a:avLst/>
          </a:prstGeom>
          <a:noFill/>
          <a:ln/>
        </p:spPr>
        <p:txBody>
          <a:bodyPr wrap="square" lIns="0" tIns="0" rIns="0" bIns="0" rtlCol="0" anchor="t"/>
          <a:lstStyle/>
          <a:p>
            <a:pPr indent="0" marL="0">
              <a:buNone/>
            </a:pPr>
            <a:r>
              <a:rPr lang="en-US" sz="950" dirty="0">
                <a:solidFill>
                  <a:srgbClr val="5B584C"/>
                </a:solidFill>
                <a:latin typeface="Calibri" pitchFamily="34" charset="0"/>
                <a:ea typeface="Calibri" pitchFamily="34" charset="-122"/>
                <a:cs typeface="Calibri" pitchFamily="34" charset="-120"/>
              </a:rPr>
              <a:t>cuota mensual · complejidad · entregas genéricas</a:t>
            </a:r>
            <a:endParaRPr lang="en-US" sz="950" dirty="0"/>
          </a:p>
        </p:txBody>
      </p:sp>
      <p:sp>
        <p:nvSpPr>
          <p:cNvPr id="16" name="Shape 14"/>
          <p:cNvSpPr/>
          <p:nvPr/>
        </p:nvSpPr>
        <p:spPr>
          <a:xfrm>
            <a:off x="10040112" y="3200400"/>
            <a:ext cx="1664208" cy="1051560"/>
          </a:xfrm>
          <a:prstGeom prst="roundRect">
            <a:avLst>
              <a:gd name="adj" fmla="val 4348"/>
            </a:avLst>
          </a:prstGeom>
          <a:solidFill>
            <a:srgbClr val="F2ECDD"/>
          </a:solidFill>
          <a:ln w="12700">
            <a:solidFill>
              <a:srgbClr val="E3DCC9"/>
            </a:solidFill>
            <a:prstDash val="solid"/>
          </a:ln>
        </p:spPr>
      </p:sp>
      <p:sp>
        <p:nvSpPr>
          <p:cNvPr id="17" name="Text 15"/>
          <p:cNvSpPr/>
          <p:nvPr/>
        </p:nvSpPr>
        <p:spPr>
          <a:xfrm>
            <a:off x="10131552" y="3310128"/>
            <a:ext cx="1481328" cy="256032"/>
          </a:xfrm>
          <a:prstGeom prst="rect">
            <a:avLst/>
          </a:prstGeom>
          <a:noFill/>
          <a:ln/>
        </p:spPr>
        <p:txBody>
          <a:bodyPr wrap="square" lIns="0" tIns="0" rIns="0" bIns="0" rtlCol="0" anchor="ctr"/>
          <a:lstStyle/>
          <a:p>
            <a:pPr indent="0" marL="0">
              <a:buNone/>
            </a:pPr>
            <a:r>
              <a:rPr lang="en-US" sz="1050" b="1" dirty="0">
                <a:solidFill>
                  <a:srgbClr val="3E63A8"/>
                </a:solidFill>
                <a:latin typeface="Trebuchet MS" pitchFamily="34" charset="0"/>
                <a:ea typeface="Trebuchet MS" pitchFamily="34" charset="-122"/>
                <a:cs typeface="Trebuchet MS" pitchFamily="34" charset="-120"/>
              </a:rPr>
              <a:t>EN VIGILANCIA</a:t>
            </a:r>
            <a:endParaRPr lang="en-US" sz="1050" dirty="0"/>
          </a:p>
        </p:txBody>
      </p:sp>
      <p:sp>
        <p:nvSpPr>
          <p:cNvPr id="18" name="Text 16"/>
          <p:cNvSpPr/>
          <p:nvPr/>
        </p:nvSpPr>
        <p:spPr>
          <a:xfrm>
            <a:off x="10131552" y="3584448"/>
            <a:ext cx="1481328" cy="594360"/>
          </a:xfrm>
          <a:prstGeom prst="rect">
            <a:avLst/>
          </a:prstGeom>
          <a:noFill/>
          <a:ln/>
        </p:spPr>
        <p:txBody>
          <a:bodyPr wrap="square" lIns="0" tIns="0" rIns="0" bIns="0" rtlCol="0" anchor="t"/>
          <a:lstStyle/>
          <a:p>
            <a:pPr indent="0" marL="0">
              <a:buNone/>
            </a:pPr>
            <a:r>
              <a:rPr lang="en-US" sz="950" dirty="0">
                <a:solidFill>
                  <a:srgbClr val="5B584C"/>
                </a:solidFill>
                <a:latin typeface="Calibri" pitchFamily="34" charset="0"/>
                <a:ea typeface="Calibri" pitchFamily="34" charset="-122"/>
                <a:cs typeface="Calibri" pitchFamily="34" charset="-120"/>
              </a:rPr>
              <a:t>normativa · compatibilidad · a quién creerle</a:t>
            </a:r>
            <a:endParaRPr lang="en-US" sz="950" dirty="0"/>
          </a:p>
        </p:txBody>
      </p:sp>
      <p:sp>
        <p:nvSpPr>
          <p:cNvPr id="19" name="Shape 17"/>
          <p:cNvSpPr/>
          <p:nvPr/>
        </p:nvSpPr>
        <p:spPr>
          <a:xfrm>
            <a:off x="502920" y="6355080"/>
            <a:ext cx="128016" cy="128016"/>
          </a:xfrm>
          <a:prstGeom prst="ellipse">
            <a:avLst/>
          </a:prstGeom>
          <a:solidFill>
            <a:srgbClr val="2E8B4A"/>
          </a:solidFill>
          <a:ln/>
        </p:spPr>
      </p:sp>
      <p:sp>
        <p:nvSpPr>
          <p:cNvPr id="20" name="Shape 18"/>
          <p:cNvSpPr/>
          <p:nvPr/>
        </p:nvSpPr>
        <p:spPr>
          <a:xfrm>
            <a:off x="722376" y="6355080"/>
            <a:ext cx="128016" cy="128016"/>
          </a:xfrm>
          <a:prstGeom prst="ellipse">
            <a:avLst/>
          </a:prstGeom>
          <a:solidFill>
            <a:srgbClr val="3E63A8"/>
          </a:solidFill>
          <a:ln/>
        </p:spPr>
      </p:sp>
      <p:sp>
        <p:nvSpPr>
          <p:cNvPr id="21" name="Shape 19"/>
          <p:cNvSpPr/>
          <p:nvPr/>
        </p:nvSpPr>
        <p:spPr>
          <a:xfrm>
            <a:off x="941832" y="6355080"/>
            <a:ext cx="128016" cy="128016"/>
          </a:xfrm>
          <a:prstGeom prst="ellipse">
            <a:avLst/>
          </a:prstGeom>
          <a:solidFill>
            <a:srgbClr val="C4707E"/>
          </a:solidFill>
          <a:ln/>
        </p:spPr>
      </p:sp>
      <p:sp>
        <p:nvSpPr>
          <p:cNvPr id="22" name="Shape 20"/>
          <p:cNvSpPr/>
          <p:nvPr/>
        </p:nvSpPr>
        <p:spPr>
          <a:xfrm>
            <a:off x="1161288" y="6355080"/>
            <a:ext cx="128016" cy="128016"/>
          </a:xfrm>
          <a:prstGeom prst="ellipse">
            <a:avLst/>
          </a:prstGeom>
          <a:solidFill>
            <a:srgbClr val="0A86A8"/>
          </a:solidFill>
          <a:ln/>
        </p:spPr>
      </p:sp>
      <p:sp>
        <p:nvSpPr>
          <p:cNvPr id="23" name="Shape 21"/>
          <p:cNvSpPr/>
          <p:nvPr/>
        </p:nvSpPr>
        <p:spPr>
          <a:xfrm>
            <a:off x="1380744" y="6355080"/>
            <a:ext cx="128016" cy="128016"/>
          </a:xfrm>
          <a:prstGeom prst="ellipse">
            <a:avLst/>
          </a:prstGeom>
          <a:solidFill>
            <a:srgbClr val="6F8A1A"/>
          </a:solidFill>
          <a:ln/>
        </p:spPr>
      </p:sp>
      <p:sp>
        <p:nvSpPr>
          <p:cNvPr id="24" name="Shape 22"/>
          <p:cNvSpPr/>
          <p:nvPr/>
        </p:nvSpPr>
        <p:spPr>
          <a:xfrm>
            <a:off x="1600200" y="6355080"/>
            <a:ext cx="128016" cy="128016"/>
          </a:xfrm>
          <a:prstGeom prst="ellipse">
            <a:avLst/>
          </a:prstGeom>
          <a:solidFill>
            <a:srgbClr val="C04141"/>
          </a:solidFill>
          <a:ln/>
        </p:spPr>
      </p:sp>
      <p:sp>
        <p:nvSpPr>
          <p:cNvPr id="25" name="Shape 23"/>
          <p:cNvSpPr/>
          <p:nvPr/>
        </p:nvSpPr>
        <p:spPr>
          <a:xfrm>
            <a:off x="1819656" y="6355080"/>
            <a:ext cx="128016" cy="128016"/>
          </a:xfrm>
          <a:prstGeom prst="ellipse">
            <a:avLst/>
          </a:prstGeom>
          <a:solidFill>
            <a:srgbClr val="8A5510"/>
          </a:solidFill>
          <a:ln/>
        </p:spPr>
      </p:sp>
      <p:sp>
        <p:nvSpPr>
          <p:cNvPr id="26" name="Shape 24"/>
          <p:cNvSpPr/>
          <p:nvPr/>
        </p:nvSpPr>
        <p:spPr>
          <a:xfrm>
            <a:off x="2039112" y="6355080"/>
            <a:ext cx="128016" cy="128016"/>
          </a:xfrm>
          <a:prstGeom prst="ellipse">
            <a:avLst/>
          </a:prstGeom>
          <a:solidFill>
            <a:srgbClr val="A1770A"/>
          </a:solidFill>
          <a:ln/>
        </p:spPr>
      </p:sp>
      <p:sp>
        <p:nvSpPr>
          <p:cNvPr id="27" name="Text 25"/>
          <p:cNvSpPr/>
          <p:nvPr/>
        </p:nvSpPr>
        <p:spPr>
          <a:xfrm>
            <a:off x="8485632" y="6291072"/>
            <a:ext cx="3200400" cy="274320"/>
          </a:xfrm>
          <a:prstGeom prst="rect">
            <a:avLst/>
          </a:prstGeom>
          <a:noFill/>
          <a:ln/>
        </p:spPr>
        <p:txBody>
          <a:bodyPr wrap="square" lIns="0" tIns="0" rIns="0" bIns="0" rtlCol="0" anchor="ctr"/>
          <a:lstStyle/>
          <a:p>
            <a:pPr algn="r" indent="0" marL="0">
              <a:buNone/>
            </a:pPr>
            <a:r>
              <a:rPr lang="en-US" sz="900" dirty="0">
                <a:solidFill>
                  <a:srgbClr val="8B8779"/>
                </a:solidFill>
                <a:latin typeface="Calibri" pitchFamily="34" charset="0"/>
                <a:ea typeface="Calibri" pitchFamily="34" charset="-122"/>
                <a:cs typeface="Calibri" pitchFamily="34" charset="-120"/>
              </a:rPr>
              <a:t>A pie de mostrador · n=8 · Julio 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02920" y="256032"/>
            <a:ext cx="5486400" cy="320040"/>
          </a:xfrm>
          <a:prstGeom prst="rect">
            <a:avLst/>
          </a:prstGeom>
          <a:noFill/>
          <a:ln/>
        </p:spPr>
        <p:txBody>
          <a:bodyPr wrap="square" lIns="0" tIns="0" rIns="0" bIns="0" rtlCol="0" anchor="ctr"/>
          <a:lstStyle/>
          <a:p>
            <a:pPr indent="0" marL="0">
              <a:buNone/>
            </a:pPr>
            <a:r>
              <a:rPr lang="en-US" sz="12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200" dirty="0">
                <a:solidFill>
                  <a:srgbClr val="8B8779"/>
                </a:solidFill>
                <a:latin typeface="Trebuchet MS" pitchFamily="34" charset="0"/>
                <a:ea typeface="Trebuchet MS" pitchFamily="34" charset="-122"/>
                <a:cs typeface="Trebuchet MS" pitchFamily="34" charset="-120"/>
              </a:rPr>
              <a:t>  ·  primer vistazo</a:t>
            </a:r>
            <a:endParaRPr lang="en-US" sz="1200" dirty="0"/>
          </a:p>
        </p:txBody>
      </p:sp>
      <p:sp>
        <p:nvSpPr>
          <p:cNvPr id="3" name="Text 1"/>
          <p:cNvSpPr/>
          <p:nvPr/>
        </p:nvSpPr>
        <p:spPr>
          <a:xfrm>
            <a:off x="502920" y="868680"/>
            <a:ext cx="2743200" cy="320040"/>
          </a:xfrm>
          <a:prstGeom prst="rect">
            <a:avLst/>
          </a:prstGeom>
          <a:noFill/>
          <a:ln/>
        </p:spPr>
        <p:txBody>
          <a:bodyPr wrap="square" lIns="0" tIns="0" rIns="0" bIns="0" rtlCol="0" anchor="ctr"/>
          <a:lstStyle/>
          <a:p>
            <a:pPr indent="0" marL="0">
              <a:buNone/>
            </a:pPr>
            <a:r>
              <a:rPr lang="en-US" sz="1300" b="1" spc="200" kern="0" dirty="0">
                <a:solidFill>
                  <a:srgbClr val="6F8A1A"/>
                </a:solidFill>
                <a:latin typeface="Trebuchet MS" pitchFamily="34" charset="0"/>
                <a:ea typeface="Trebuchet MS" pitchFamily="34" charset="-122"/>
                <a:cs typeface="Trebuchet MS" pitchFamily="34" charset="-120"/>
              </a:rPr>
              <a:t>SEÑAL 06</a:t>
            </a:r>
            <a:endParaRPr lang="en-US" sz="1300" dirty="0"/>
          </a:p>
        </p:txBody>
      </p:sp>
      <p:sp>
        <p:nvSpPr>
          <p:cNvPr id="4" name="Text 2"/>
          <p:cNvSpPr/>
          <p:nvPr/>
        </p:nvSpPr>
        <p:spPr>
          <a:xfrm>
            <a:off x="502920" y="1234440"/>
            <a:ext cx="5577840" cy="1554480"/>
          </a:xfrm>
          <a:prstGeom prst="rect">
            <a:avLst/>
          </a:prstGeom>
          <a:noFill/>
          <a:ln/>
        </p:spPr>
        <p:txBody>
          <a:bodyPr wrap="square" lIns="0" tIns="0" rIns="0" bIns="0" rtlCol="0" anchor="t"/>
          <a:lstStyle/>
          <a:p>
            <a:pPr indent="0" marL="0">
              <a:lnSpc>
                <a:spcPct val="102000"/>
              </a:lnSpc>
              <a:buNone/>
            </a:pPr>
            <a:r>
              <a:rPr lang="en-US" sz="3000" b="1" dirty="0">
                <a:solidFill>
                  <a:srgbClr val="26251F"/>
                </a:solidFill>
                <a:latin typeface="Trebuchet MS" pitchFamily="34" charset="0"/>
                <a:ea typeface="Trebuchet MS" pitchFamily="34" charset="-122"/>
                <a:cs typeface="Trebuchet MS" pitchFamily="34" charset="-120"/>
              </a:rPr>
              <a:t>Hacienda ya está en la conversación</a:t>
            </a:r>
            <a:endParaRPr lang="en-US" sz="3000" dirty="0"/>
          </a:p>
        </p:txBody>
      </p:sp>
      <p:sp>
        <p:nvSpPr>
          <p:cNvPr id="5" name="Text 3"/>
          <p:cNvSpPr/>
          <p:nvPr/>
        </p:nvSpPr>
        <p:spPr>
          <a:xfrm>
            <a:off x="502920" y="2880360"/>
            <a:ext cx="5394960" cy="2377440"/>
          </a:xfrm>
          <a:prstGeom prst="rect">
            <a:avLst/>
          </a:prstGeom>
          <a:noFill/>
          <a:ln/>
        </p:spPr>
        <p:txBody>
          <a:bodyPr wrap="square" lIns="0" tIns="0" rIns="0" bIns="0" rtlCol="0" anchor="t"/>
          <a:lstStyle/>
          <a:p>
            <a:pPr indent="0" marL="0">
              <a:lnSpc>
                <a:spcPct val="115000"/>
              </a:lnSpc>
              <a:buNone/>
            </a:pPr>
            <a:r>
              <a:rPr lang="en-US" sz="1500" dirty="0">
                <a:solidFill>
                  <a:srgbClr val="5B584C"/>
                </a:solidFill>
                <a:latin typeface="Calibri" pitchFamily="34" charset="0"/>
                <a:ea typeface="Calibri" pitchFamily="34" charset="-122"/>
                <a:cs typeface="Calibri" pitchFamily="34" charset="-120"/>
              </a:rPr>
              <a:t>VeriFactu salió en las entrevistas sin que preguntáramos. Para quien acaba de abrir, es un requisito más que resolver; para quien construyó su propio sistema, una amenaza. Nadie tiene claro todavía qué hacer ni a quién creerle.</a:t>
            </a:r>
            <a:endParaRPr lang="en-US" sz="1500" dirty="0"/>
          </a:p>
        </p:txBody>
      </p:sp>
      <p:sp>
        <p:nvSpPr>
          <p:cNvPr id="6" name="Shape 4"/>
          <p:cNvSpPr/>
          <p:nvPr/>
        </p:nvSpPr>
        <p:spPr>
          <a:xfrm>
            <a:off x="6492240" y="1234440"/>
            <a:ext cx="5120640" cy="832104"/>
          </a:xfrm>
          <a:prstGeom prst="roundRect">
            <a:avLst>
              <a:gd name="adj" fmla="val 4396"/>
            </a:avLst>
          </a:prstGeom>
          <a:solidFill>
            <a:srgbClr val="FFFFFF"/>
          </a:solidFill>
          <a:ln w="12700">
            <a:solidFill>
              <a:srgbClr val="E3DCC9"/>
            </a:solidFill>
            <a:prstDash val="solid"/>
          </a:ln>
          <a:effectLst>
            <a:outerShdw sx="100000" sy="100000" kx="0" ky="0" algn="bl" rotWithShape="0" blurRad="76200" dist="25400" dir="5400000">
              <a:srgbClr val="5A5037">
                <a:alpha val="18000"/>
              </a:srgbClr>
            </a:outerShdw>
          </a:effectLst>
        </p:spPr>
      </p:sp>
      <p:sp>
        <p:nvSpPr>
          <p:cNvPr id="7" name="Text 5"/>
          <p:cNvSpPr/>
          <p:nvPr/>
        </p:nvSpPr>
        <p:spPr>
          <a:xfrm>
            <a:off x="6656832" y="1325880"/>
            <a:ext cx="4791456" cy="374904"/>
          </a:xfrm>
          <a:prstGeom prst="rect">
            <a:avLst/>
          </a:prstGeom>
          <a:noFill/>
          <a:ln/>
        </p:spPr>
        <p:txBody>
          <a:bodyPr wrap="square" lIns="0" tIns="0" rIns="0" bIns="0" rtlCol="0" anchor="t"/>
          <a:lstStyle/>
          <a:p>
            <a:pPr indent="0" marL="0">
              <a:buNone/>
            </a:pPr>
            <a:r>
              <a:rPr lang="en-US" sz="1300" i="1" dirty="0">
                <a:solidFill>
                  <a:srgbClr val="26251F"/>
                </a:solidFill>
                <a:latin typeface="Calibri" pitchFamily="34" charset="0"/>
                <a:ea typeface="Calibri" pitchFamily="34" charset="-122"/>
                <a:cs typeface="Calibri" pitchFamily="34" charset="-120"/>
              </a:rPr>
              <a:t>«Nos toca conseguir un sistema que sea avalado por Hacienda.»</a:t>
            </a:r>
            <a:endParaRPr lang="en-US" sz="1300" dirty="0"/>
          </a:p>
        </p:txBody>
      </p:sp>
      <p:sp>
        <p:nvSpPr>
          <p:cNvPr id="8" name="Shape 6"/>
          <p:cNvSpPr/>
          <p:nvPr/>
        </p:nvSpPr>
        <p:spPr>
          <a:xfrm>
            <a:off x="6656832" y="1773936"/>
            <a:ext cx="109728" cy="109728"/>
          </a:xfrm>
          <a:prstGeom prst="ellipse">
            <a:avLst/>
          </a:prstGeom>
          <a:solidFill>
            <a:srgbClr val="6F8A1A"/>
          </a:solidFill>
          <a:ln/>
        </p:spPr>
      </p:sp>
      <p:sp>
        <p:nvSpPr>
          <p:cNvPr id="9" name="Text 7"/>
          <p:cNvSpPr/>
          <p:nvPr/>
        </p:nvSpPr>
        <p:spPr>
          <a:xfrm>
            <a:off x="6839712" y="1700784"/>
            <a:ext cx="4608576" cy="256032"/>
          </a:xfrm>
          <a:prstGeom prst="rect">
            <a:avLst/>
          </a:prstGeom>
          <a:noFill/>
          <a:ln/>
        </p:spPr>
        <p:txBody>
          <a:bodyPr wrap="square" lIns="0" tIns="0" rIns="0" bIns="0" rtlCol="0" anchor="ctr"/>
          <a:lstStyle/>
          <a:p>
            <a:pPr indent="0" marL="0">
              <a:buNone/>
            </a:pPr>
            <a:r>
              <a:rPr lang="en-US" sz="850" spc="150" kern="0" dirty="0">
                <a:solidFill>
                  <a:srgbClr val="8B8779"/>
                </a:solidFill>
                <a:latin typeface="Calibri" pitchFamily="34" charset="0"/>
                <a:ea typeface="Calibri" pitchFamily="34" charset="-122"/>
                <a:cs typeface="Calibri" pitchFamily="34" charset="-120"/>
              </a:rPr>
              <a:t>PROPIETARIA · TIENDA A GRANEL</a:t>
            </a:r>
            <a:endParaRPr lang="en-US" sz="850" dirty="0"/>
          </a:p>
        </p:txBody>
      </p:sp>
      <p:sp>
        <p:nvSpPr>
          <p:cNvPr id="10" name="Shape 8"/>
          <p:cNvSpPr/>
          <p:nvPr/>
        </p:nvSpPr>
        <p:spPr>
          <a:xfrm>
            <a:off x="502920" y="6355080"/>
            <a:ext cx="128016" cy="128016"/>
          </a:xfrm>
          <a:prstGeom prst="ellipse">
            <a:avLst/>
          </a:prstGeom>
          <a:solidFill>
            <a:srgbClr val="2E8B4A"/>
          </a:solidFill>
          <a:ln/>
        </p:spPr>
      </p:sp>
      <p:sp>
        <p:nvSpPr>
          <p:cNvPr id="11" name="Shape 9"/>
          <p:cNvSpPr/>
          <p:nvPr/>
        </p:nvSpPr>
        <p:spPr>
          <a:xfrm>
            <a:off x="722376" y="6355080"/>
            <a:ext cx="128016" cy="128016"/>
          </a:xfrm>
          <a:prstGeom prst="ellipse">
            <a:avLst/>
          </a:prstGeom>
          <a:solidFill>
            <a:srgbClr val="3E63A8"/>
          </a:solidFill>
          <a:ln/>
        </p:spPr>
      </p:sp>
      <p:sp>
        <p:nvSpPr>
          <p:cNvPr id="12" name="Shape 10"/>
          <p:cNvSpPr/>
          <p:nvPr/>
        </p:nvSpPr>
        <p:spPr>
          <a:xfrm>
            <a:off x="941832" y="6355080"/>
            <a:ext cx="128016" cy="128016"/>
          </a:xfrm>
          <a:prstGeom prst="ellipse">
            <a:avLst/>
          </a:prstGeom>
          <a:solidFill>
            <a:srgbClr val="C4707E"/>
          </a:solidFill>
          <a:ln/>
        </p:spPr>
      </p:sp>
      <p:sp>
        <p:nvSpPr>
          <p:cNvPr id="13" name="Shape 11"/>
          <p:cNvSpPr/>
          <p:nvPr/>
        </p:nvSpPr>
        <p:spPr>
          <a:xfrm>
            <a:off x="1161288" y="6355080"/>
            <a:ext cx="128016" cy="128016"/>
          </a:xfrm>
          <a:prstGeom prst="ellipse">
            <a:avLst/>
          </a:prstGeom>
          <a:solidFill>
            <a:srgbClr val="0A86A8"/>
          </a:solidFill>
          <a:ln/>
        </p:spPr>
      </p:sp>
      <p:sp>
        <p:nvSpPr>
          <p:cNvPr id="14" name="Shape 12"/>
          <p:cNvSpPr/>
          <p:nvPr/>
        </p:nvSpPr>
        <p:spPr>
          <a:xfrm>
            <a:off x="1380744" y="6355080"/>
            <a:ext cx="128016" cy="128016"/>
          </a:xfrm>
          <a:prstGeom prst="ellipse">
            <a:avLst/>
          </a:prstGeom>
          <a:solidFill>
            <a:srgbClr val="6F8A1A"/>
          </a:solidFill>
          <a:ln/>
        </p:spPr>
      </p:sp>
      <p:sp>
        <p:nvSpPr>
          <p:cNvPr id="15" name="Shape 13"/>
          <p:cNvSpPr/>
          <p:nvPr/>
        </p:nvSpPr>
        <p:spPr>
          <a:xfrm>
            <a:off x="1600200" y="6355080"/>
            <a:ext cx="128016" cy="128016"/>
          </a:xfrm>
          <a:prstGeom prst="ellipse">
            <a:avLst/>
          </a:prstGeom>
          <a:solidFill>
            <a:srgbClr val="C04141"/>
          </a:solidFill>
          <a:ln/>
        </p:spPr>
      </p:sp>
      <p:sp>
        <p:nvSpPr>
          <p:cNvPr id="16" name="Shape 14"/>
          <p:cNvSpPr/>
          <p:nvPr/>
        </p:nvSpPr>
        <p:spPr>
          <a:xfrm>
            <a:off x="1819656" y="6355080"/>
            <a:ext cx="128016" cy="128016"/>
          </a:xfrm>
          <a:prstGeom prst="ellipse">
            <a:avLst/>
          </a:prstGeom>
          <a:solidFill>
            <a:srgbClr val="8A5510"/>
          </a:solidFill>
          <a:ln/>
        </p:spPr>
      </p:sp>
      <p:sp>
        <p:nvSpPr>
          <p:cNvPr id="17" name="Shape 15"/>
          <p:cNvSpPr/>
          <p:nvPr/>
        </p:nvSpPr>
        <p:spPr>
          <a:xfrm>
            <a:off x="2039112" y="6355080"/>
            <a:ext cx="128016" cy="128016"/>
          </a:xfrm>
          <a:prstGeom prst="ellipse">
            <a:avLst/>
          </a:prstGeom>
          <a:solidFill>
            <a:srgbClr val="A1770A"/>
          </a:solidFill>
          <a:ln/>
        </p:spPr>
      </p:sp>
      <p:sp>
        <p:nvSpPr>
          <p:cNvPr id="18" name="Text 16"/>
          <p:cNvSpPr/>
          <p:nvPr/>
        </p:nvSpPr>
        <p:spPr>
          <a:xfrm>
            <a:off x="8485632" y="6291072"/>
            <a:ext cx="3200400" cy="274320"/>
          </a:xfrm>
          <a:prstGeom prst="rect">
            <a:avLst/>
          </a:prstGeom>
          <a:noFill/>
          <a:ln/>
        </p:spPr>
        <p:txBody>
          <a:bodyPr wrap="square" lIns="0" tIns="0" rIns="0" bIns="0" rtlCol="0" anchor="ctr"/>
          <a:lstStyle/>
          <a:p>
            <a:pPr algn="r" indent="0" marL="0">
              <a:buNone/>
            </a:pPr>
            <a:r>
              <a:rPr lang="en-US" sz="900" dirty="0">
                <a:solidFill>
                  <a:srgbClr val="8B8779"/>
                </a:solidFill>
                <a:latin typeface="Calibri" pitchFamily="34" charset="0"/>
                <a:ea typeface="Calibri" pitchFamily="34" charset="-122"/>
                <a:cs typeface="Calibri" pitchFamily="34" charset="-120"/>
              </a:rPr>
              <a:t>A pie de mostrador · n=8 · Julio 2026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02920" y="256032"/>
            <a:ext cx="5486400" cy="320040"/>
          </a:xfrm>
          <a:prstGeom prst="rect">
            <a:avLst/>
          </a:prstGeom>
          <a:noFill/>
          <a:ln/>
        </p:spPr>
        <p:txBody>
          <a:bodyPr wrap="square" lIns="0" tIns="0" rIns="0" bIns="0" rtlCol="0" anchor="ctr"/>
          <a:lstStyle/>
          <a:p>
            <a:pPr indent="0" marL="0">
              <a:buNone/>
            </a:pPr>
            <a:r>
              <a:rPr lang="en-US" sz="12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200" dirty="0">
                <a:solidFill>
                  <a:srgbClr val="8B8779"/>
                </a:solidFill>
                <a:latin typeface="Trebuchet MS" pitchFamily="34" charset="0"/>
                <a:ea typeface="Trebuchet MS" pitchFamily="34" charset="-122"/>
                <a:cs typeface="Trebuchet MS" pitchFamily="34" charset="-120"/>
              </a:rPr>
              <a:t>  ·  primer vistazo</a:t>
            </a:r>
            <a:endParaRPr lang="en-US" sz="1200" dirty="0"/>
          </a:p>
        </p:txBody>
      </p:sp>
      <p:sp>
        <p:nvSpPr>
          <p:cNvPr id="3" name="Shape 1"/>
          <p:cNvSpPr/>
          <p:nvPr/>
        </p:nvSpPr>
        <p:spPr>
          <a:xfrm>
            <a:off x="502920" y="868680"/>
            <a:ext cx="11183112" cy="2834640"/>
          </a:xfrm>
          <a:prstGeom prst="roundRect">
            <a:avLst>
              <a:gd name="adj" fmla="val 2581"/>
            </a:avLst>
          </a:prstGeom>
          <a:solidFill>
            <a:srgbClr val="E3EDE6"/>
          </a:solidFill>
          <a:ln w="12700">
            <a:solidFill>
              <a:srgbClr val="E3DCC9"/>
            </a:solidFill>
            <a:prstDash val="solid"/>
          </a:ln>
        </p:spPr>
      </p:sp>
      <p:sp>
        <p:nvSpPr>
          <p:cNvPr id="4" name="Text 2"/>
          <p:cNvSpPr/>
          <p:nvPr/>
        </p:nvSpPr>
        <p:spPr>
          <a:xfrm>
            <a:off x="868680" y="1097280"/>
            <a:ext cx="10424160" cy="548640"/>
          </a:xfrm>
          <a:prstGeom prst="rect">
            <a:avLst/>
          </a:prstGeom>
          <a:noFill/>
          <a:ln/>
        </p:spPr>
        <p:txBody>
          <a:bodyPr wrap="square" lIns="0" tIns="0" rIns="0" bIns="0" rtlCol="0" anchor="ctr"/>
          <a:lstStyle/>
          <a:p>
            <a:pPr indent="0" marL="0">
              <a:buNone/>
            </a:pPr>
            <a:r>
              <a:rPr lang="en-US" sz="2800" b="1" dirty="0">
                <a:solidFill>
                  <a:srgbClr val="26251F"/>
                </a:solidFill>
                <a:latin typeface="Trebuchet MS" pitchFamily="34" charset="0"/>
                <a:ea typeface="Trebuchet MS" pitchFamily="34" charset="-122"/>
                <a:cs typeface="Trebuchet MS" pitchFamily="34" charset="-120"/>
              </a:rPr>
              <a:t>¿Tienes una tienda? Queremos escucharte</a:t>
            </a:r>
            <a:endParaRPr lang="en-US" sz="2800" dirty="0"/>
          </a:p>
        </p:txBody>
      </p:sp>
      <p:sp>
        <p:nvSpPr>
          <p:cNvPr id="5" name="Text 3"/>
          <p:cNvSpPr/>
          <p:nvPr/>
        </p:nvSpPr>
        <p:spPr>
          <a:xfrm>
            <a:off x="868680" y="1691640"/>
            <a:ext cx="10241280" cy="685800"/>
          </a:xfrm>
          <a:prstGeom prst="rect">
            <a:avLst/>
          </a:prstGeom>
          <a:noFill/>
          <a:ln/>
        </p:spPr>
        <p:txBody>
          <a:bodyPr wrap="square" lIns="0" tIns="0" rIns="0" bIns="0" rtlCol="0" anchor="ctr"/>
          <a:lstStyle/>
          <a:p>
            <a:pPr indent="0" marL="0">
              <a:lnSpc>
                <a:spcPct val="112000"/>
              </a:lnSpc>
              <a:buNone/>
            </a:pPr>
            <a:r>
              <a:rPr lang="en-US" sz="1500" dirty="0">
                <a:solidFill>
                  <a:srgbClr val="5B584C"/>
                </a:solidFill>
                <a:latin typeface="Calibri" pitchFamily="34" charset="0"/>
                <a:ea typeface="Calibri" pitchFamily="34" charset="-122"/>
                <a:cs typeface="Calibri" pitchFamily="34" charset="-120"/>
              </a:rPr>
              <a:t>25 minutos, en tu tienda, sin pitch y sin compromiso. Si algo de esto te sonó (o crees que tu caso lo contradice, todavía mejor), tu experiencia entra en la siguiente edición.</a:t>
            </a:r>
            <a:endParaRPr lang="en-US" sz="1500" dirty="0"/>
          </a:p>
        </p:txBody>
      </p:sp>
      <p:sp>
        <p:nvSpPr>
          <p:cNvPr id="6" name="Text 4"/>
          <p:cNvSpPr/>
          <p:nvPr/>
        </p:nvSpPr>
        <p:spPr>
          <a:xfrm>
            <a:off x="868680" y="2606040"/>
            <a:ext cx="10241280" cy="457200"/>
          </a:xfrm>
          <a:prstGeom prst="rect">
            <a:avLst/>
          </a:prstGeom>
          <a:noFill/>
          <a:ln/>
        </p:spPr>
        <p:txBody>
          <a:bodyPr wrap="square" lIns="0" tIns="0" rIns="0" bIns="0" rtlCol="0" anchor="ctr"/>
          <a:lstStyle/>
          <a:p>
            <a:pPr indent="0" marL="0">
              <a:buNone/>
            </a:pPr>
            <a:r>
              <a:rPr lang="en-US" sz="1700" b="1" dirty="0">
                <a:solidFill>
                  <a:srgbClr val="1E6B4F"/>
                </a:solidFill>
                <a:latin typeface="Calibri" pitchFamily="34" charset="0"/>
                <a:ea typeface="Calibri" pitchFamily="34" charset="-122"/>
                <a:cs typeface="Calibri" pitchFamily="34" charset="-120"/>
              </a:rPr>
              <a:t>chpmoreno@gmail.com</a:t>
            </a:r>
            <a:pPr indent="0" marL="0">
              <a:buNone/>
            </a:pPr>
            <a:r>
              <a:rPr lang="en-US" sz="1400" dirty="0">
                <a:solidFill>
                  <a:srgbClr val="5B584C"/>
                </a:solidFill>
                <a:latin typeface="Calibri" pitchFamily="34" charset="0"/>
                <a:ea typeface="Calibri" pitchFamily="34" charset="-122"/>
                <a:cs typeface="Calibri" pitchFamily="34" charset="-120"/>
              </a:rPr>
              <a:t>      chpmoreno.github.io/apiedemostrador</a:t>
            </a:r>
            <a:endParaRPr lang="en-US" sz="1700" dirty="0"/>
          </a:p>
        </p:txBody>
      </p:sp>
      <p:sp>
        <p:nvSpPr>
          <p:cNvPr id="7" name="Text 5"/>
          <p:cNvSpPr/>
          <p:nvPr/>
        </p:nvSpPr>
        <p:spPr>
          <a:xfrm>
            <a:off x="502920" y="4069080"/>
            <a:ext cx="7315200" cy="320040"/>
          </a:xfrm>
          <a:prstGeom prst="rect">
            <a:avLst/>
          </a:prstGeom>
          <a:noFill/>
          <a:ln/>
        </p:spPr>
        <p:txBody>
          <a:bodyPr wrap="square" lIns="0" tIns="0" rIns="0" bIns="0" rtlCol="0" anchor="ctr"/>
          <a:lstStyle/>
          <a:p>
            <a:pPr indent="0" marL="0">
              <a:buNone/>
            </a:pPr>
            <a:r>
              <a:rPr lang="en-US" sz="1200" b="1" spc="200" kern="0" dirty="0">
                <a:solidFill>
                  <a:srgbClr val="8B8779"/>
                </a:solidFill>
                <a:latin typeface="Trebuchet MS" pitchFamily="34" charset="0"/>
                <a:ea typeface="Trebuchet MS" pitchFamily="34" charset="-122"/>
                <a:cs typeface="Trebuchet MS" pitchFamily="34" charset="-120"/>
              </a:rPr>
              <a:t>TRES PREGUNTAS PARA LLEVARTE</a:t>
            </a:r>
            <a:endParaRPr lang="en-US" sz="1200" dirty="0"/>
          </a:p>
        </p:txBody>
      </p:sp>
      <p:sp>
        <p:nvSpPr>
          <p:cNvPr id="8" name="Shape 6"/>
          <p:cNvSpPr/>
          <p:nvPr/>
        </p:nvSpPr>
        <p:spPr>
          <a:xfrm>
            <a:off x="502920" y="4507992"/>
            <a:ext cx="347472" cy="347472"/>
          </a:xfrm>
          <a:prstGeom prst="ellipse">
            <a:avLst/>
          </a:prstGeom>
          <a:solidFill>
            <a:srgbClr val="1E6B4F"/>
          </a:solidFill>
          <a:ln/>
        </p:spPr>
      </p:sp>
      <p:sp>
        <p:nvSpPr>
          <p:cNvPr id="9" name="Text 7"/>
          <p:cNvSpPr/>
          <p:nvPr/>
        </p:nvSpPr>
        <p:spPr>
          <a:xfrm>
            <a:off x="502920" y="450799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1</a:t>
            </a:r>
            <a:endParaRPr lang="en-US" sz="1400" dirty="0"/>
          </a:p>
        </p:txBody>
      </p:sp>
      <p:sp>
        <p:nvSpPr>
          <p:cNvPr id="10" name="Text 8"/>
          <p:cNvSpPr/>
          <p:nvPr/>
        </p:nvSpPr>
        <p:spPr>
          <a:xfrm>
            <a:off x="1005840" y="4480560"/>
            <a:ext cx="10058400" cy="457200"/>
          </a:xfrm>
          <a:prstGeom prst="rect">
            <a:avLst/>
          </a:prstGeom>
          <a:noFill/>
          <a:ln/>
        </p:spPr>
        <p:txBody>
          <a:bodyPr wrap="square" lIns="0" tIns="0" rIns="0" bIns="0" rtlCol="0" anchor="ctr"/>
          <a:lstStyle/>
          <a:p>
            <a:pPr indent="0" marL="0">
              <a:buNone/>
            </a:pPr>
            <a:r>
              <a:rPr lang="en-US" sz="1500" dirty="0">
                <a:solidFill>
                  <a:srgbClr val="26251F"/>
                </a:solidFill>
                <a:latin typeface="Calibri" pitchFamily="34" charset="0"/>
                <a:ea typeface="Calibri" pitchFamily="34" charset="-122"/>
                <a:cs typeface="Calibri" pitchFamily="34" charset="-120"/>
              </a:rPr>
              <a:t>¿Qué trabajo de tu tienda solo ocurre porque tú lo recuerdas?</a:t>
            </a:r>
            <a:endParaRPr lang="en-US" sz="1500" dirty="0"/>
          </a:p>
        </p:txBody>
      </p:sp>
      <p:sp>
        <p:nvSpPr>
          <p:cNvPr id="11" name="Shape 9"/>
          <p:cNvSpPr/>
          <p:nvPr/>
        </p:nvSpPr>
        <p:spPr>
          <a:xfrm>
            <a:off x="502920" y="5074920"/>
            <a:ext cx="347472" cy="347472"/>
          </a:xfrm>
          <a:prstGeom prst="ellipse">
            <a:avLst/>
          </a:prstGeom>
          <a:solidFill>
            <a:srgbClr val="1E6B4F"/>
          </a:solidFill>
          <a:ln/>
        </p:spPr>
      </p:sp>
      <p:sp>
        <p:nvSpPr>
          <p:cNvPr id="12" name="Text 10"/>
          <p:cNvSpPr/>
          <p:nvPr/>
        </p:nvSpPr>
        <p:spPr>
          <a:xfrm>
            <a:off x="502920" y="507492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2</a:t>
            </a:r>
            <a:endParaRPr lang="en-US" sz="1400" dirty="0"/>
          </a:p>
        </p:txBody>
      </p:sp>
      <p:sp>
        <p:nvSpPr>
          <p:cNvPr id="13" name="Text 11"/>
          <p:cNvSpPr/>
          <p:nvPr/>
        </p:nvSpPr>
        <p:spPr>
          <a:xfrm>
            <a:off x="1005840" y="5047488"/>
            <a:ext cx="10058400" cy="457200"/>
          </a:xfrm>
          <a:prstGeom prst="rect">
            <a:avLst/>
          </a:prstGeom>
          <a:noFill/>
          <a:ln/>
        </p:spPr>
        <p:txBody>
          <a:bodyPr wrap="square" lIns="0" tIns="0" rIns="0" bIns="0" rtlCol="0" anchor="ctr"/>
          <a:lstStyle/>
          <a:p>
            <a:pPr indent="0" marL="0">
              <a:buNone/>
            </a:pPr>
            <a:r>
              <a:rPr lang="en-US" sz="1500" dirty="0">
                <a:solidFill>
                  <a:srgbClr val="26251F"/>
                </a:solidFill>
                <a:latin typeface="Calibri" pitchFamily="34" charset="0"/>
                <a:ea typeface="Calibri" pitchFamily="34" charset="-122"/>
                <a:cs typeface="Calibri" pitchFamily="34" charset="-120"/>
              </a:rPr>
              <a:t>¿Cuándo fue la última vez que un dato te cambió una decisión de verdad?</a:t>
            </a:r>
            <a:endParaRPr lang="en-US" sz="1500" dirty="0"/>
          </a:p>
        </p:txBody>
      </p:sp>
      <p:sp>
        <p:nvSpPr>
          <p:cNvPr id="14" name="Shape 12"/>
          <p:cNvSpPr/>
          <p:nvPr/>
        </p:nvSpPr>
        <p:spPr>
          <a:xfrm>
            <a:off x="502920" y="5641848"/>
            <a:ext cx="347472" cy="347472"/>
          </a:xfrm>
          <a:prstGeom prst="ellipse">
            <a:avLst/>
          </a:prstGeom>
          <a:solidFill>
            <a:srgbClr val="1E6B4F"/>
          </a:solidFill>
          <a:ln/>
        </p:spPr>
      </p:sp>
      <p:sp>
        <p:nvSpPr>
          <p:cNvPr id="15" name="Text 13"/>
          <p:cNvSpPr/>
          <p:nvPr/>
        </p:nvSpPr>
        <p:spPr>
          <a:xfrm>
            <a:off x="502920" y="564184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3</a:t>
            </a:r>
            <a:endParaRPr lang="en-US" sz="1400" dirty="0"/>
          </a:p>
        </p:txBody>
      </p:sp>
      <p:sp>
        <p:nvSpPr>
          <p:cNvPr id="16" name="Text 14"/>
          <p:cNvSpPr/>
          <p:nvPr/>
        </p:nvSpPr>
        <p:spPr>
          <a:xfrm>
            <a:off x="1005840" y="5614416"/>
            <a:ext cx="10058400" cy="457200"/>
          </a:xfrm>
          <a:prstGeom prst="rect">
            <a:avLst/>
          </a:prstGeom>
          <a:noFill/>
          <a:ln/>
        </p:spPr>
        <p:txBody>
          <a:bodyPr wrap="square" lIns="0" tIns="0" rIns="0" bIns="0" rtlCol="0" anchor="ctr"/>
          <a:lstStyle/>
          <a:p>
            <a:pPr indent="0" marL="0">
              <a:buNone/>
            </a:pPr>
            <a:r>
              <a:rPr lang="en-US" sz="1500" dirty="0">
                <a:solidFill>
                  <a:srgbClr val="26251F"/>
                </a:solidFill>
                <a:latin typeface="Calibri" pitchFamily="34" charset="0"/>
                <a:ea typeface="Calibri" pitchFamily="34" charset="-122"/>
                <a:cs typeface="Calibri" pitchFamily="34" charset="-120"/>
              </a:rPr>
              <a:t>¿Qué se te ha vuelto más difícil por una norma nueva, una herramienta o un proveedor?</a:t>
            </a:r>
            <a:endParaRPr lang="en-US" sz="1500" dirty="0"/>
          </a:p>
        </p:txBody>
      </p:sp>
      <p:sp>
        <p:nvSpPr>
          <p:cNvPr id="17" name="Shape 15"/>
          <p:cNvSpPr/>
          <p:nvPr/>
        </p:nvSpPr>
        <p:spPr>
          <a:xfrm>
            <a:off x="502920" y="6355080"/>
            <a:ext cx="128016" cy="128016"/>
          </a:xfrm>
          <a:prstGeom prst="ellipse">
            <a:avLst/>
          </a:prstGeom>
          <a:solidFill>
            <a:srgbClr val="2E8B4A"/>
          </a:solidFill>
          <a:ln/>
        </p:spPr>
      </p:sp>
      <p:sp>
        <p:nvSpPr>
          <p:cNvPr id="18" name="Shape 16"/>
          <p:cNvSpPr/>
          <p:nvPr/>
        </p:nvSpPr>
        <p:spPr>
          <a:xfrm>
            <a:off x="722376" y="6355080"/>
            <a:ext cx="128016" cy="128016"/>
          </a:xfrm>
          <a:prstGeom prst="ellipse">
            <a:avLst/>
          </a:prstGeom>
          <a:solidFill>
            <a:srgbClr val="3E63A8"/>
          </a:solidFill>
          <a:ln/>
        </p:spPr>
      </p:sp>
      <p:sp>
        <p:nvSpPr>
          <p:cNvPr id="19" name="Shape 17"/>
          <p:cNvSpPr/>
          <p:nvPr/>
        </p:nvSpPr>
        <p:spPr>
          <a:xfrm>
            <a:off x="941832" y="6355080"/>
            <a:ext cx="128016" cy="128016"/>
          </a:xfrm>
          <a:prstGeom prst="ellipse">
            <a:avLst/>
          </a:prstGeom>
          <a:solidFill>
            <a:srgbClr val="C4707E"/>
          </a:solidFill>
          <a:ln/>
        </p:spPr>
      </p:sp>
      <p:sp>
        <p:nvSpPr>
          <p:cNvPr id="20" name="Shape 18"/>
          <p:cNvSpPr/>
          <p:nvPr/>
        </p:nvSpPr>
        <p:spPr>
          <a:xfrm>
            <a:off x="1161288" y="6355080"/>
            <a:ext cx="128016" cy="128016"/>
          </a:xfrm>
          <a:prstGeom prst="ellipse">
            <a:avLst/>
          </a:prstGeom>
          <a:solidFill>
            <a:srgbClr val="0A86A8"/>
          </a:solidFill>
          <a:ln/>
        </p:spPr>
      </p:sp>
      <p:sp>
        <p:nvSpPr>
          <p:cNvPr id="21" name="Shape 19"/>
          <p:cNvSpPr/>
          <p:nvPr/>
        </p:nvSpPr>
        <p:spPr>
          <a:xfrm>
            <a:off x="1380744" y="6355080"/>
            <a:ext cx="128016" cy="128016"/>
          </a:xfrm>
          <a:prstGeom prst="ellipse">
            <a:avLst/>
          </a:prstGeom>
          <a:solidFill>
            <a:srgbClr val="6F8A1A"/>
          </a:solidFill>
          <a:ln/>
        </p:spPr>
      </p:sp>
      <p:sp>
        <p:nvSpPr>
          <p:cNvPr id="22" name="Shape 20"/>
          <p:cNvSpPr/>
          <p:nvPr/>
        </p:nvSpPr>
        <p:spPr>
          <a:xfrm>
            <a:off x="1600200" y="6355080"/>
            <a:ext cx="128016" cy="128016"/>
          </a:xfrm>
          <a:prstGeom prst="ellipse">
            <a:avLst/>
          </a:prstGeom>
          <a:solidFill>
            <a:srgbClr val="C04141"/>
          </a:solidFill>
          <a:ln/>
        </p:spPr>
      </p:sp>
      <p:sp>
        <p:nvSpPr>
          <p:cNvPr id="23" name="Shape 21"/>
          <p:cNvSpPr/>
          <p:nvPr/>
        </p:nvSpPr>
        <p:spPr>
          <a:xfrm>
            <a:off x="1819656" y="6355080"/>
            <a:ext cx="128016" cy="128016"/>
          </a:xfrm>
          <a:prstGeom prst="ellipse">
            <a:avLst/>
          </a:prstGeom>
          <a:solidFill>
            <a:srgbClr val="8A5510"/>
          </a:solidFill>
          <a:ln/>
        </p:spPr>
      </p:sp>
      <p:sp>
        <p:nvSpPr>
          <p:cNvPr id="24" name="Shape 22"/>
          <p:cNvSpPr/>
          <p:nvPr/>
        </p:nvSpPr>
        <p:spPr>
          <a:xfrm>
            <a:off x="2039112" y="6355080"/>
            <a:ext cx="128016" cy="128016"/>
          </a:xfrm>
          <a:prstGeom prst="ellipse">
            <a:avLst/>
          </a:prstGeom>
          <a:solidFill>
            <a:srgbClr val="A1770A"/>
          </a:solidFill>
          <a:ln/>
        </p:spPr>
      </p:sp>
      <p:sp>
        <p:nvSpPr>
          <p:cNvPr id="25" name="Text 23"/>
          <p:cNvSpPr/>
          <p:nvPr/>
        </p:nvSpPr>
        <p:spPr>
          <a:xfrm>
            <a:off x="6656832" y="6291072"/>
            <a:ext cx="5029200" cy="274320"/>
          </a:xfrm>
          <a:prstGeom prst="rect">
            <a:avLst/>
          </a:prstGeom>
          <a:noFill/>
          <a:ln/>
        </p:spPr>
        <p:txBody>
          <a:bodyPr wrap="square" lIns="0" tIns="0" rIns="0" bIns="0" rtlCol="0" anchor="ctr"/>
          <a:lstStyle/>
          <a:p>
            <a:pPr algn="r" indent="0" marL="0">
              <a:buNone/>
            </a:pPr>
            <a:r>
              <a:rPr lang="en-US" sz="900" dirty="0">
                <a:solidFill>
                  <a:srgbClr val="8B8779"/>
                </a:solidFill>
                <a:latin typeface="Calibri" pitchFamily="34" charset="0"/>
                <a:ea typeface="Calibri" pitchFamily="34" charset="-122"/>
                <a:cs typeface="Calibri" pitchFamily="34" charset="-120"/>
              </a:rPr>
              <a:t>A pie de mostrador · Edición 1 · n=8 · Julio 2026 · Investigación independiente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pie de mostrador — Primer vistazo (n=8)</dc:title>
  <dc:subject>PptxGenJS Presentation</dc:subject>
  <dc:creator>José · A pie de mostrador</dc:creator>
  <cp:lastModifiedBy>José · A pie de mostrador</cp:lastModifiedBy>
  <cp:revision>1</cp:revision>
  <dcterms:created xsi:type="dcterms:W3CDTF">2026-07-11T13:36:54Z</dcterms:created>
  <dcterms:modified xsi:type="dcterms:W3CDTF">2026-07-11T13:36:54Z</dcterms:modified>
</cp:coreProperties>
</file>