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db78daf34648f9" /><Relationship Type="http://schemas.openxmlformats.org/officeDocument/2006/relationships/extended-properties" Target="/docProps/app.xml" Id="Rcd810bd4abc94e23" /><Relationship Type="http://schemas.openxmlformats.org/officeDocument/2006/relationships/officeDocument" Target="/ppt/presentation.xml" Id="Ra5a66b77a3184d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83edc17ea4182"/>
  </p:sldMasterIdLst>
  <p:notesMasterIdLst>
    <p:notesMasterId xmlns:r="http://schemas.openxmlformats.org/officeDocument/2006/relationships" r:id="R64efcf899ef74493"/>
  </p:notesMasterIdLst>
  <p:sldIdLst>
    <p:sldId xmlns:r="http://schemas.openxmlformats.org/officeDocument/2006/relationships" id="256" r:id="Rbe4f883ad99e4b14"/>
    <p:sldId xmlns:r="http://schemas.openxmlformats.org/officeDocument/2006/relationships" id="257" r:id="R1befb97ec0c943a1"/>
    <p:sldId xmlns:r="http://schemas.openxmlformats.org/officeDocument/2006/relationships" id="258" r:id="R9f71c0dbe85b42a9"/>
    <p:sldId xmlns:r="http://schemas.openxmlformats.org/officeDocument/2006/relationships" id="259" r:id="R8425f78e5cc64645"/>
    <p:sldId xmlns:r="http://schemas.openxmlformats.org/officeDocument/2006/relationships" id="260" r:id="R0e8a1c0f2e054c62"/>
    <p:sldId xmlns:r="http://schemas.openxmlformats.org/officeDocument/2006/relationships" id="261" r:id="R0c29af8592504ac5"/>
    <p:sldId xmlns:r="http://schemas.openxmlformats.org/officeDocument/2006/relationships" id="262" r:id="Rf6d1cbc5c95d49a8"/>
    <p:sldId xmlns:r="http://schemas.openxmlformats.org/officeDocument/2006/relationships" id="263" r:id="R6cb0aa772a3741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95ee822a646ab" /><Relationship Type="http://schemas.openxmlformats.org/officeDocument/2006/relationships/slideMaster" Target="/ppt/slideMasters/slideMaster1.xml" Id="R59483edc17ea4182" /><Relationship Type="http://schemas.openxmlformats.org/officeDocument/2006/relationships/notesMaster" Target="/ppt/notesMasters/notesMaster1.xml" Id="R64efcf899ef74493" /><Relationship Type="http://schemas.openxmlformats.org/officeDocument/2006/relationships/presProps" Target="/ppt/presProps.xml" Id="R52a5d759b22f4aa0" /><Relationship Type="http://schemas.openxmlformats.org/officeDocument/2006/relationships/viewProps" Target="/ppt/viewProps.xml" Id="Rbda6ea739cb24cfb" /><Relationship Type="http://schemas.openxmlformats.org/officeDocument/2006/relationships/tableStyles" Target="/ppt/tableStyles.xml" Id="R511ba79338694c35" /><Relationship Type="http://schemas.openxmlformats.org/officeDocument/2006/relationships/slide" Target="/ppt/slides/slide1.xml" Id="Rbe4f883ad99e4b14" /><Relationship Type="http://schemas.openxmlformats.org/officeDocument/2006/relationships/slide" Target="/ppt/slides/slide2.xml" Id="R1befb97ec0c943a1" /><Relationship Type="http://schemas.openxmlformats.org/officeDocument/2006/relationships/slide" Target="/ppt/slides/slide3.xml" Id="R9f71c0dbe85b42a9" /><Relationship Type="http://schemas.openxmlformats.org/officeDocument/2006/relationships/slide" Target="/ppt/slides/slide4.xml" Id="R8425f78e5cc64645" /><Relationship Type="http://schemas.openxmlformats.org/officeDocument/2006/relationships/slide" Target="/ppt/slides/slide5.xml" Id="R0e8a1c0f2e054c62" /><Relationship Type="http://schemas.openxmlformats.org/officeDocument/2006/relationships/slide" Target="/ppt/slides/slide6.xml" Id="R0c29af8592504ac5" /><Relationship Type="http://schemas.openxmlformats.org/officeDocument/2006/relationships/slide" Target="/ppt/slides/slide7.xml" Id="Rf6d1cbc5c95d49a8" /><Relationship Type="http://schemas.openxmlformats.org/officeDocument/2006/relationships/slide" Target="/ppt/slides/slide8.xml" Id="R6cb0aa772a37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4e3d3bcbf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89b412aca400d" /><Relationship Type="http://schemas.openxmlformats.org/officeDocument/2006/relationships/notesMaster" Target="/ppt/notesMasters/notesMaster1.xml" Id="Rdd1435ebe935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529973f534aa2" /><Relationship Type="http://schemas.openxmlformats.org/officeDocument/2006/relationships/notesMaster" Target="/ppt/notesMasters/notesMaster1.xml" Id="Rdb76ccd05b36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9326d9b4d41ab" /><Relationship Type="http://schemas.openxmlformats.org/officeDocument/2006/relationships/notesMaster" Target="/ppt/notesMasters/notesMaster1.xml" Id="Rde8e8f8d7c0f46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6b2fa9d254fe1" /><Relationship Type="http://schemas.openxmlformats.org/officeDocument/2006/relationships/notesMaster" Target="/ppt/notesMasters/notesMaster1.xml" Id="R94ea95865150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60d165c2a4eb6" /><Relationship Type="http://schemas.openxmlformats.org/officeDocument/2006/relationships/notesMaster" Target="/ppt/notesMasters/notesMaster1.xml" Id="R0de5a3430b36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13aa405d624ed9" /><Relationship Type="http://schemas.openxmlformats.org/officeDocument/2006/relationships/notesMaster" Target="/ppt/notesMasters/notesMaster1.xml" Id="R3cd79437fc78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45d0b5754e4fee" /><Relationship Type="http://schemas.openxmlformats.org/officeDocument/2006/relationships/notesMaster" Target="/ppt/notesMasters/notesMaster1.xml" Id="Rc44cfb9809b142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d152e4d0a84719" /><Relationship Type="http://schemas.openxmlformats.org/officeDocument/2006/relationships/notesMaster" Target="/ppt/notesMasters/notesMaster1.xml" Id="Reecf4722c9fd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Serie: A pie de mostrador. Primer vistazo público de la investigación de escucha a comercios de barrio en Barcelona, n=8, mayo-julio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Transparencia sin autocrítica: mirada direccional, hipótesis, citas literales. Es la sección que genera confianza.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muestra: 8 comercios, categorías y tamaños muy distintos. Anonimizados por categoría; los colores son el guiño de identidad.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y llamada a la acción: conversaciones de 25 minutos; la persona deja email o teléfono en el formulario de la web y José da el siguiente paso. Las tres preguntas son el gancho reflexivo.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f6478143e43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4549749b084005" /><Relationship Type="http://schemas.openxmlformats.org/officeDocument/2006/relationships/slideLayout" Target="/ppt/slideLayouts/slideLayout1.xml" Id="R2fd12d0c22e34f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12d0c22e34ffa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6a17abe3a4b12" /><Relationship Type="http://schemas.openxmlformats.org/officeDocument/2006/relationships/notesSlide" Target="/ppt/notesSlides/notesSlide1.xml" Id="R6a17979def43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eacc25bab4222" /><Relationship Type="http://schemas.openxmlformats.org/officeDocument/2006/relationships/notesSlide" Target="/ppt/notesSlides/notesSlide2.xml" Id="R5bd806b66e41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d6c7fd358470e" /><Relationship Type="http://schemas.openxmlformats.org/officeDocument/2006/relationships/notesSlide" Target="/ppt/notesSlides/notesSlide3.xml" Id="R662f1fed016944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0bd0a7ac84c10" /><Relationship Type="http://schemas.openxmlformats.org/officeDocument/2006/relationships/notesSlide" Target="/ppt/notesSlides/notesSlide4.xml" Id="Rbd6cc9595adb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4acc467ae4d6b" /><Relationship Type="http://schemas.openxmlformats.org/officeDocument/2006/relationships/notesSlide" Target="/ppt/notesSlides/notesSlide5.xml" Id="Re7b15cfa831842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bdd06f9e46d7" /><Relationship Type="http://schemas.openxmlformats.org/officeDocument/2006/relationships/notesSlide" Target="/ppt/notesSlides/notesSlide6.xml" Id="Rb4f5e36c01a34a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c77761d84bdd" /><Relationship Type="http://schemas.openxmlformats.org/officeDocument/2006/relationships/notesSlide" Target="/ppt/notesSlides/notesSlide7.xml" Id="Rb52febb52122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37de93ae4347" /><Relationship Type="http://schemas.openxmlformats.org/officeDocument/2006/relationships/hyperlink" Target="https://chpmoreno.github.io/apiedemostrador/" TargetMode="External" Id="R85e5043880f64291" /><Relationship Type="http://schemas.openxmlformats.org/officeDocument/2006/relationships/notesSlide" Target="/ppt/notesSlides/notesSlide8.xml" Id="Rde6701ba2384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FA9B62-B8C8-4FDE-ADDA-F1F7A640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FA3C4F0-C0DB-4D7F-A55B-D548A3E3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619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4D49A86-8C2B-4F41-9AC7-5BB04F6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238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6EA6F87-F2E8-4413-90BC-BDA5FFCB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57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65324E5-BB19-4276-94EE-0CD472BB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90420B7-B6B3-492D-8A0E-DB64B30D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95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E44FD1A-C5FF-4A40-9D7E-A04F021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714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2F3B74E-3A27-48F1-9480-902DE29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333" y="0"/>
            <a:ext cx="76181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EC274B7-49BC-4BEE-A3BB-D2BC116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721726-6325-42B9-9C87-90D3C411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8 ENTREVISTAS · BARCELONA Y SANTA COLOMA · MAYO–JULIO 2026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51CA28-F532-436D-9301-E06D418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0607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4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A pie de mostrador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700496-6CCE-452C-92A9-9AF8940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Ocho comercios explican dónde se concentra el trabajo invisible de llevar una tienda. Hallazgos direccionales de una muestra pequeña.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A38B96-1225-4B0C-B81A-EE7CC83E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9240"/>
            <a:ext cx="2697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11906">
            <a:solidFill>
              <a:srgbClr val="2E8B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F875DD4-8E7B-41A3-A697-F6280DF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924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8 entrevistas presenciales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23A28C-84F5-44D8-BC4C-96D8DC02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49240"/>
            <a:ext cx="2697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AF5"/>
          </a:solidFill>
          <a:ln xmlns:a="http://schemas.openxmlformats.org/drawingml/2006/main" w="11906">
            <a:solidFill>
              <a:srgbClr val="3E63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1BB5A3F-AA2E-49B8-9B78-C3D8DB3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4924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Barcelona + Santa Coloma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C80D045-7F4D-4E6F-B14B-756F56BD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49240"/>
            <a:ext cx="2697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3E6"/>
          </a:solidFill>
          <a:ln xmlns:a="http://schemas.openxmlformats.org/drawingml/2006/main" w="11906">
            <a:solidFill>
              <a:srgbClr val="C4707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6053E13-3AF1-4D5E-8E00-F25AAB0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4924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mayo–julio de 2026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501196A-2EC5-47C0-B2F1-33C5CB6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349240"/>
            <a:ext cx="2697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9D6"/>
          </a:solidFill>
          <a:ln xmlns:a="http://schemas.openxmlformats.org/drawingml/2006/main" w="11906">
            <a:solidFill>
              <a:srgbClr val="A1770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C003C31-0685-42CC-9FF7-66297BC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34924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José · investigación independiente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2258C51-9C61-435B-B7E3-ED0C815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501DBF5-5178-4821-AA00-0F968AD4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FAFE2EC-E887-4870-BA2B-DFF2E51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EBC2CD3-7619-4E65-8AD5-34A1A4B7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8806441-3EA3-4912-B45F-F2CC42C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A594513-A4D7-490C-BE0E-8A12957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B13DFF5-8333-47EE-8E7F-AB0645D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FF05A78-01F7-4FA6-9053-02ACBB0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62636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</p:spTree>
    <p:extLst>
      <p:ext uri="{BB962C8B-B14F-4D97-AF65-F5344CB8AC3E}">
        <p14:creationId xmlns:p14="http://schemas.microsoft.com/office/powerpoint/2010/main" val="1810193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855721-1A4D-46DC-A537-E97435E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6381B8-17A1-435C-ACB4-2ACAAC6A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La ausencia de tecnología no fue el problema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B4A418-5D95-4765-870B-9645961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3492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11906">
            <a:solidFill>
              <a:srgbClr val="2E8B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400FD0-8837-43E0-BAA7-8FF3640B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137CEB-2D78-4FFB-B368-10B7FAA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20240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Conocimiento y dependencia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4F0A72-6978-4739-98AE-F30492B1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3172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Precios, clientela y excepciones siguen concentrados en quien lleva la tienda.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5F5799B-96D6-4E2C-92DB-3C6FF14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3492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5EAF5"/>
          </a:solidFill>
          <a:ln xmlns:a="http://schemas.openxmlformats.org/drawingml/2006/main" w="11906">
            <a:solidFill>
              <a:srgbClr val="3E63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DA3BAA-E566-466A-B98B-09A623A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6B5FD9D-8309-4E52-B13E-4F70150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Inventario, márgenes y decisión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040C277-549C-4C87-B8BD-0B5B98A1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La base rara vez está del todo a la vista o se puede comprobar producto a producto.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8775641-E39B-446F-AB94-75B78D3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03320"/>
            <a:ext cx="53492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2F0F3"/>
          </a:solidFill>
          <a:ln xmlns:a="http://schemas.openxmlformats.org/drawingml/2006/main" w="11906">
            <a:solidFill>
              <a:srgbClr val="0A8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736DECA-C9DB-4C41-8871-91D0E1B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3F677CF-4877-43AE-8D1B-323C2247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31920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Proveedores, datos y coordinación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E3AE52-B40B-42A7-B656-9459CD5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34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La información llega por capas dispersas; convertirla en decisión exige tiempo y criterio.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4D3D9DE-2261-457B-A647-A3D9E78B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3320"/>
            <a:ext cx="53492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E3E6"/>
          </a:solidFill>
          <a:ln xmlns:a="http://schemas.openxmlformats.org/drawingml/2006/main" w="11906">
            <a:solidFill>
              <a:srgbClr val="C4707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7B5C5A5-7046-4AE9-B38A-758A17A2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19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F39BF0-0A68-4ACF-A2B5-7082091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31920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Herramientas, normativa y confianza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424141C-2EAE-4036-A1D3-CDDE471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3434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Una herramienta se queda cuando reduce trabajo visible y encaja en el flujo real.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7744D59-9F69-41E2-AF1A-2B29AD51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1500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La distancia entre herramientas disponibles y decisiones en contexto es la tensión transversal.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DF4A900-E03C-4A95-85DB-20DC240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99499B2-ADAC-47E3-97D8-B5D26E48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2594429-A453-4466-9CC2-4D1D09EF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74BDFD-6B5D-446F-9DD3-737FA2C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CC32FB3-BA05-4BB2-9D30-5AD2781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B66F978-7B08-4DE5-B35D-A37A858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D2B3BA9-81E3-4073-9DA3-0E08CCEB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D127D92-7634-40B0-80ED-D2C4013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</p:spTree>
    <p:extLst>
      <p:ext uri="{BB962C8B-B14F-4D97-AF65-F5344CB8AC3E}">
        <p14:creationId xmlns:p14="http://schemas.microsoft.com/office/powerpoint/2010/main" val="1275495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2B1F59-321A-48F0-BF9F-996DD5E7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87C220-2BFA-4C8B-A788-002BA58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Quiénes participaron y cómo leer el informe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07F981-D694-4ED8-AC1C-8FDA620A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9601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Ocho entrevistas presenciales y semiestructuradas, seleccionadas mediante redes de confianza. La muestra no representa al comercio local.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77B69B-181F-4A3C-8EA7-09AC1359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11906">
            <a:solidFill>
              <a:srgbClr val="2E8B4A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9BC97A1-F882-4570-892E-BB3B8F7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71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F46D8C-3D98-4FEE-AA89-F046017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Alimentación saludable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FC9385-09B6-4FCF-924D-81250BD2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1 persona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B32F82C-30BC-413B-AE03-C0BB4D90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28600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5EAF5"/>
          </a:solidFill>
          <a:ln xmlns:a="http://schemas.openxmlformats.org/drawingml/2006/main" w="11906">
            <a:solidFill>
              <a:srgbClr val="3E63A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53BEF1F-A771-4EE2-AB65-65FC300A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4871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DAEE4A-FB3B-45BA-BB50-401400F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4320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Confección y arreglos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8E80D3-B895-405D-9D38-D7F0AB24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33756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1 persona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3032FA-A39C-4F23-BD89-5273C4C9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28600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E3E6"/>
          </a:solidFill>
          <a:ln xmlns:a="http://schemas.openxmlformats.org/drawingml/2006/main" w="11906">
            <a:solidFill>
              <a:srgbClr val="C4707E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6276D5-9E16-4A07-BF77-FE9528A4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4871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17FC89-E729-4834-9D43-1F493C72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74320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Estética y belleza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F01B97-A2D9-47E2-AD28-A9C84636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1 persona + colaboradoras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73AA6EE-1502-470E-BEB0-EA0E8CEB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28600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2F0F3"/>
          </a:solidFill>
          <a:ln xmlns:a="http://schemas.openxmlformats.org/drawingml/2006/main" w="11906">
            <a:solidFill>
              <a:srgbClr val="0A86A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B1C87B3-135C-4823-88C8-5A84F63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4871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F3A39C-A603-4743-9CB8-81C63F28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74320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Cervecera artesana con tiendas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A02247C-4B15-41C6-8EA1-E241C8F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33756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~13 empleados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48DB50B-5419-4CA7-B77D-F7EC71FB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CF0DF"/>
          </a:solidFill>
          <a:ln xmlns:a="http://schemas.openxmlformats.org/drawingml/2006/main" w="11906">
            <a:solidFill>
              <a:srgbClr val="6F8A1A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59296DB-419B-47CC-B660-AD3654A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0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D8154E8-89F2-4D66-9C25-62C9532A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912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Detergentes y cosmética a granel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4826125-D87E-4D94-B1B9-5F554E1A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pareja fundadora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4EB7A96-9AC5-462F-A67F-A26E289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93192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5E2E2"/>
          </a:solidFill>
          <a:ln xmlns:a="http://schemas.openxmlformats.org/drawingml/2006/main" w="11906">
            <a:solidFill>
              <a:srgbClr val="C04141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6B0D292-6156-47DD-889D-A8D271C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1330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CCE7A59-66F5-468E-BF6E-F71FD1C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8912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Carnicería premium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B85B238-C26F-4673-82A4-72BE70F4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98348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2 socios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3C21687-8644-4F68-826B-A13518D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93192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E8DB"/>
          </a:solidFill>
          <a:ln xmlns:a="http://schemas.openxmlformats.org/drawingml/2006/main" w="11906">
            <a:solidFill>
              <a:srgbClr val="8A5510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D107E0F-D957-4EB3-8447-44ADFAE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1330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7DA7C18-ED1F-4D49-A40B-A73854A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38912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Café de especialidad y brunch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49D9AA0-A359-467B-BC16-38AC824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98348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propietaria + equipo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3015D85-61C1-4409-9AAB-EE7FE692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3931920"/>
            <a:ext cx="26974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EBD8"/>
          </a:solidFill>
          <a:ln xmlns:a="http://schemas.openxmlformats.org/drawingml/2006/main" w="11906">
            <a:solidFill>
              <a:srgbClr val="A1770A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5A5037">
                <a:alpha val="14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56D63-1786-4D53-8FF1-6721E9A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1330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07DEDEC-98E6-4F36-82DB-1941F0C7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38912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Artesanía y diseño local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04666BD-08C2-4626-A275-B5BB19CD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98348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pareja fundadora · 71 artesanos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3B21686-47A5-4BA6-8505-02BFC52D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Barcelona y Santa Coloma · mayo–julio de 2026 · citas anonimizadas y editadas mínimamente para claridad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BE4214F-A64C-46A5-9743-62E9D8C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1B04D61-FAD7-4F81-A5B5-7AF0501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79304A2-75C9-430E-B906-D554BE33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9DA3596-A0EC-4C9A-BFAC-D30AD17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9580A9F-BE1E-49A9-BBBC-A8C4A3C3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B0D2496-55E7-4E48-917E-5967911F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02097C28-511B-4869-ACBF-C9BCD5D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FB03958-22B3-4048-9966-2478893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</p:spTree>
    <p:extLst>
      <p:ext uri="{BB962C8B-B14F-4D97-AF65-F5344CB8AC3E}">
        <p14:creationId xmlns:p14="http://schemas.microsoft.com/office/powerpoint/2010/main" val="2146947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A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71F2AC-59DF-4F40-9E0A-AD92273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B166E7-7982-45B3-BC7F-4DF6B7D7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F8A1A"/>
                </a:solidFill>
                <a:latin typeface="Trebuchet MS"/>
                <a:ea typeface="Trebuchet MS"/>
                <a:cs typeface="Trebuchet MS"/>
              </a:rPr>
              <a:t>LO QUE YA FUNCIONA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66C684-E8AA-4F49-8EA7-27D94B4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77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Oficio, relación y comunidad ya sostienen estas tiendas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CFE86C-3E61-4261-BA35-51E6F67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5394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El oficio aparece como criterio acumulado y capacidad de reconstruirse. La relación personal sostiene recurrencia y una forma de servicio difícil de copiar. La comunidad aporta referencias, aprendizaje y apoyo práctico allí donde no hay una estructura formal. No son activos sentimentales: son parte del funcionamiento del negocio.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8814864-E3FD-4150-9B85-DE8BFC80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20640" cy="832104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906">
            <a:solidFill>
              <a:srgbClr val="A1770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5A5037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43CDF3-AF34-431A-B340-DCC2EA8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325880"/>
            <a:ext cx="4791456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«Nosotros no tenemos competencia, tenemos compañeros.»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366B64-7554-489D-A4B2-CE6B0EDB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7739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0480F3-9436-4F1E-850F-922FC5B3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700784"/>
            <a:ext cx="4608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UNA DE LAS PERSONAS FUNDADORAS · ARTESANÍA Y DISEÑO LOCAL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C42098C-0793-4A66-95AA-361C03DE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856ECA3-006C-4F4C-A883-B3D7144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57973BE-BB6C-40DD-891A-84DC663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1DB3AD-6458-4914-BE90-226CB1CC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39FD088-1F08-4B1C-A035-538A1E76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CC9FD59-02DF-45D1-9D6A-E583C8C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1E5EBC5-992A-4FEB-B5B9-563F496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F2C7E20-066B-4858-9A76-F62E11CA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65C8264-ABF1-418E-B14B-4D8D10E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629107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A pie de mostrador · 8 entrevistas · julio de 2026</a:t>
            </a:r>
          </a:p>
        </p:txBody>
      </p:sp>
    </p:spTree>
    <p:extLst>
      <p:ext uri="{BB962C8B-B14F-4D97-AF65-F5344CB8AC3E}">
        <p14:creationId xmlns:p14="http://schemas.microsoft.com/office/powerpoint/2010/main" val="639968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AF5505-27E7-4512-93FF-34E5725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606235-E990-408E-A56A-32E5E04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E8B4A"/>
                </a:solidFill>
                <a:latin typeface="Trebuchet MS"/>
                <a:ea typeface="Trebuchet MS"/>
                <a:cs typeface="Trebuchet MS"/>
              </a:rPr>
              <a:t>HALLAZGO 01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6EBA37-C946-4ABE-9322-F645D04D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77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El negocio vive en personas, no solo en sistemas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2F3B9F-D1F4-4560-B86A-434F71F0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5394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Precios, proveedores, clientes y excepciones dependen de conocimiento tácito. Delegar tareas no equivale a delegar juicio. Esto dificulta ausentarse, crecer o traspasar el negocio; no es un fallo individual. Límite: para algunas tiendas, la relación personal es una decisión deliberada.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19F755A-7F09-4D49-8F45-1453DE10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20640" cy="832104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5FAF4"/>
          </a:solidFill>
          <a:ln xmlns:a="http://schemas.openxmlformats.org/drawingml/2006/main" w="11906">
            <a:solidFill>
              <a:srgbClr val="2E8B4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5A5037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B465FB7-27F3-4902-88A3-97A976B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325880"/>
            <a:ext cx="4791456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«Todo está en mi cabeza. No tengo nada de sistema.»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3ACEC4-008D-4521-AD57-00E8609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7739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910E59-4792-4B1B-BEB4-65A1EB88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700784"/>
            <a:ext cx="4608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PROPIETARIA · TIENDA DE ALIMENTACIÓN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07DC3F5-F979-48EB-BC7A-52BF2CC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40864"/>
            <a:ext cx="5120640" cy="1069848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0F4E7"/>
          </a:solidFill>
          <a:ln xmlns:a="http://schemas.openxmlformats.org/drawingml/2006/main" w="11906">
            <a:solidFill>
              <a:srgbClr val="6F8A1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5A5037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916988D-9F69-4BD6-BB03-A33C440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32304"/>
            <a:ext cx="4791456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«Como era la dueña, ella lo tenía en la cabeza... no estaba registrado en el sistema.»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F751279-1F3F-4677-8D24-53E1FA48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11810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3BC0D44-DB63-45BE-96D8-12E3E31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044952"/>
            <a:ext cx="4608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NUEVO PROPIETARIO · TIENDA A GRANEL, SOBRE EL TRASPASO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0081D79-CBCA-4674-9329-EE92971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73EF2FC-B94F-4D72-A126-7D069EB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CBB018E-2254-4D3E-A4A8-23676D00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1C70B39-5DE1-4576-9483-0996573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887097-8DDF-4848-BD21-172CE46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6616CBB-5962-4432-A424-D0088A6B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F79B4BF-1503-4293-A35D-5CBFD5A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61BAD35-510C-438F-B37C-784B1A2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6B6D790-EB24-4181-9127-4975A108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629107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A pie de mostrador · 8 entrevistas · julio de 2026</a:t>
            </a:r>
          </a:p>
        </p:txBody>
      </p:sp>
    </p:spTree>
    <p:extLst>
      <p:ext uri="{BB962C8B-B14F-4D97-AF65-F5344CB8AC3E}">
        <p14:creationId xmlns:p14="http://schemas.microsoft.com/office/powerpoint/2010/main" val="938023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D9D403B-8E42-4BCE-9066-4A08FF56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485B1E-506A-4923-AF18-40977BB9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86A8"/>
                </a:solidFill>
                <a:latin typeface="Trebuchet MS"/>
                <a:ea typeface="Trebuchet MS"/>
                <a:cs typeface="Trebuchet MS"/>
              </a:rPr>
              <a:t>HALLAZGO 02–03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96FA9F-4537-4BCA-9A0B-C8E919E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77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Inventario y márgenes rara vez están del todo a la vista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22460D-B837-4078-9CAE-B054A22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5394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En varias conversaciones, inventario, reposición y margen aparecieron como asuntos conocidos pero poco consolidados. Los datos viven entre memoria, hojas, facturas, TPV y comprobaciones manuales. Gestionar varios proveedores añade pedidos, precios y facturas por canales distintos.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1001FA-69E3-43C6-8257-8D9C8A3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20640" cy="1307592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1906">
            <a:solidFill>
              <a:srgbClr val="0A86A8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5A5037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EAEC21-613D-4FBC-BCD4-B4697FB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325880"/>
            <a:ext cx="47914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«A día de hoy tampoco tenemos un inventario... tampoco podemos decir cuál es nuestra ganancia por producto.»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EF5A7E-6BAF-42C8-80AC-C0B72AE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24942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3BA6E7-BE55-4EB2-AAE6-9C93A5D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176272"/>
            <a:ext cx="4608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PROPIETARIO · TIENDA A GRANEL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EC60C9-F00E-4EE6-ADAC-5D5EF36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146304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11906">
            <a:solidFill>
              <a:srgbClr val="2E8B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E0E944-F176-4982-B3DA-F8F16DE3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310128"/>
            <a:ext cx="13167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DATOS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75F644-ED66-4111-9A4C-556B6DA4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584448"/>
            <a:ext cx="131673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inventario, margen, facturas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3C0328-867C-4135-AEC4-EBDA75F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01568"/>
            <a:ext cx="411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10D3D00-82A5-4234-A7D3-3F8321C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200400"/>
            <a:ext cx="146304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1906">
            <a:solidFill>
              <a:srgbClr val="A1770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6DDEB8-C758-45FE-9600-CEF5F7BA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3310128"/>
            <a:ext cx="13167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INTERPRETACIÓN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20EBFE7-A227-4D2B-90F4-499F0045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3584448"/>
            <a:ext cx="131673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fiabilidad, tiempo, contexto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93F1A7-50AB-45F3-89DA-C1CCB42B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3401568"/>
            <a:ext cx="411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8296298-710F-405B-BCFA-19C9D76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200400"/>
            <a:ext cx="146304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EAF5"/>
          </a:solidFill>
          <a:ln xmlns:a="http://schemas.openxmlformats.org/drawingml/2006/main" w="11906">
            <a:solidFill>
              <a:srgbClr val="3E63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F8C5CB6-BFC7-4F09-B1A6-6A1E082D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310128"/>
            <a:ext cx="13167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ACCIÓN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C449D0-86A0-442B-8131-91FAC278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584448"/>
            <a:ext cx="131673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comprar, reponer, fijar precios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BD5311B-A266-448F-B4B4-F8AAF75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31D33A6-4036-4288-8432-7C5BC608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21D353E-50F9-44E6-8E4B-1C8D642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AB339F-4FEE-46F6-B29E-6BC5D75A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CACE8B4-CFBC-4B04-AC87-D812E51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0A4D660-6545-47C8-AFB2-A5CFB394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8FB0561-3136-4E96-9D23-94E589B7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ADFEA12-2197-4046-898E-57B17C9B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1B626B-D4E3-48E7-902E-D9DEEB1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629107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A pie de mostrador · 8 entrevistas · julio de 2026</a:t>
            </a:r>
          </a:p>
        </p:txBody>
      </p:sp>
    </p:spTree>
    <p:extLst>
      <p:ext uri="{BB962C8B-B14F-4D97-AF65-F5344CB8AC3E}">
        <p14:creationId xmlns:p14="http://schemas.microsoft.com/office/powerpoint/2010/main" val="1362429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102582-EEF1-4B40-885D-B0BA806B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AC8DE9-D723-4998-A833-FFF08C4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4707E"/>
                </a:solidFill>
                <a:latin typeface="Trebuchet MS"/>
                <a:ea typeface="Trebuchet MS"/>
                <a:cs typeface="Trebuchet MS"/>
              </a:rPr>
              <a:t>HALLAZGO 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9C83193-2C27-4B37-86AB-1EF53F9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77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30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Las herramientas se quedan cuando reducen trabajo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E58A3B-0417-4374-AF5B-792E08F9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5394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En esta muestra, la aceptación dependió de ahorrar trabajo visible, funcionar en el momento correcto y no añadir complejidad. WhatsApp resuelve la urgencia; no resuelve el sistema. VeriFactu ya exige decisiones y una fuente de confianza. Las percepciones citadas no son asesoramiento fiscal.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3513FD8-4245-43C2-9475-CDE67249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20640" cy="1069848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AEEF0"/>
          </a:solidFill>
          <a:ln xmlns:a="http://schemas.openxmlformats.org/drawingml/2006/main" w="11906">
            <a:solidFill>
              <a:srgbClr val="C4707E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5A5037">
                <a:alpha val="18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EE0C287-DBBC-417B-B095-E55AB47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325880"/>
            <a:ext cx="4791456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«Yo me ahorro mucho trabajo con eso, porque si no aquí estuviera yo, mira.»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B256BF-E800-43D4-B9A6-EF53AD6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01168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5B11247-FA45-4C23-B513-BC2E67D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938528"/>
            <a:ext cx="4608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PROPIETARIA · SALÓN DE ESTÉTICA, SOBRE SU APP DE RESERVAS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04F6BC-96EB-4D8D-A0D3-F7E33D05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1664208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11906">
            <a:solidFill>
              <a:srgbClr val="2E8B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8FED2A-EB85-42C4-A509-C6E7209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E8B4A"/>
                </a:solidFill>
                <a:latin typeface="Trebuchet MS"/>
                <a:ea typeface="Trebuchet MS"/>
                <a:cs typeface="Trebuchet MS"/>
              </a:rPr>
              <a:t>SE QUEDA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450BD5-EA5A-40C2-B342-9D41C634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84448"/>
            <a:ext cx="148132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ahorro claro · valor visible · encaja en el flujo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A7D2EBD-294F-4F0C-B0BC-B829EAF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200400"/>
            <a:ext cx="1664208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3E8DB"/>
          </a:solidFill>
          <a:ln xmlns:a="http://schemas.openxmlformats.org/drawingml/2006/main" w="11906">
            <a:solidFill>
              <a:srgbClr val="8A5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E1B768-F585-42E4-A7E6-9E2B3D9B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3101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A1770A"/>
                </a:solidFill>
                <a:latin typeface="Trebuchet MS"/>
                <a:ea typeface="Trebuchet MS"/>
                <a:cs typeface="Trebuchet MS"/>
              </a:rPr>
              <a:t>WORKAROUND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8576DF-EBFA-4FD2-8F3F-61E8606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584448"/>
            <a:ext cx="148132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WhatsApp: inmediato · familiar · fragmentado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8DC5899-AA85-49E5-9BEE-6FFAFEC1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200400"/>
            <a:ext cx="1664208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5EAF5"/>
          </a:solidFill>
          <a:ln xmlns:a="http://schemas.openxmlformats.org/drawingml/2006/main" w="11906">
            <a:solidFill>
              <a:srgbClr val="3E63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2F160EA-2B22-4032-A3EE-72885417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3101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E63A8"/>
                </a:solidFill>
                <a:latin typeface="Trebuchet MS"/>
                <a:ea typeface="Trebuchet MS"/>
                <a:cs typeface="Trebuchet MS"/>
              </a:rPr>
              <a:t>VERIFACTU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A9BA25-6FBF-4563-B0D4-ADC4E0CC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584448"/>
            <a:ext cx="148132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1 ene 2027: sociedades · 1 jul 2027: resto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DE94DD4-8978-453B-B0CA-9EBB818B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AD11920-663C-4A5F-B24B-4EF449B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A72D2E-600F-4424-8484-FAC5228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7BF58B4-6E4A-4AA4-8D28-49C7714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E9244A2-3263-4EB3-BE97-AB2405F8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DD9DE91-2DC6-44B6-A47B-F3F5124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682E69C-BD39-4973-A85B-4D5270E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A300A94-C28E-44C4-BA40-D4A56DA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95063CB-27CD-4B6C-93A0-93666A5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629107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Fuente de plazos: Agencia Tributaria · contexto a julio de 2026</a:t>
            </a:r>
          </a:p>
        </p:txBody>
      </p:sp>
    </p:spTree>
    <p:extLst>
      <p:ext uri="{BB962C8B-B14F-4D97-AF65-F5344CB8AC3E}">
        <p14:creationId xmlns:p14="http://schemas.microsoft.com/office/powerpoint/2010/main" val="138797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E7B9A-A828-4E4E-A756-0C464BD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6B4F"/>
                </a:solidFill>
                <a:latin typeface="Trebuchet MS"/>
                <a:ea typeface="Trebuchet MS"/>
                <a:cs typeface="Trebuchet MS"/>
              </a:rPr>
              <a:t>A pie de mostrador  ·  informe de escucha 01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47E5A9B-5A17-4882-81D1-842108F3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83112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CEADF"/>
          </a:solidFill>
          <a:ln xmlns:a="http://schemas.openxmlformats.org/drawingml/2006/main" w="11906">
            <a:solidFill>
              <a:srgbClr val="1E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298A70-3729-4DA5-BEBC-07EB609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097280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6251F"/>
                </a:solidFill>
                <a:latin typeface="Trebuchet MS"/>
                <a:ea typeface="Trebuchet MS"/>
                <a:cs typeface="Trebuchet MS"/>
              </a:rPr>
              <a:t>Lo que permanece abierto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BFA8BE-B087-4524-BC31-4261D6F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500">
                <a:solidFill>
                  <a:srgbClr val="5B584C"/>
                </a:solidFill>
                <a:latin typeface="Calibri"/>
                <a:ea typeface="Calibri"/>
                <a:cs typeface="Calibri"/>
              </a:rPr>
              <a:t>Estas hipótesis necesitan más conversaciones, casos que las contradigan y observación más detallada de cómo se toman decisiones en la práctica.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621B39-D134-45CC-954B-23BC94D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604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6B4F"/>
                </a:solidFill>
                <a:latin typeface="Calibri"/>
                <a:ea typeface="Calibri"/>
                <a:cs typeface="Calibri"/>
              </a:rPr>
              <a:t>¿Llevas una tienda? Deja tu email o teléfono; yo te contacto  ·  </a:t>
            </a:r>
            <a:r>
              <a:rPr sz="1700" b="1">
                <a:solidFill>
                  <a:srgbClr val="1E6B4F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5e5043880f64291"/>
              </a:rPr>
              <a:t>chpmoreno.github.io/apiedemostrador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6383F2-4A1F-4470-8643-B7EFDF7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69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B8779"/>
                </a:solidFill>
                <a:latin typeface="Trebuchet MS"/>
                <a:ea typeface="Trebuchet MS"/>
                <a:cs typeface="Trebuchet MS"/>
              </a:rPr>
              <a:t>TRES LÍMITES PARA LEER EL INFORME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308A8-F522-4F8A-9B55-701D9C0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0799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5D8C6BD-675D-4974-9BF7-3FEB74A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0799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AE96BA-295E-40F6-A96C-388149AE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Esta muestra no representa al comercio local.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0304CE-B1A8-41C8-96FA-3A2BFE6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749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7E353D5-137F-4DFC-8C6D-A31B93C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749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04720A-0DB9-4351-94D3-0AB37CA9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47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No todas las tiendas definen igual qué significa que les vaya bien.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A637A4-63BA-49DD-B837-3E4278D7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418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F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4A3C38-8184-475D-AC94-93BEFFE5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418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990BDC-C500-46B6-82A9-792B7062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14416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Una preocupación operativa no demuestra disposición a adoptar una solución tecnológica.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275779-0013-4839-899C-B4372E9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A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A80F08C-6397-4233-B202-FF651A8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3A8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F890FE4-F108-4C1C-85E6-FA7A99A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07E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38D7026-4E08-4A05-9F24-B18B896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6A8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89124E5-F909-4A09-9EF5-732003EB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A1A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A749F1-8CF9-40B0-A430-3D117BB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141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BDB84E8-B3C2-4C8F-AF9D-26AAAAE6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510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CD9E010-DE55-4C4E-818F-0123E90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635508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70A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E7CE91F-70E3-4D77-9109-031BDC5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6291072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8779"/>
                </a:solidFill>
                <a:latin typeface="Calibri"/>
                <a:ea typeface="Calibri"/>
                <a:cs typeface="Calibri"/>
              </a:rPr>
              <a:t>A pie de mostrador · Edición 1 · 8 entrevistas · julio de 2026 · Investigación independiente</a:t>
            </a:r>
          </a:p>
        </p:txBody>
      </p:sp>
    </p:spTree>
    <p:extLst>
      <p:ext uri="{BB962C8B-B14F-4D97-AF65-F5344CB8AC3E}">
        <p14:creationId xmlns:p14="http://schemas.microsoft.com/office/powerpoint/2010/main" val="13714631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2026-07-15T13:10:54.2450000Z</dcterms:created>
  <dcterms:modified xsi:type="dcterms:W3CDTF">2026-07-15T13:10:54.2450000Z</dcterms:modified>
</coreProperties>
</file>