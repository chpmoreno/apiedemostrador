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6bc039fabb4154" /><Relationship Type="http://schemas.openxmlformats.org/officeDocument/2006/relationships/extended-properties" Target="/docProps/app.xml" Id="R1fae84d951224b3d" /><Relationship Type="http://schemas.openxmlformats.org/officeDocument/2006/relationships/officeDocument" Target="/ppt/presentation.xml" Id="Ra129b42af4044b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d7649ae6514a84"/>
  </p:sldMasterIdLst>
  <p:notesMasterIdLst>
    <p:notesMasterId xmlns:r="http://schemas.openxmlformats.org/officeDocument/2006/relationships" r:id="Rbb537fc79d794729"/>
  </p:notesMasterIdLst>
  <p:sldIdLst>
    <p:sldId xmlns:r="http://schemas.openxmlformats.org/officeDocument/2006/relationships" id="256" r:id="R3215f2783e8c4090"/>
    <p:sldId xmlns:r="http://schemas.openxmlformats.org/officeDocument/2006/relationships" id="257" r:id="Rec10608c8e4945cd"/>
    <p:sldId xmlns:r="http://schemas.openxmlformats.org/officeDocument/2006/relationships" id="258" r:id="Rddad1f588038411a"/>
    <p:sldId xmlns:r="http://schemas.openxmlformats.org/officeDocument/2006/relationships" id="259" r:id="R1cae28467d1f4a8c"/>
    <p:sldId xmlns:r="http://schemas.openxmlformats.org/officeDocument/2006/relationships" id="260" r:id="R5320b6c25efc4bf1"/>
    <p:sldId xmlns:r="http://schemas.openxmlformats.org/officeDocument/2006/relationships" id="261" r:id="R3e5d90c43e4a4cb6"/>
    <p:sldId xmlns:r="http://schemas.openxmlformats.org/officeDocument/2006/relationships" id="262" r:id="R11caab1a6e4843f0"/>
    <p:sldId xmlns:r="http://schemas.openxmlformats.org/officeDocument/2006/relationships" id="263" r:id="R8d45f0d7d8a9435e"/>
    <p:sldId xmlns:r="http://schemas.openxmlformats.org/officeDocument/2006/relationships" id="264" r:id="R052ece021586466a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d0937dbb34fea" /><Relationship Type="http://schemas.openxmlformats.org/officeDocument/2006/relationships/slideMaster" Target="/ppt/slideMasters/slideMaster1.xml" Id="R5dd7649ae6514a84" /><Relationship Type="http://schemas.openxmlformats.org/officeDocument/2006/relationships/notesMaster" Target="/ppt/notesMasters/notesMaster1.xml" Id="Rbb537fc79d794729" /><Relationship Type="http://schemas.openxmlformats.org/officeDocument/2006/relationships/presProps" Target="/ppt/presProps.xml" Id="R4a0a549649354998" /><Relationship Type="http://schemas.openxmlformats.org/officeDocument/2006/relationships/tableStyles" Target="/ppt/tableStyles.xml" Id="R06b7c58aa5bd4c67" /><Relationship Type="http://schemas.openxmlformats.org/officeDocument/2006/relationships/slide" Target="/ppt/slides/slide1.xml" Id="R3215f2783e8c4090" /><Relationship Type="http://schemas.openxmlformats.org/officeDocument/2006/relationships/slide" Target="/ppt/slides/slide2.xml" Id="Rec10608c8e4945cd" /><Relationship Type="http://schemas.openxmlformats.org/officeDocument/2006/relationships/slide" Target="/ppt/slides/slide3.xml" Id="Rddad1f588038411a" /><Relationship Type="http://schemas.openxmlformats.org/officeDocument/2006/relationships/slide" Target="/ppt/slides/slide4.xml" Id="R1cae28467d1f4a8c" /><Relationship Type="http://schemas.openxmlformats.org/officeDocument/2006/relationships/slide" Target="/ppt/slides/slide5.xml" Id="R5320b6c25efc4bf1" /><Relationship Type="http://schemas.openxmlformats.org/officeDocument/2006/relationships/slide" Target="/ppt/slides/slide6.xml" Id="R3e5d90c43e4a4cb6" /><Relationship Type="http://schemas.openxmlformats.org/officeDocument/2006/relationships/slide" Target="/ppt/slides/slide7.xml" Id="R11caab1a6e4843f0" /><Relationship Type="http://schemas.openxmlformats.org/officeDocument/2006/relationships/slide" Target="/ppt/slides/slide8.xml" Id="R8d45f0d7d8a9435e" /><Relationship Type="http://schemas.openxmlformats.org/officeDocument/2006/relationships/slide" Target="/ppt/slides/slide9.xml" Id="R052ece02158646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c244c6a1344a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9cfdfe87cc45aa" /><Relationship Type="http://schemas.openxmlformats.org/officeDocument/2006/relationships/notesMaster" Target="/ppt/notesMasters/notesMaster1.xml" Id="R38290d695ba84f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9a2ae64d0b4148" /><Relationship Type="http://schemas.openxmlformats.org/officeDocument/2006/relationships/notesMaster" Target="/ppt/notesMasters/notesMaster1.xml" Id="R61bf3429a2b44d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9f9b3094204920" /><Relationship Type="http://schemas.openxmlformats.org/officeDocument/2006/relationships/notesMaster" Target="/ppt/notesMasters/notesMaster1.xml" Id="R30762a477fb8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7d8250085e4eeb" /><Relationship Type="http://schemas.openxmlformats.org/officeDocument/2006/relationships/notesMaster" Target="/ppt/notesMasters/notesMaster1.xml" Id="Rdcfd2ee78403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c874148f3b4d5c" /><Relationship Type="http://schemas.openxmlformats.org/officeDocument/2006/relationships/notesMaster" Target="/ppt/notesMasters/notesMaster1.xml" Id="Rbf92af420f5f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a27b355afe44e8" /><Relationship Type="http://schemas.openxmlformats.org/officeDocument/2006/relationships/notesMaster" Target="/ppt/notesMasters/notesMaster1.xml" Id="R0c1f12c18e4142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cd92949c824d47" /><Relationship Type="http://schemas.openxmlformats.org/officeDocument/2006/relationships/notesMaster" Target="/ppt/notesMasters/notesMaster1.xml" Id="R99a42ef6f57145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739d2271b4e4e" /><Relationship Type="http://schemas.openxmlformats.org/officeDocument/2006/relationships/notesMaster" Target="/ppt/notesMasters/notesMaster1.xml" Id="R22660b39a4ac4c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0ec01958af4093" /><Relationship Type="http://schemas.openxmlformats.org/officeDocument/2006/relationships/notesMaster" Target="/ppt/notesMasters/notesMaster1.xml" Id="Ra7d7cca43e93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92a6e1a2f4f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d6184963994365" /><Relationship Type="http://schemas.openxmlformats.org/officeDocument/2006/relationships/slideLayout" Target="/ppt/slideLayouts/slideLayout1.xml" Id="R1ab098e8b78943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b098e8b78943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dc3d1c1854c91" /><Relationship Type="http://schemas.openxmlformats.org/officeDocument/2006/relationships/notesSlide" Target="/ppt/notesSlides/notesSlide1.xml" Id="R3929f3b9f3c54e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8fa6478f64d3c" /><Relationship Type="http://schemas.openxmlformats.org/officeDocument/2006/relationships/notesSlide" Target="/ppt/notesSlides/notesSlide2.xml" Id="Rc6a180fe16b045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861533677427e" /><Relationship Type="http://schemas.openxmlformats.org/officeDocument/2006/relationships/notesSlide" Target="/ppt/notesSlides/notesSlide3.xml" Id="Ra8961b0daee244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faccf5da34096" /><Relationship Type="http://schemas.openxmlformats.org/officeDocument/2006/relationships/notesSlide" Target="/ppt/notesSlides/notesSlide4.xml" Id="Rd51638ba32d14b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2b31b04684266" /><Relationship Type="http://schemas.openxmlformats.org/officeDocument/2006/relationships/notesSlide" Target="/ppt/notesSlides/notesSlide5.xml" Id="Ra7ed2e23ad4e41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450399d0d40b6" /><Relationship Type="http://schemas.openxmlformats.org/officeDocument/2006/relationships/notesSlide" Target="/ppt/notesSlides/notesSlide6.xml" Id="R3adfe68acb32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5cfeac7004b69" /><Relationship Type="http://schemas.openxmlformats.org/officeDocument/2006/relationships/notesSlide" Target="/ppt/notesSlides/notesSlide7.xml" Id="R6a499d369be445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5b00f7f7e499c" /><Relationship Type="http://schemas.openxmlformats.org/officeDocument/2006/relationships/notesSlide" Target="/ppt/notesSlides/notesSlide8.xml" Id="Ree7d2e52b22549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a947ee54e4f1e" /><Relationship Type="http://schemas.openxmlformats.org/officeDocument/2006/relationships/hyperlink" Target="https://chpmoreno.github.io/apiedemostrador/" TargetMode="External" Id="R1951b571e022495f" /><Relationship Type="http://schemas.openxmlformats.org/officeDocument/2006/relationships/notesSlide" Target="/ppt/notesSlides/notesSlide9.xml" Id="R9a761da562c946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5144CBD0-D6B7-4DF4-BBE7-7CFE4B60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BD603D42-FF87-4B2F-92FE-D56E70A3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30229B27-F032-441B-8C9E-F9F8B1A0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6C8FBFF5-7C21-47C6-AB35-D6343B9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50E2B4D9-6F28-4D97-9217-88F0DE6E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8EEC50A4-0134-41A0-A86B-5E60FCB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F1C25001-D019-4889-B4D3-36D2F4EA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BE05C566-3479-44DB-9D6E-9ED6EAC7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88B0DCD3-7EBC-4A4E-95DF-1B781EFC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59CFC30E-4F00-4ED4-A34C-A6240E23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7225DCB8-8195-4990-9BA6-A76E270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5216CDD7-7848-49EF-9BA3-02F45D6E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4C51E826-E4DE-4C82-94C6-66985F6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1DC5ACC-AE39-4740-B934-AE68C63E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8 CONVERSACIONES. UNA FRASE.</a:t>
            </a:r>
          </a:p>
        </p:txBody>
      </p: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D6B045C-9EDC-4084-A464-142541E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La tienda funciona.</a:t>
            </a:r>
          </a:p>
          <a:p xmlns:a="http://schemas.openxmlformats.org/drawingml/2006/main">
            <a:pPr algn="l">
              <a:defRPr sz="61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El sistema eres tú.</a:t>
            </a:r>
          </a:p>
        </p:txBody>
      </p:sp>
      <p:sp>
        <p:nvSpPr>
          <p:cNvPr id="16" name="subtitle">
            <a:extLst xmlns:a="http://schemas.openxmlformats.org/drawingml/2006/main">
              <a:ext uri="{FF2B5EF4-FFF2-40B4-BE49-F238E27FC236}">
                <a16:creationId xmlns:a16="http://schemas.microsoft.com/office/drawing/2014/main" id="{435916BE-CEF3-4FF3-B34D-12352E3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243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El trabajo invisible de llevar un comercio, contado a pie de mostrador.</a:t>
            </a:r>
          </a:p>
        </p:txBody>
      </p:sp>
      <p:sp>
        <p:nvSpPr>
          <p:cNvPr id="17" name="cover-receipt-shadow">
            <a:extLst xmlns:a="http://schemas.openxmlformats.org/drawingml/2006/main">
              <a:ext uri="{FF2B5EF4-FFF2-40B4-BE49-F238E27FC236}">
                <a16:creationId xmlns:a16="http://schemas.microsoft.com/office/drawing/2014/main" id="{4A6934AB-69BC-458F-BA71-A91E8500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">
            <a:off x="1209675" y="6181725"/>
            <a:ext cx="8096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ver-receipt">
            <a:extLst xmlns:a="http://schemas.openxmlformats.org/drawingml/2006/main">
              <a:ext uri="{FF2B5EF4-FFF2-40B4-BE49-F238E27FC236}">
                <a16:creationId xmlns:a16="http://schemas.microsoft.com/office/drawing/2014/main" id="{D35ED2CA-9DEF-42D8-8BE3-BEF7F55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">
            <a:off x="1095375" y="6048375"/>
            <a:ext cx="8096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19" name="cover-receipt-tape">
            <a:extLst xmlns:a="http://schemas.openxmlformats.org/drawingml/2006/main">
              <a:ext uri="{FF2B5EF4-FFF2-40B4-BE49-F238E27FC236}">
                <a16:creationId xmlns:a16="http://schemas.microsoft.com/office/drawing/2014/main" id="{5DBA952F-72FE-4740-B22D-4371FA4E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000">
            <a:off x="4610100" y="593407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ver-quote">
            <a:extLst xmlns:a="http://schemas.openxmlformats.org/drawingml/2006/main">
              <a:ext uri="{FF2B5EF4-FFF2-40B4-BE49-F238E27FC236}">
                <a16:creationId xmlns:a16="http://schemas.microsoft.com/office/drawing/2014/main" id="{07191E5F-B74A-4C34-8F2A-6D121630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">
            <a:off x="1571625" y="6705600"/>
            <a:ext cx="714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 i="1">
                <a:solidFill>
                  <a:srgbClr val="26251F"/>
                </a:solidFill>
                <a:latin typeface="Georgia"/>
                <a:ea typeface="Georgia"/>
                <a:cs typeface="Georgia"/>
              </a:defRPr>
            </a:pPr>
            <a:r>
              <a:rPr sz="3900" b="0" i="1">
                <a:solidFill>
                  <a:srgbClr val="26251F"/>
                </a:solidFill>
                <a:latin typeface="Georgia"/>
                <a:ea typeface="Georgia"/>
                <a:cs typeface="Georgia"/>
              </a:rPr>
              <a:t>«Todo está en mi cabeza.</a:t>
            </a:r>
          </a:p>
          <a:p xmlns:a="http://schemas.openxmlformats.org/drawingml/2006/main">
            <a:pPr algn="ctr">
              <a:defRPr sz="3900" b="0" i="1">
                <a:solidFill>
                  <a:srgbClr val="26251F"/>
                </a:solidFill>
                <a:latin typeface="Georgia"/>
                <a:ea typeface="Georgia"/>
                <a:cs typeface="Georgia"/>
              </a:defRPr>
            </a:pPr>
            <a:r>
              <a:rPr sz="3900" b="0" i="1">
                <a:solidFill>
                  <a:srgbClr val="26251F"/>
                </a:solidFill>
                <a:latin typeface="Georgia"/>
                <a:ea typeface="Georgia"/>
                <a:cs typeface="Georgia"/>
              </a:rPr>
              <a:t>No tengo nada de sistema.»</a:t>
            </a:r>
          </a:p>
        </p:txBody>
      </p:sp>
      <p:sp>
        <p:nvSpPr>
          <p:cNvPr id="21" name="cover-attribution">
            <a:extLst xmlns:a="http://schemas.openxmlformats.org/drawingml/2006/main">
              <a:ext uri="{FF2B5EF4-FFF2-40B4-BE49-F238E27FC236}">
                <a16:creationId xmlns:a16="http://schemas.microsoft.com/office/drawing/2014/main" id="{4C985E2A-55C2-41C6-BAF9-AA8DC466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">
            <a:off x="1952625" y="8458200"/>
            <a:ext cx="638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PROPIETARIA · TIENDA DE ALIMENTACIÓN</a:t>
            </a:r>
          </a:p>
        </p:txBody>
      </p:sp>
      <p:sp>
        <p:nvSpPr>
          <p:cNvPr id="22" name="cover-prompt">
            <a:extLst xmlns:a="http://schemas.openxmlformats.org/drawingml/2006/main">
              <a:ext uri="{FF2B5EF4-FFF2-40B4-BE49-F238E27FC236}">
                <a16:creationId xmlns:a16="http://schemas.microsoft.com/office/drawing/2014/main" id="{96517B48-CDE5-490F-9D70-E6347C9C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1917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Desliza: quizá también reconozcas tu negocio aquí.</a:t>
            </a:r>
          </a:p>
        </p:txBody>
      </p:sp>
      <p:sp>
        <p:nvSpPr>
          <p:cNvPr id="23" name="swipe-tag-box">
            <a:extLst xmlns:a="http://schemas.openxmlformats.org/drawingml/2006/main">
              <a:ext uri="{FF2B5EF4-FFF2-40B4-BE49-F238E27FC236}">
                <a16:creationId xmlns:a16="http://schemas.microsoft.com/office/drawing/2014/main" id="{864DA59B-4F54-43B2-B098-4C13F8F7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85800" y="112204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9525">
            <a:solidFill>
              <a:srgbClr val="26251F"/>
            </a:solidFill>
            <a:prstDash val="solid"/>
          </a:ln>
        </p:spPr>
      </p:sp>
      <p:sp>
        <p:nvSpPr>
          <p:cNvPr id="24" name="swipe-tag">
            <a:extLst xmlns:a="http://schemas.openxmlformats.org/drawingml/2006/main">
              <a:ext uri="{FF2B5EF4-FFF2-40B4-BE49-F238E27FC236}">
                <a16:creationId xmlns:a16="http://schemas.microsoft.com/office/drawing/2014/main" id="{32908B3C-F0A9-4D24-8CE9-7DBB765D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781050" y="1129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DESLIZA →</a:t>
            </a:r>
          </a:p>
        </p:txBody>
      </p:sp>
      <p:sp>
        <p:nvSpPr>
          <p:cNvPr id="2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7FC7F4FD-B3AC-42E0-B042-D91A8C5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26" name="accent-0">
            <a:extLst xmlns:a="http://schemas.openxmlformats.org/drawingml/2006/main">
              <a:ext uri="{FF2B5EF4-FFF2-40B4-BE49-F238E27FC236}">
                <a16:creationId xmlns:a16="http://schemas.microsoft.com/office/drawing/2014/main" id="{21D26808-FF81-432E-A208-0205EB0B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ccent-1">
            <a:extLst xmlns:a="http://schemas.openxmlformats.org/drawingml/2006/main">
              <a:ext uri="{FF2B5EF4-FFF2-40B4-BE49-F238E27FC236}">
                <a16:creationId xmlns:a16="http://schemas.microsoft.com/office/drawing/2014/main" id="{9B85EC4C-A027-4A06-B0CD-0AE4C49A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ccent-2">
            <a:extLst xmlns:a="http://schemas.openxmlformats.org/drawingml/2006/main">
              <a:ext uri="{FF2B5EF4-FFF2-40B4-BE49-F238E27FC236}">
                <a16:creationId xmlns:a16="http://schemas.microsoft.com/office/drawing/2014/main" id="{882841C7-BC5D-4D98-B51B-8C501A9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ccent-3">
            <a:extLst xmlns:a="http://schemas.openxmlformats.org/drawingml/2006/main">
              <a:ext uri="{FF2B5EF4-FFF2-40B4-BE49-F238E27FC236}">
                <a16:creationId xmlns:a16="http://schemas.microsoft.com/office/drawing/2014/main" id="{960304B5-853A-43F7-873A-7D6F6FF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ccent-4">
            <a:extLst xmlns:a="http://schemas.openxmlformats.org/drawingml/2006/main">
              <a:ext uri="{FF2B5EF4-FFF2-40B4-BE49-F238E27FC236}">
                <a16:creationId xmlns:a16="http://schemas.microsoft.com/office/drawing/2014/main" id="{2E52DE13-5CA8-43F8-A5AF-0CD5722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ent-5">
            <a:extLst xmlns:a="http://schemas.openxmlformats.org/drawingml/2006/main">
              <a:ext uri="{FF2B5EF4-FFF2-40B4-BE49-F238E27FC236}">
                <a16:creationId xmlns:a16="http://schemas.microsoft.com/office/drawing/2014/main" id="{DDCB0967-D5AD-49E3-9656-5FE57777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ccent-6">
            <a:extLst xmlns:a="http://schemas.openxmlformats.org/drawingml/2006/main">
              <a:ext uri="{FF2B5EF4-FFF2-40B4-BE49-F238E27FC236}">
                <a16:creationId xmlns:a16="http://schemas.microsoft.com/office/drawing/2014/main" id="{524D9660-F31D-4A5B-BA3A-BFD60608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ent-7">
            <a:extLst xmlns:a="http://schemas.openxmlformats.org/drawingml/2006/main">
              <a:ext uri="{FF2B5EF4-FFF2-40B4-BE49-F238E27FC236}">
                <a16:creationId xmlns:a16="http://schemas.microsoft.com/office/drawing/2014/main" id="{84133EFA-CEB9-499D-83F2-4A19FC6C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E44DFF6-57DA-4E82-BD38-25781AB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1157753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F68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7F4BB6F7-68A2-494E-AC84-CEF62051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187F25E9-2A29-48D3-A008-F8ED8367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533DD3D5-2BFE-4CD0-AF35-E4353640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B170AB82-9CD3-4B88-87B8-CBF38852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D4C36E7E-8636-405C-89A6-8F3689E6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35CD510C-A779-4FFA-8429-F3CAE3DF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0658D679-5022-4E61-9385-5F8813F8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B1255E8E-DC01-4F16-9850-B36309C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6F49A91D-50D1-436F-B6E2-675EF886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6629C153-B51E-4F44-8755-0712AAAE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ADD1F64F-D503-452E-B406-D2CE8DF7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12FAEB1B-7EDA-4769-9DB7-3514F6C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6F2CDD0C-5881-426F-A4E8-04BC419E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C2B34B6-2A2D-4E5F-ACCA-588FAA05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E1A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1E1A7"/>
                </a:solidFill>
                <a:latin typeface="Arial"/>
                <a:ea typeface="Arial"/>
                <a:cs typeface="Arial"/>
              </a:rPr>
              <a:t>ANTES DE PROPONER SOLUCIONES</a:t>
            </a:r>
          </a:p>
        </p:txBody>
      </p: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5630D335-D9D5-49DC-A5DC-2F7BB6E5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43050"/>
            <a:ext cx="8763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fuimos a venderles tecnología.</a:t>
            </a:r>
          </a:p>
        </p:txBody>
      </p:sp>
      <p:sp>
        <p:nvSpPr>
          <p:cNvPr id="16" name="subtitle">
            <a:extLst xmlns:a="http://schemas.openxmlformats.org/drawingml/2006/main">
              <a:ext uri="{FF2B5EF4-FFF2-40B4-BE49-F238E27FC236}">
                <a16:creationId xmlns:a16="http://schemas.microsoft.com/office/drawing/2014/main" id="{94B131C1-3360-47F4-B256-2B7FC117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86125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1E1A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1E1A7"/>
                </a:solidFill>
                <a:latin typeface="Arial"/>
                <a:ea typeface="Arial"/>
                <a:cs typeface="Arial"/>
              </a:rPr>
              <a:t>Fuimos a preguntar cómo trabajan.</a:t>
            </a:r>
          </a:p>
        </p:txBody>
      </p:sp>
      <p:sp>
        <p:nvSpPr>
          <p:cNvPr id="17" name="stat-0-shadow">
            <a:extLst xmlns:a="http://schemas.openxmlformats.org/drawingml/2006/main">
              <a:ext uri="{FF2B5EF4-FFF2-40B4-BE49-F238E27FC236}">
                <a16:creationId xmlns:a16="http://schemas.microsoft.com/office/drawing/2014/main" id="{A8727E23-0F01-4641-85A1-2B6FEFC9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800100" y="4943475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t-0">
            <a:extLst xmlns:a="http://schemas.openxmlformats.org/drawingml/2006/main">
              <a:ext uri="{FF2B5EF4-FFF2-40B4-BE49-F238E27FC236}">
                <a16:creationId xmlns:a16="http://schemas.microsoft.com/office/drawing/2014/main" id="{1AC98E6F-B116-4C0E-99C7-90BDF762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85800" y="4810125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19" name="stat-0-tape">
            <a:extLst xmlns:a="http://schemas.openxmlformats.org/drawingml/2006/main">
              <a:ext uri="{FF2B5EF4-FFF2-40B4-BE49-F238E27FC236}">
                <a16:creationId xmlns:a16="http://schemas.microsoft.com/office/drawing/2014/main" id="{C3F2F7EC-406A-4E3A-849B-68E42ECF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485900" y="469582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t-n-0">
            <a:extLst xmlns:a="http://schemas.openxmlformats.org/drawingml/2006/main">
              <a:ext uri="{FF2B5EF4-FFF2-40B4-BE49-F238E27FC236}">
                <a16:creationId xmlns:a16="http://schemas.microsoft.com/office/drawing/2014/main" id="{51C0B677-B152-4729-B712-9F6CC748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971550" y="52006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27743D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27743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1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64E91203-52E6-402E-9E3A-DDB71B21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971550" y="60483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conversaciones</a:t>
            </a:r>
          </a:p>
          <a:p xmlns:a="http://schemas.openxmlformats.org/drawingml/2006/main">
            <a:pPr algn="l">
              <a:defRPr sz="21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presenciales</a:t>
            </a:r>
          </a:p>
        </p:txBody>
      </p:sp>
      <p:sp>
        <p:nvSpPr>
          <p:cNvPr id="22" name="stat-1-shadow">
            <a:extLst xmlns:a="http://schemas.openxmlformats.org/drawingml/2006/main">
              <a:ext uri="{FF2B5EF4-FFF2-40B4-BE49-F238E27FC236}">
                <a16:creationId xmlns:a16="http://schemas.microsoft.com/office/drawing/2014/main" id="{7DC92188-377D-4F8A-A84E-05419C0A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3914775" y="4943475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t-1">
            <a:extLst xmlns:a="http://schemas.openxmlformats.org/drawingml/2006/main">
              <a:ext uri="{FF2B5EF4-FFF2-40B4-BE49-F238E27FC236}">
                <a16:creationId xmlns:a16="http://schemas.microsoft.com/office/drawing/2014/main" id="{C908EE86-DDB3-4F0B-B019-EC47D6E7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3800475" y="4810125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4" name="stat-1-tape">
            <a:extLst xmlns:a="http://schemas.openxmlformats.org/drawingml/2006/main">
              <a:ext uri="{FF2B5EF4-FFF2-40B4-BE49-F238E27FC236}">
                <a16:creationId xmlns:a16="http://schemas.microsoft.com/office/drawing/2014/main" id="{FFCC6F15-B2C3-433C-BE8C-6FEEC974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">
            <a:off x="4600575" y="469582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t-n-1">
            <a:extLst xmlns:a="http://schemas.openxmlformats.org/drawingml/2006/main">
              <a:ext uri="{FF2B5EF4-FFF2-40B4-BE49-F238E27FC236}">
                <a16:creationId xmlns:a16="http://schemas.microsoft.com/office/drawing/2014/main" id="{7ECA43D7-CC2D-4763-9CD9-D9CA0684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4086225" y="52006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076D8B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76D8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4641C5EE-50E4-4A2A-9F62-691F63E4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4086225" y="60483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ámbitos de</a:t>
            </a:r>
          </a:p>
          <a:p xmlns:a="http://schemas.openxmlformats.org/drawingml/2006/main">
            <a:pPr algn="l">
              <a:defRPr sz="21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27" name="stat-2-shadow">
            <a:extLst xmlns:a="http://schemas.openxmlformats.org/drawingml/2006/main">
              <a:ext uri="{FF2B5EF4-FFF2-40B4-BE49-F238E27FC236}">
                <a16:creationId xmlns:a16="http://schemas.microsoft.com/office/drawing/2014/main" id="{4273FBE0-87C2-4024-8EF1-384B950B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7029450" y="4943475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t-2">
            <a:extLst xmlns:a="http://schemas.openxmlformats.org/drawingml/2006/main">
              <a:ext uri="{FF2B5EF4-FFF2-40B4-BE49-F238E27FC236}">
                <a16:creationId xmlns:a16="http://schemas.microsoft.com/office/drawing/2014/main" id="{7171F886-8669-414D-AD8E-2A36F2FC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915150" y="4810125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9" name="stat-2-tape">
            <a:extLst xmlns:a="http://schemas.openxmlformats.org/drawingml/2006/main">
              <a:ext uri="{FF2B5EF4-FFF2-40B4-BE49-F238E27FC236}">
                <a16:creationId xmlns:a16="http://schemas.microsoft.com/office/drawing/2014/main" id="{61FE97D2-16D3-47A1-8BDC-0C55DE04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7715250" y="469582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t-n-2">
            <a:extLst xmlns:a="http://schemas.openxmlformats.org/drawingml/2006/main">
              <a:ext uri="{FF2B5EF4-FFF2-40B4-BE49-F238E27FC236}">
                <a16:creationId xmlns:a16="http://schemas.microsoft.com/office/drawing/2014/main" id="{8E455FC5-D8FB-4A06-A1AF-5EE3C53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7200900" y="52006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7F5C0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7F5C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07B492E-DC70-4C26-B92E-4F88AC3B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7200900" y="60483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temas para</a:t>
            </a:r>
          </a:p>
          <a:p xmlns:a="http://schemas.openxmlformats.org/drawingml/2006/main">
            <a:pPr algn="l">
              <a:defRPr sz="21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explorar</a:t>
            </a:r>
          </a:p>
        </p:txBody>
      </p:sp>
      <p:sp>
        <p:nvSpPr>
          <p:cNvPr id="32" name="method-note">
            <a:extLst xmlns:a="http://schemas.openxmlformats.org/drawingml/2006/main">
              <a:ext uri="{FF2B5EF4-FFF2-40B4-BE49-F238E27FC236}">
                <a16:creationId xmlns:a16="http://schemas.microsoft.com/office/drawing/2014/main" id="{E635AC55-23E7-434D-849B-1603084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76390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E7E3D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E7E3D9"/>
                </a:solidFill>
                <a:latin typeface="Arial"/>
                <a:ea typeface="Arial"/>
                <a:cs typeface="Arial"/>
              </a:rPr>
              <a:t>Muestra pequeña y situada: hipótesis cualitativas, no un retrato de todo el sector.</a:t>
            </a:r>
          </a:p>
        </p:txBody>
      </p:sp>
      <p:sp>
        <p:nvSpPr>
          <p:cNvPr id="33" name="finding-box">
            <a:extLst xmlns:a="http://schemas.openxmlformats.org/drawingml/2006/main">
              <a:ext uri="{FF2B5EF4-FFF2-40B4-BE49-F238E27FC236}">
                <a16:creationId xmlns:a16="http://schemas.microsoft.com/office/drawing/2014/main" id="{4AA76475-C4F7-4A04-8348-D59544B0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">
            <a:off x="685800" y="8905875"/>
            <a:ext cx="89154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nding">
            <a:extLst xmlns:a="http://schemas.openxmlformats.org/drawingml/2006/main">
              <a:ext uri="{FF2B5EF4-FFF2-40B4-BE49-F238E27FC236}">
                <a16:creationId xmlns:a16="http://schemas.microsoft.com/office/drawing/2014/main" id="{4C6C2510-1E16-432B-8535-9F28F5FE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">
            <a:off x="1123950" y="9315450"/>
            <a:ext cx="8039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El problema no era “ser poco digital”.</a:t>
            </a:r>
          </a:p>
          <a:p xmlns:a="http://schemas.openxmlformats.org/drawingml/2006/main">
            <a:pPr algn="ctr">
              <a:defRPr sz="34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Era decidir con información dispersa.</a:t>
            </a:r>
          </a:p>
        </p:txBody>
      </p:sp>
      <p:sp>
        <p:nvSpPr>
          <p:cNvPr id="3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08751706-AC4A-4F83-9CCB-C1817ED5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E3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7E3D9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36" name="accent-0">
            <a:extLst xmlns:a="http://schemas.openxmlformats.org/drawingml/2006/main">
              <a:ext uri="{FF2B5EF4-FFF2-40B4-BE49-F238E27FC236}">
                <a16:creationId xmlns:a16="http://schemas.microsoft.com/office/drawing/2014/main" id="{1F113226-38DD-4D42-9B96-0C571E3D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ccent-1">
            <a:extLst xmlns:a="http://schemas.openxmlformats.org/drawingml/2006/main">
              <a:ext uri="{FF2B5EF4-FFF2-40B4-BE49-F238E27FC236}">
                <a16:creationId xmlns:a16="http://schemas.microsoft.com/office/drawing/2014/main" id="{1D9992AE-0E76-4EEC-AE14-1ABA6BD1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ccent-2">
            <a:extLst xmlns:a="http://schemas.openxmlformats.org/drawingml/2006/main">
              <a:ext uri="{FF2B5EF4-FFF2-40B4-BE49-F238E27FC236}">
                <a16:creationId xmlns:a16="http://schemas.microsoft.com/office/drawing/2014/main" id="{163EE563-1373-42BF-9DB9-F128A59E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ccent-3">
            <a:extLst xmlns:a="http://schemas.openxmlformats.org/drawingml/2006/main">
              <a:ext uri="{FF2B5EF4-FFF2-40B4-BE49-F238E27FC236}">
                <a16:creationId xmlns:a16="http://schemas.microsoft.com/office/drawing/2014/main" id="{ADBCE0CA-08EA-48CD-873F-2D78F07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accent-4">
            <a:extLst xmlns:a="http://schemas.openxmlformats.org/drawingml/2006/main">
              <a:ext uri="{FF2B5EF4-FFF2-40B4-BE49-F238E27FC236}">
                <a16:creationId xmlns:a16="http://schemas.microsoft.com/office/drawing/2014/main" id="{5A793E55-1EE9-411F-8FAC-EA8A9F06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cent-5">
            <a:extLst xmlns:a="http://schemas.openxmlformats.org/drawingml/2006/main">
              <a:ext uri="{FF2B5EF4-FFF2-40B4-BE49-F238E27FC236}">
                <a16:creationId xmlns:a16="http://schemas.microsoft.com/office/drawing/2014/main" id="{16422FBE-8C12-4D74-A5FD-E748635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ccent-6">
            <a:extLst xmlns:a="http://schemas.openxmlformats.org/drawingml/2006/main">
              <a:ext uri="{FF2B5EF4-FFF2-40B4-BE49-F238E27FC236}">
                <a16:creationId xmlns:a16="http://schemas.microsoft.com/office/drawing/2014/main" id="{FBFABB3C-882E-47C0-8360-CEF33736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accent-7">
            <a:extLst xmlns:a="http://schemas.openxmlformats.org/drawingml/2006/main">
              <a:ext uri="{FF2B5EF4-FFF2-40B4-BE49-F238E27FC236}">
                <a16:creationId xmlns:a16="http://schemas.microsoft.com/office/drawing/2014/main" id="{5F6CBD65-58ED-41C0-801C-DD0BC630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46882A-CF79-4D34-B0F6-F7075164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7E3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7E3D9"/>
                </a:solidFill>
                <a:latin typeface="Arial"/>
                <a:ea typeface="Arial"/>
                <a:cs typeface="Arial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1452578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ED5C4A39-632C-4264-B0AD-C3E6B3FD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62DE96D6-633D-4CB7-98C7-B22CD5D5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2A0B0FEA-154C-4044-8CF9-3E26983C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82B16818-E402-4C24-ADF9-02012ADB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5DEACE0D-91F3-4B6F-B281-67BA8095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75CA585E-72EC-46F4-81E8-A5B396D9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B45296B9-7459-4DBC-B2CB-D6061CE5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58C1DFCB-5756-49B3-9776-4997BBF3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5F2B3022-C7C5-453E-886A-58312844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DBE85442-C501-4852-8095-FCE8B612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1C22BFFB-70D8-4697-BC24-624D1405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4BD97806-F4FB-477A-905E-796BCAD3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41AAE32C-BD0B-4788-850C-6E544221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56E5738A-DCD6-4964-9D59-D4E74256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EL MISMO ACTIVO. DOS LECTURAS.</a:t>
            </a:r>
          </a:p>
        </p:txBody>
      </p: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1879C9F9-CFFE-4726-B4AA-47382FF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24000"/>
            <a:ext cx="8858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La relación personal es un superpoder.</a:t>
            </a:r>
          </a:p>
        </p:txBody>
      </p:sp>
      <p:sp>
        <p:nvSpPr>
          <p:cNvPr id="16" name="strength-panel">
            <a:extLst xmlns:a="http://schemas.openxmlformats.org/drawingml/2006/main">
              <a:ext uri="{FF2B5EF4-FFF2-40B4-BE49-F238E27FC236}">
                <a16:creationId xmlns:a16="http://schemas.microsoft.com/office/drawing/2014/main" id="{804D6830-ED8E-422F-AFAC-796048E4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85800" y="3619500"/>
            <a:ext cx="428625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ragility-panel">
            <a:extLst xmlns:a="http://schemas.openxmlformats.org/drawingml/2006/main">
              <a:ext uri="{FF2B5EF4-FFF2-40B4-BE49-F238E27FC236}">
                <a16:creationId xmlns:a16="http://schemas.microsoft.com/office/drawing/2014/main" id="{3E9DD51B-5B20-4083-B69E-A7F46F06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314950" y="3619500"/>
            <a:ext cx="428625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ength-tag-box">
            <a:extLst xmlns:a="http://schemas.openxmlformats.org/drawingml/2006/main">
              <a:ext uri="{FF2B5EF4-FFF2-40B4-BE49-F238E27FC236}">
                <a16:creationId xmlns:a16="http://schemas.microsoft.com/office/drawing/2014/main" id="{0D3A29F1-CFFE-4BFD-A2BC-7D0D3C7F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066800" y="4000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strength-tag">
            <a:extLst xmlns:a="http://schemas.openxmlformats.org/drawingml/2006/main">
              <a:ext uri="{FF2B5EF4-FFF2-40B4-BE49-F238E27FC236}">
                <a16:creationId xmlns:a16="http://schemas.microsoft.com/office/drawing/2014/main" id="{7E3CE17C-525C-497D-8809-858FF646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162050" y="4076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FORTALEZA</a:t>
            </a:r>
          </a:p>
        </p:txBody>
      </p:sp>
      <p:sp>
        <p:nvSpPr>
          <p:cNvPr id="20" name="strength-copy">
            <a:extLst xmlns:a="http://schemas.openxmlformats.org/drawingml/2006/main">
              <a:ext uri="{FF2B5EF4-FFF2-40B4-BE49-F238E27FC236}">
                <a16:creationId xmlns:a16="http://schemas.microsoft.com/office/drawing/2014/main" id="{5734BD76-78B1-41BD-BB2D-7817BE5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066800" y="4857750"/>
            <a:ext cx="3524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59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Memoria de la clientela.</a:t>
            </a:r>
          </a:p>
          <a:p xmlns:a="http://schemas.openxmlformats.org/drawingml/2006/main">
            <a:pPr algn="l">
              <a:defRPr sz="26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Criterio para recomendar.</a:t>
            </a:r>
          </a:p>
          <a:p xmlns:a="http://schemas.openxmlformats.org/drawingml/2006/main">
            <a:pPr algn="l">
              <a:defRPr sz="26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Un vínculo que hace volver.</a:t>
            </a:r>
          </a:p>
        </p:txBody>
      </p:sp>
      <p:sp>
        <p:nvSpPr>
          <p:cNvPr id="21" name="strength-quote">
            <a:extLst xmlns:a="http://schemas.openxmlformats.org/drawingml/2006/main">
              <a:ext uri="{FF2B5EF4-FFF2-40B4-BE49-F238E27FC236}">
                <a16:creationId xmlns:a16="http://schemas.microsoft.com/office/drawing/2014/main" id="{35BC8E3E-6676-4ECB-BF78-220B01BE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066800" y="7239000"/>
            <a:ext cx="3524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1">
                <a:solidFill>
                  <a:srgbClr val="1F684E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1F684E"/>
                </a:solidFill>
                <a:latin typeface="Georgia"/>
                <a:ea typeface="Georgia"/>
                <a:cs typeface="Georgia"/>
              </a:rPr>
              <a:t>«Tengo clientes que vienen desde Sant Antoni por el vínculo que tienen conmigo.»</a:t>
            </a:r>
          </a:p>
        </p:txBody>
      </p:sp>
      <p:sp>
        <p:nvSpPr>
          <p:cNvPr id="22" name="fragility-tag-box">
            <a:extLst xmlns:a="http://schemas.openxmlformats.org/drawingml/2006/main">
              <a:ext uri="{FF2B5EF4-FFF2-40B4-BE49-F238E27FC236}">
                <a16:creationId xmlns:a16="http://schemas.microsoft.com/office/drawing/2014/main" id="{9A7F15E6-B612-4E6F-877E-B0345EE1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695950" y="4000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51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fragility-tag">
            <a:extLst xmlns:a="http://schemas.openxmlformats.org/drawingml/2006/main">
              <a:ext uri="{FF2B5EF4-FFF2-40B4-BE49-F238E27FC236}">
                <a16:creationId xmlns:a16="http://schemas.microsoft.com/office/drawing/2014/main" id="{DDD74F84-F30C-4817-9A9D-128DABB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791200" y="4076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FRAGILIDAD</a:t>
            </a:r>
          </a:p>
        </p:txBody>
      </p:sp>
      <p:sp>
        <p:nvSpPr>
          <p:cNvPr id="24" name="fragility-copy">
            <a:extLst xmlns:a="http://schemas.openxmlformats.org/drawingml/2006/main">
              <a:ext uri="{FF2B5EF4-FFF2-40B4-BE49-F238E27FC236}">
                <a16:creationId xmlns:a16="http://schemas.microsoft.com/office/drawing/2014/main" id="{5DC4952E-C9CB-4AC2-BA39-095E313D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695950" y="4857750"/>
            <a:ext cx="352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Si todo depende de una persona…</a:t>
            </a:r>
          </a:p>
          <a:p xmlns:a="http://schemas.openxmlformats.org/drawingml/2006/main">
            <a:pPr algn="l">
              <a:defRPr sz="26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ausentarse, crecer o traspasar se complica.</a:t>
            </a:r>
          </a:p>
        </p:txBody>
      </p:sp>
      <p:sp>
        <p:nvSpPr>
          <p:cNvPr id="25" name="fragility-note">
            <a:extLst xmlns:a="http://schemas.openxmlformats.org/drawingml/2006/main">
              <a:ext uri="{FF2B5EF4-FFF2-40B4-BE49-F238E27FC236}">
                <a16:creationId xmlns:a16="http://schemas.microsoft.com/office/drawing/2014/main" id="{92CDEDC9-6BA0-43B8-9C13-1C9860C3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695950" y="762000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La pregunta no es eliminar el vínculo.</a:t>
            </a:r>
          </a:p>
          <a:p xmlns:a="http://schemas.openxmlformats.org/drawingml/2006/main">
            <a:pPr algn="l">
              <a:defRPr sz="2025" b="0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Es reducir la dependencia sin perder su valor.</a:t>
            </a:r>
          </a:p>
        </p:txBody>
      </p:sp>
      <p:sp>
        <p:nvSpPr>
          <p:cNvPr id="26" name="double-arrow">
            <a:extLst xmlns:a="http://schemas.openxmlformats.org/drawingml/2006/main">
              <a:ext uri="{FF2B5EF4-FFF2-40B4-BE49-F238E27FC236}">
                <a16:creationId xmlns:a16="http://schemas.microsoft.com/office/drawing/2014/main" id="{D1394D11-6BCA-41E5-BFE2-233E9A3F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6000750"/>
            <a:ext cx="106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A10CFC9C-703E-4D6C-80AA-1437814B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10382250"/>
            <a:ext cx="8343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Lo humano no es el problema. Que solo una persona pueda sostenerlo, sí.</a:t>
            </a:r>
          </a:p>
        </p:txBody>
      </p:sp>
      <p:sp>
        <p:nvSpPr>
          <p:cNvPr id="28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13C36397-AE85-474D-B6A4-4A0A100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29" name="accent-0">
            <a:extLst xmlns:a="http://schemas.openxmlformats.org/drawingml/2006/main">
              <a:ext uri="{FF2B5EF4-FFF2-40B4-BE49-F238E27FC236}">
                <a16:creationId xmlns:a16="http://schemas.microsoft.com/office/drawing/2014/main" id="{C8FA96C5-D8F1-477F-99E1-42FA1D50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ccent-1">
            <a:extLst xmlns:a="http://schemas.openxmlformats.org/drawingml/2006/main">
              <a:ext uri="{FF2B5EF4-FFF2-40B4-BE49-F238E27FC236}">
                <a16:creationId xmlns:a16="http://schemas.microsoft.com/office/drawing/2014/main" id="{B78E9160-5327-4FDF-953D-1E2B518B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ent-2">
            <a:extLst xmlns:a="http://schemas.openxmlformats.org/drawingml/2006/main">
              <a:ext uri="{FF2B5EF4-FFF2-40B4-BE49-F238E27FC236}">
                <a16:creationId xmlns:a16="http://schemas.microsoft.com/office/drawing/2014/main" id="{707EE0F7-25C9-450C-B33A-E36DB275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ccent-3">
            <a:extLst xmlns:a="http://schemas.openxmlformats.org/drawingml/2006/main">
              <a:ext uri="{FF2B5EF4-FFF2-40B4-BE49-F238E27FC236}">
                <a16:creationId xmlns:a16="http://schemas.microsoft.com/office/drawing/2014/main" id="{DC9B1477-6B60-4E91-A092-53980162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ent-4">
            <a:extLst xmlns:a="http://schemas.openxmlformats.org/drawingml/2006/main">
              <a:ext uri="{FF2B5EF4-FFF2-40B4-BE49-F238E27FC236}">
                <a16:creationId xmlns:a16="http://schemas.microsoft.com/office/drawing/2014/main" id="{0594CCF4-931F-4D77-B4BA-3D516EEB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ccent-5">
            <a:extLst xmlns:a="http://schemas.openxmlformats.org/drawingml/2006/main">
              <a:ext uri="{FF2B5EF4-FFF2-40B4-BE49-F238E27FC236}">
                <a16:creationId xmlns:a16="http://schemas.microsoft.com/office/drawing/2014/main" id="{783C5A61-3CF9-4105-946B-20A68CC3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ccent-6">
            <a:extLst xmlns:a="http://schemas.openxmlformats.org/drawingml/2006/main">
              <a:ext uri="{FF2B5EF4-FFF2-40B4-BE49-F238E27FC236}">
                <a16:creationId xmlns:a16="http://schemas.microsoft.com/office/drawing/2014/main" id="{04D407CD-72F2-4238-852C-225C58CE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cent-7">
            <a:extLst xmlns:a="http://schemas.openxmlformats.org/drawingml/2006/main">
              <a:ext uri="{FF2B5EF4-FFF2-40B4-BE49-F238E27FC236}">
                <a16:creationId xmlns:a16="http://schemas.microsoft.com/office/drawing/2014/main" id="{6A30045B-E799-440C-A7CF-F786D9E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A4E00BA-6476-45A4-9CAE-D8C4AB5C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1234216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E4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E5531970-6681-457B-9E39-4FCD41E5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E9B8A690-B0A3-4A2B-AA20-B32E2783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2061ADC9-BDE8-4BA0-B34A-15FFECF7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CBA94C8E-76B4-4D50-9FEA-A78D57EF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66404528-E6E9-4998-845B-89EF2DB1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2DB4D8A5-B535-40C3-AF00-B7B726B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50F76F9F-AB0E-413E-BE3C-AF9F3A4C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6EF30321-9D81-4AEA-A16D-579ACDC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9B082AD5-7EBF-4577-84AC-367BE204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C4457F91-5CC0-4EA0-ABB5-7918B4F0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0D9075B7-07FE-4573-BFD0-3F024388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09901B00-8432-405E-8B1B-B39D70CC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F0A840E8-C627-4F60-9D62-7B1B5BCE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6A01D07-A141-4F75-AF53-704B9962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INVENTARIO, MARGEN Y DECISIÓN</a:t>
            </a:r>
          </a:p>
        </p:txBody>
      </p: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6C966EE7-960D-45E6-89D7-4F4B93EE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24000"/>
            <a:ext cx="885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487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Tenerlo en la cabeza no es tener inventario.</a:t>
            </a:r>
          </a:p>
        </p:txBody>
      </p:sp>
      <p:sp>
        <p:nvSpPr>
          <p:cNvPr id="16" name="inventory-receipt-shadow">
            <a:extLst xmlns:a="http://schemas.openxmlformats.org/drawingml/2006/main">
              <a:ext uri="{FF2B5EF4-FFF2-40B4-BE49-F238E27FC236}">
                <a16:creationId xmlns:a16="http://schemas.microsoft.com/office/drawing/2014/main" id="{34D97838-2A1F-40D4-8F40-DCB98792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543050" y="3990975"/>
            <a:ext cx="7429500" cy="547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ventory-receipt">
            <a:extLst xmlns:a="http://schemas.openxmlformats.org/drawingml/2006/main">
              <a:ext uri="{FF2B5EF4-FFF2-40B4-BE49-F238E27FC236}">
                <a16:creationId xmlns:a16="http://schemas.microsoft.com/office/drawing/2014/main" id="{F835B9BF-2EA6-49BC-8730-2795C403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428750" y="3857625"/>
            <a:ext cx="7429500" cy="547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18" name="inventory-receipt-tape">
            <a:extLst xmlns:a="http://schemas.openxmlformats.org/drawingml/2006/main">
              <a:ext uri="{FF2B5EF4-FFF2-40B4-BE49-F238E27FC236}">
                <a16:creationId xmlns:a16="http://schemas.microsoft.com/office/drawing/2014/main" id="{C4C94FB8-A135-4E87-B854-805A73A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2000">
            <a:off x="4610100" y="374332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eipt-title">
            <a:extLst xmlns:a="http://schemas.openxmlformats.org/drawingml/2006/main">
              <a:ext uri="{FF2B5EF4-FFF2-40B4-BE49-F238E27FC236}">
                <a16:creationId xmlns:a16="http://schemas.microsoft.com/office/drawing/2014/main" id="{1241B9BA-12F9-49D2-8D44-451310E7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43338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INVENTARIO · VERSIÓN NO OFICIAL</a:t>
            </a:r>
          </a:p>
        </p:txBody>
      </p:sp>
      <p:sp>
        <p:nvSpPr>
          <p:cNvPr id="20" name="receipt-rule-1">
            <a:extLst xmlns:a="http://schemas.openxmlformats.org/drawingml/2006/main">
              <a:ext uri="{FF2B5EF4-FFF2-40B4-BE49-F238E27FC236}">
                <a16:creationId xmlns:a16="http://schemas.microsoft.com/office/drawing/2014/main" id="{B0876158-5C02-48A0-93A0-3F6C9F45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49530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21" name="row-0-a">
            <a:extLst xmlns:a="http://schemas.openxmlformats.org/drawingml/2006/main">
              <a:ext uri="{FF2B5EF4-FFF2-40B4-BE49-F238E27FC236}">
                <a16:creationId xmlns:a16="http://schemas.microsoft.com/office/drawing/2014/main" id="{32977DFE-D1D4-4293-A06F-8565DBCC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5219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PRODUCTO</a:t>
            </a:r>
          </a:p>
        </p:txBody>
      </p:sp>
      <p:sp>
        <p:nvSpPr>
          <p:cNvPr id="22" name="row-0-b">
            <a:extLst xmlns:a="http://schemas.openxmlformats.org/drawingml/2006/main">
              <a:ext uri="{FF2B5EF4-FFF2-40B4-BE49-F238E27FC236}">
                <a16:creationId xmlns:a16="http://schemas.microsoft.com/office/drawing/2014/main" id="{86ABC97D-C5D8-4E03-90A8-434CBCCE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4476750" y="52197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¿HAY?</a:t>
            </a:r>
          </a:p>
        </p:txBody>
      </p:sp>
      <p:sp>
        <p:nvSpPr>
          <p:cNvPr id="23" name="row-0-c">
            <a:extLst xmlns:a="http://schemas.openxmlformats.org/drawingml/2006/main">
              <a:ext uri="{FF2B5EF4-FFF2-40B4-BE49-F238E27FC236}">
                <a16:creationId xmlns:a16="http://schemas.microsoft.com/office/drawing/2014/main" id="{05AE8D6C-2E41-4EEE-907A-C80D38DF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6286500" y="52197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MARGEN</a:t>
            </a:r>
          </a:p>
        </p:txBody>
      </p:sp>
      <p:sp>
        <p:nvSpPr>
          <p:cNvPr id="24" name="row-rule-0">
            <a:extLst xmlns:a="http://schemas.openxmlformats.org/drawingml/2006/main">
              <a:ext uri="{FF2B5EF4-FFF2-40B4-BE49-F238E27FC236}">
                <a16:creationId xmlns:a16="http://schemas.microsoft.com/office/drawing/2014/main" id="{E6073F99-74B9-4FBE-ADA9-4FD81ECB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577215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CB9"/>
            </a:solidFill>
            <a:prstDash val="solid"/>
          </a:ln>
        </p:spPr>
      </p:sp>
      <p:sp>
        <p:nvSpPr>
          <p:cNvPr id="25" name="row-1-a">
            <a:extLst xmlns:a="http://schemas.openxmlformats.org/drawingml/2006/main">
              <a:ext uri="{FF2B5EF4-FFF2-40B4-BE49-F238E27FC236}">
                <a16:creationId xmlns:a16="http://schemas.microsoft.com/office/drawing/2014/main" id="{E042909A-AA5F-471F-A95F-65F126E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5962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Leche</a:t>
            </a:r>
          </a:p>
        </p:txBody>
      </p:sp>
      <p:sp>
        <p:nvSpPr>
          <p:cNvPr id="26" name="row-1-b">
            <a:extLst xmlns:a="http://schemas.openxmlformats.org/drawingml/2006/main">
              <a:ext uri="{FF2B5EF4-FFF2-40B4-BE49-F238E27FC236}">
                <a16:creationId xmlns:a16="http://schemas.microsoft.com/office/drawing/2014/main" id="{101E3873-C659-4176-8E0F-B253B513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4476750" y="5962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Creo que sí</a:t>
            </a:r>
          </a:p>
        </p:txBody>
      </p:sp>
      <p:sp>
        <p:nvSpPr>
          <p:cNvPr id="27" name="row-1-c">
            <a:extLst xmlns:a="http://schemas.openxmlformats.org/drawingml/2006/main">
              <a:ext uri="{FF2B5EF4-FFF2-40B4-BE49-F238E27FC236}">
                <a16:creationId xmlns:a16="http://schemas.microsoft.com/office/drawing/2014/main" id="{173CD279-B0C8-40BD-B02E-CC1156BE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6286500" y="59626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9B39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9B3939"/>
                </a:solidFill>
                <a:latin typeface="Arial"/>
                <a:ea typeface="Arial"/>
                <a:cs typeface="Arial"/>
              </a:rPr>
              <a:t>Depende</a:t>
            </a:r>
          </a:p>
        </p:txBody>
      </p:sp>
      <p:sp>
        <p:nvSpPr>
          <p:cNvPr id="28" name="row-rule-1">
            <a:extLst xmlns:a="http://schemas.openxmlformats.org/drawingml/2006/main">
              <a:ext uri="{FF2B5EF4-FFF2-40B4-BE49-F238E27FC236}">
                <a16:creationId xmlns:a16="http://schemas.microsoft.com/office/drawing/2014/main" id="{F0F204A8-D55E-48EB-9DF6-4323BD39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65151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CB9"/>
            </a:solidFill>
            <a:prstDash val="solid"/>
          </a:ln>
        </p:spPr>
      </p:sp>
      <p:sp>
        <p:nvSpPr>
          <p:cNvPr id="29" name="row-2-a">
            <a:extLst xmlns:a="http://schemas.openxmlformats.org/drawingml/2006/main">
              <a:ext uri="{FF2B5EF4-FFF2-40B4-BE49-F238E27FC236}">
                <a16:creationId xmlns:a16="http://schemas.microsoft.com/office/drawing/2014/main" id="{DC499C1E-EE4E-4FC7-9955-856E97D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6705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Champú</a:t>
            </a:r>
          </a:p>
        </p:txBody>
      </p:sp>
      <p:sp>
        <p:nvSpPr>
          <p:cNvPr id="30" name="row-2-b">
            <a:extLst xmlns:a="http://schemas.openxmlformats.org/drawingml/2006/main">
              <a:ext uri="{FF2B5EF4-FFF2-40B4-BE49-F238E27FC236}">
                <a16:creationId xmlns:a16="http://schemas.microsoft.com/office/drawing/2014/main" id="{E74F4838-3AF8-442F-90F4-1E58B334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4476750" y="67056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En algún sitio</a:t>
            </a:r>
          </a:p>
        </p:txBody>
      </p:sp>
      <p:sp>
        <p:nvSpPr>
          <p:cNvPr id="31" name="row-2-c">
            <a:extLst xmlns:a="http://schemas.openxmlformats.org/drawingml/2006/main">
              <a:ext uri="{FF2B5EF4-FFF2-40B4-BE49-F238E27FC236}">
                <a16:creationId xmlns:a16="http://schemas.microsoft.com/office/drawing/2014/main" id="{A93CDDDA-63E1-4E0A-AD04-A96EF1F7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6286500" y="67056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9B39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9B3939"/>
                </a:solidFill>
                <a:latin typeface="Arial"/>
                <a:ea typeface="Arial"/>
                <a:cs typeface="Arial"/>
              </a:rPr>
              <a:t>Más o menos</a:t>
            </a:r>
          </a:p>
        </p:txBody>
      </p:sp>
      <p:sp>
        <p:nvSpPr>
          <p:cNvPr id="32" name="row-rule-2">
            <a:extLst xmlns:a="http://schemas.openxmlformats.org/drawingml/2006/main">
              <a:ext uri="{FF2B5EF4-FFF2-40B4-BE49-F238E27FC236}">
                <a16:creationId xmlns:a16="http://schemas.microsoft.com/office/drawing/2014/main" id="{648E11BB-1B71-4368-8DBE-35C47D4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725805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CCB9"/>
            </a:solidFill>
            <a:prstDash val="solid"/>
          </a:ln>
        </p:spPr>
      </p:sp>
      <p:sp>
        <p:nvSpPr>
          <p:cNvPr id="33" name="row-3-a">
            <a:extLst xmlns:a="http://schemas.openxmlformats.org/drawingml/2006/main">
              <a:ext uri="{FF2B5EF4-FFF2-40B4-BE49-F238E27FC236}">
                <a16:creationId xmlns:a16="http://schemas.microsoft.com/office/drawing/2014/main" id="{1AD1F352-693E-4D60-A1ED-6F4F59FA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74485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Producto estrella</a:t>
            </a:r>
          </a:p>
        </p:txBody>
      </p:sp>
      <p:sp>
        <p:nvSpPr>
          <p:cNvPr id="34" name="row-3-b">
            <a:extLst xmlns:a="http://schemas.openxmlformats.org/drawingml/2006/main">
              <a:ext uri="{FF2B5EF4-FFF2-40B4-BE49-F238E27FC236}">
                <a16:creationId xmlns:a16="http://schemas.microsoft.com/office/drawing/2014/main" id="{E8F29CBD-6D50-406A-BD5E-6572D43B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4476750" y="74485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Seguro</a:t>
            </a:r>
          </a:p>
        </p:txBody>
      </p:sp>
      <p:sp>
        <p:nvSpPr>
          <p:cNvPr id="35" name="row-3-c">
            <a:extLst xmlns:a="http://schemas.openxmlformats.org/drawingml/2006/main">
              <a:ext uri="{FF2B5EF4-FFF2-40B4-BE49-F238E27FC236}">
                <a16:creationId xmlns:a16="http://schemas.microsoft.com/office/drawing/2014/main" id="{6EA69024-E006-49CC-9FD5-01F20312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6286500" y="74485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9B393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9B3939"/>
                </a:solidFill>
                <a:latin typeface="Arial"/>
                <a:ea typeface="Arial"/>
                <a:cs typeface="Arial"/>
              </a:rPr>
              <a:t>Pregúntame a mí</a:t>
            </a:r>
          </a:p>
        </p:txBody>
      </p:sp>
      <p:sp>
        <p:nvSpPr>
          <p:cNvPr id="36" name="receipt-caption">
            <a:extLst xmlns:a="http://schemas.openxmlformats.org/drawingml/2006/main">
              <a:ext uri="{FF2B5EF4-FFF2-40B4-BE49-F238E27FC236}">
                <a16:creationId xmlns:a16="http://schemas.microsoft.com/office/drawing/2014/main" id="{1C3B37AE-B216-4C0F-813C-B24016A5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1952625" y="84391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Ilustración basada en cómo se fragmenta la información entre memoria, hojas, facturas, TPV y comprobaciones manuales.</a:t>
            </a:r>
          </a:p>
        </p:txBody>
      </p:sp>
      <p:sp>
        <p:nvSpPr>
          <p:cNvPr id="37" name="inventory-quote-receipt-shadow">
            <a:extLst xmlns:a="http://schemas.openxmlformats.org/drawingml/2006/main">
              <a:ext uri="{FF2B5EF4-FFF2-40B4-BE49-F238E27FC236}">
                <a16:creationId xmlns:a16="http://schemas.microsoft.com/office/drawing/2014/main" id="{9BB0A363-D00A-4725-84A0-4617E7CF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238250" y="9991725"/>
            <a:ext cx="8039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1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inventory-quote-receipt">
            <a:extLst xmlns:a="http://schemas.openxmlformats.org/drawingml/2006/main">
              <a:ext uri="{FF2B5EF4-FFF2-40B4-BE49-F238E27FC236}">
                <a16:creationId xmlns:a16="http://schemas.microsoft.com/office/drawing/2014/main" id="{D414F8FC-3CF7-4AC3-8405-8594E36F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123950" y="9858375"/>
            <a:ext cx="8039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39" name="inventory-quote-receipt-tape">
            <a:extLst xmlns:a="http://schemas.openxmlformats.org/drawingml/2006/main">
              <a:ext uri="{FF2B5EF4-FFF2-40B4-BE49-F238E27FC236}">
                <a16:creationId xmlns:a16="http://schemas.microsoft.com/office/drawing/2014/main" id="{AD5ED627-86F8-430C-8A7C-A1F60E2B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4610100" y="974407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ventory-quote-accent">
            <a:extLst xmlns:a="http://schemas.openxmlformats.org/drawingml/2006/main">
              <a:ext uri="{FF2B5EF4-FFF2-40B4-BE49-F238E27FC236}">
                <a16:creationId xmlns:a16="http://schemas.microsoft.com/office/drawing/2014/main" id="{5CCA75AE-ADC8-4B27-A12A-F28A842F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123950" y="9858375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inventory-quote-quote">
            <a:extLst xmlns:a="http://schemas.openxmlformats.org/drawingml/2006/main">
              <a:ext uri="{FF2B5EF4-FFF2-40B4-BE49-F238E27FC236}">
                <a16:creationId xmlns:a16="http://schemas.microsoft.com/office/drawing/2014/main" id="{BBD021E7-D355-405B-A96F-928FC67C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524000" y="102965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5315"/>
          </a:bodyPr>
          <a:lstStyle xmlns:a="http://schemas.openxmlformats.org/drawingml/2006/main"/>
          <a:p xmlns:a="http://schemas.openxmlformats.org/drawingml/2006/main">
            <a:pPr algn="l">
              <a:defRPr sz="2775" b="0" i="1">
                <a:solidFill>
                  <a:srgbClr val="26251F"/>
                </a:solidFill>
                <a:latin typeface="Georgia"/>
                <a:ea typeface="Georgia"/>
                <a:cs typeface="Georgia"/>
              </a:defRPr>
            </a:pPr>
            <a:r>
              <a:rPr sz="2775" b="0" i="1">
                <a:solidFill>
                  <a:srgbClr val="26251F"/>
                </a:solidFill>
                <a:latin typeface="Georgia"/>
                <a:ea typeface="Georgia"/>
                <a:cs typeface="Georgia"/>
              </a:rPr>
              <a:t>«Tampoco estamos en disposición de decirte cuál es nuestra ganancia por producto.»</a:t>
            </a:r>
          </a:p>
        </p:txBody>
      </p:sp>
      <p:sp>
        <p:nvSpPr>
          <p:cNvPr id="42" name="inventory-quote-attrib">
            <a:extLst xmlns:a="http://schemas.openxmlformats.org/drawingml/2006/main">
              <a:ext uri="{FF2B5EF4-FFF2-40B4-BE49-F238E27FC236}">
                <a16:creationId xmlns:a16="http://schemas.microsoft.com/office/drawing/2014/main" id="{3FEF4D0D-0F3B-4E51-8C52-167033D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524000" y="110204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PROPIETARIO · TIENDA A GRANEL</a:t>
            </a:r>
          </a:p>
        </p:txBody>
      </p:sp>
      <p:sp>
        <p:nvSpPr>
          <p:cNvPr id="43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6354D869-47B4-403E-B4AC-5B21B702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44" name="accent-0">
            <a:extLst xmlns:a="http://schemas.openxmlformats.org/drawingml/2006/main">
              <a:ext uri="{FF2B5EF4-FFF2-40B4-BE49-F238E27FC236}">
                <a16:creationId xmlns:a16="http://schemas.microsoft.com/office/drawing/2014/main" id="{F7A15CE1-4075-4D47-BF20-14EEB70F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ccent-1">
            <a:extLst xmlns:a="http://schemas.openxmlformats.org/drawingml/2006/main">
              <a:ext uri="{FF2B5EF4-FFF2-40B4-BE49-F238E27FC236}">
                <a16:creationId xmlns:a16="http://schemas.microsoft.com/office/drawing/2014/main" id="{1CB0ADC8-EF8A-42FB-BFDD-89E9435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accent-2">
            <a:extLst xmlns:a="http://schemas.openxmlformats.org/drawingml/2006/main">
              <a:ext uri="{FF2B5EF4-FFF2-40B4-BE49-F238E27FC236}">
                <a16:creationId xmlns:a16="http://schemas.microsoft.com/office/drawing/2014/main" id="{33D3BC39-88E5-4981-8C2D-78D6E275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accent-3">
            <a:extLst xmlns:a="http://schemas.openxmlformats.org/drawingml/2006/main">
              <a:ext uri="{FF2B5EF4-FFF2-40B4-BE49-F238E27FC236}">
                <a16:creationId xmlns:a16="http://schemas.microsoft.com/office/drawing/2014/main" id="{82AA4169-468A-438B-9A03-BB4EF43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accent-4">
            <a:extLst xmlns:a="http://schemas.openxmlformats.org/drawingml/2006/main">
              <a:ext uri="{FF2B5EF4-FFF2-40B4-BE49-F238E27FC236}">
                <a16:creationId xmlns:a16="http://schemas.microsoft.com/office/drawing/2014/main" id="{596A110E-0713-4A25-9F7D-6C85EC5B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accent-5">
            <a:extLst xmlns:a="http://schemas.openxmlformats.org/drawingml/2006/main">
              <a:ext uri="{FF2B5EF4-FFF2-40B4-BE49-F238E27FC236}">
                <a16:creationId xmlns:a16="http://schemas.microsoft.com/office/drawing/2014/main" id="{E543E379-2432-41AB-B833-D806CE27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accent-6">
            <a:extLst xmlns:a="http://schemas.openxmlformats.org/drawingml/2006/main">
              <a:ext uri="{FF2B5EF4-FFF2-40B4-BE49-F238E27FC236}">
                <a16:creationId xmlns:a16="http://schemas.microsoft.com/office/drawing/2014/main" id="{B7E8F057-1945-4CDF-B9D2-75839EEC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accent-7">
            <a:extLst xmlns:a="http://schemas.openxmlformats.org/drawingml/2006/main">
              <a:ext uri="{FF2B5EF4-FFF2-40B4-BE49-F238E27FC236}">
                <a16:creationId xmlns:a16="http://schemas.microsoft.com/office/drawing/2014/main" id="{B8610947-5B65-4B2A-970A-577B955C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AF5E4C-977A-47F6-92EC-777E502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379350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9E023A5E-64EA-48B7-92BD-DD31F131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F0CE2294-733A-47C2-B791-1FCF9B6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4DD00ED1-9702-41DC-A859-45260419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FC8D3F31-A5C2-44E8-9420-36DDC9B6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881DB691-0CE6-43CD-B944-7F3AB2D7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34AF872F-62BE-4082-8E10-4237E4C7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F3311F35-875D-4D66-97A1-CAE968B5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BED61FFB-3E4C-49B6-A8FD-FCC26F9B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9E85B213-A46C-43D3-9673-7FDD0A3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4D65BBB8-0F4B-4BF0-A019-EFB1339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B8DF8ED6-F4DD-4092-AC8C-A6AAF0F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335413D9-E9DF-4B84-BE4A-ED738330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C6CAAFB2-6E11-468A-B20F-CFCF9468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49FC4CC1-7043-4C8F-BB6D-13AFB67A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LA INFORMACIÓN SÍ EXISTE</a:t>
            </a:r>
          </a:p>
        </p:txBody>
      </p: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E0EC3CB0-EB62-4305-B57E-1ABBC071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24000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Solo que vive en cinco sitios a la vez.</a:t>
            </a:r>
          </a:p>
        </p:txBody>
      </p:sp>
      <p:sp>
        <p:nvSpPr>
          <p:cNvPr id="16" name="note-shadow-0">
            <a:extLst xmlns:a="http://schemas.openxmlformats.org/drawingml/2006/main">
              <a:ext uri="{FF2B5EF4-FFF2-40B4-BE49-F238E27FC236}">
                <a16:creationId xmlns:a16="http://schemas.microsoft.com/office/drawing/2014/main" id="{7B1A7C85-F8EB-43F2-B69A-A3CAF7F1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000125" y="40195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te-0">
            <a:extLst xmlns:a="http://schemas.openxmlformats.org/drawingml/2006/main">
              <a:ext uri="{FF2B5EF4-FFF2-40B4-BE49-F238E27FC236}">
                <a16:creationId xmlns:a16="http://schemas.microsoft.com/office/drawing/2014/main" id="{15D66718-24F7-41ED-A0A9-CC495F9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904875" y="3905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DF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18" name="note-tape-0">
            <a:extLst xmlns:a="http://schemas.openxmlformats.org/drawingml/2006/main">
              <a:ext uri="{FF2B5EF4-FFF2-40B4-BE49-F238E27FC236}">
                <a16:creationId xmlns:a16="http://schemas.microsoft.com/office/drawing/2014/main" id="{CD0E1053-2FF3-4EB2-A780-46F6507D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933575" y="3810000"/>
            <a:ext cx="800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te-label-0">
            <a:extLst xmlns:a="http://schemas.openxmlformats.org/drawingml/2006/main">
              <a:ext uri="{FF2B5EF4-FFF2-40B4-BE49-F238E27FC236}">
                <a16:creationId xmlns:a16="http://schemas.microsoft.com/office/drawing/2014/main" id="{650490FB-63B8-408C-B6FD-70269834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1114425" y="440055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7743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7743D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20" name="note-shadow-1">
            <a:extLst xmlns:a="http://schemas.openxmlformats.org/drawingml/2006/main">
              <a:ext uri="{FF2B5EF4-FFF2-40B4-BE49-F238E27FC236}">
                <a16:creationId xmlns:a16="http://schemas.microsoft.com/office/drawing/2014/main" id="{A43752C4-0BBA-41DF-ABEA-B0C3F20A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3810000" y="35909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te-1">
            <a:extLst xmlns:a="http://schemas.openxmlformats.org/drawingml/2006/main">
              <a:ext uri="{FF2B5EF4-FFF2-40B4-BE49-F238E27FC236}">
                <a16:creationId xmlns:a16="http://schemas.microsoft.com/office/drawing/2014/main" id="{32FB4465-0272-42A1-92E7-984C14F6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3714750" y="34766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2" name="note-tape-1">
            <a:extLst xmlns:a="http://schemas.openxmlformats.org/drawingml/2006/main">
              <a:ext uri="{FF2B5EF4-FFF2-40B4-BE49-F238E27FC236}">
                <a16:creationId xmlns:a16="http://schemas.microsoft.com/office/drawing/2014/main" id="{9CAF6957-5A78-4D39-B9D1-EDFA61EB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743450" y="3381375"/>
            <a:ext cx="800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ote-label-1">
            <a:extLst xmlns:a="http://schemas.openxmlformats.org/drawingml/2006/main">
              <a:ext uri="{FF2B5EF4-FFF2-40B4-BE49-F238E27FC236}">
                <a16:creationId xmlns:a16="http://schemas.microsoft.com/office/drawing/2014/main" id="{15783772-69EE-4F3D-94D1-CCBEFCE0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3924300" y="3971925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385B9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85B95"/>
                </a:solidFill>
                <a:latin typeface="Arial"/>
                <a:ea typeface="Arial"/>
                <a:cs typeface="Arial"/>
              </a:rPr>
              <a:t>FACTURAS</a:t>
            </a:r>
          </a:p>
        </p:txBody>
      </p:sp>
      <p:sp>
        <p:nvSpPr>
          <p:cNvPr id="24" name="note-shadow-2">
            <a:extLst xmlns:a="http://schemas.openxmlformats.org/drawingml/2006/main">
              <a:ext uri="{FF2B5EF4-FFF2-40B4-BE49-F238E27FC236}">
                <a16:creationId xmlns:a16="http://schemas.microsoft.com/office/drawing/2014/main" id="{B7C39C9B-B643-4B74-B25A-BA6AB993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572250" y="42100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ote-2">
            <a:extLst xmlns:a="http://schemas.openxmlformats.org/drawingml/2006/main">
              <a:ext uri="{FF2B5EF4-FFF2-40B4-BE49-F238E27FC236}">
                <a16:creationId xmlns:a16="http://schemas.microsoft.com/office/drawing/2014/main" id="{74DE4D7D-285D-4C02-A06C-32E8BF62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477000" y="40957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E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6" name="note-tape-2">
            <a:extLst xmlns:a="http://schemas.openxmlformats.org/drawingml/2006/main">
              <a:ext uri="{FF2B5EF4-FFF2-40B4-BE49-F238E27FC236}">
                <a16:creationId xmlns:a16="http://schemas.microsoft.com/office/drawing/2014/main" id="{C6EB4400-ECE5-4CC6-B178-26883A43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7505700" y="4000500"/>
            <a:ext cx="800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note-label-2">
            <a:extLst xmlns:a="http://schemas.openxmlformats.org/drawingml/2006/main">
              <a:ext uri="{FF2B5EF4-FFF2-40B4-BE49-F238E27FC236}">
                <a16:creationId xmlns:a16="http://schemas.microsoft.com/office/drawing/2014/main" id="{7E8EF432-6E6D-4448-81E9-28A55AE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686550" y="459105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9A536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A5360"/>
                </a:solidFill>
                <a:latin typeface="Arial"/>
                <a:ea typeface="Arial"/>
                <a:cs typeface="Arial"/>
              </a:rPr>
              <a:t>TPV</a:t>
            </a:r>
          </a:p>
        </p:txBody>
      </p:sp>
      <p:sp>
        <p:nvSpPr>
          <p:cNvPr id="28" name="note-shadow-3">
            <a:extLst xmlns:a="http://schemas.openxmlformats.org/drawingml/2006/main">
              <a:ext uri="{FF2B5EF4-FFF2-40B4-BE49-F238E27FC236}">
                <a16:creationId xmlns:a16="http://schemas.microsoft.com/office/drawing/2014/main" id="{88B0D3EE-B217-4D81-B33B-5F7FE404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047875" y="63055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note-3">
            <a:extLst xmlns:a="http://schemas.openxmlformats.org/drawingml/2006/main">
              <a:ext uri="{FF2B5EF4-FFF2-40B4-BE49-F238E27FC236}">
                <a16:creationId xmlns:a16="http://schemas.microsoft.com/office/drawing/2014/main" id="{1B73D3F9-DD3B-4757-B659-A7FE9D21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952625" y="6191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DD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30" name="note-tape-3">
            <a:extLst xmlns:a="http://schemas.openxmlformats.org/drawingml/2006/main">
              <a:ext uri="{FF2B5EF4-FFF2-40B4-BE49-F238E27FC236}">
                <a16:creationId xmlns:a16="http://schemas.microsoft.com/office/drawing/2014/main" id="{0DEC9278-8DEE-4C6F-80DC-99A6F347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2981325" y="6096000"/>
            <a:ext cx="800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note-label-3">
            <a:extLst xmlns:a="http://schemas.openxmlformats.org/drawingml/2006/main">
              <a:ext uri="{FF2B5EF4-FFF2-40B4-BE49-F238E27FC236}">
                <a16:creationId xmlns:a16="http://schemas.microsoft.com/office/drawing/2014/main" id="{4B3B0716-4B14-42AD-B1FE-592AE930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162175" y="6686550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76D8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6D8B"/>
                </a:solidFill>
                <a:latin typeface="Arial"/>
                <a:ea typeface="Arial"/>
                <a:cs typeface="Arial"/>
              </a:rPr>
              <a:t>EXCEL</a:t>
            </a:r>
          </a:p>
        </p:txBody>
      </p:sp>
      <p:sp>
        <p:nvSpPr>
          <p:cNvPr id="32" name="note-shadow-4">
            <a:extLst xmlns:a="http://schemas.openxmlformats.org/drawingml/2006/main">
              <a:ext uri="{FF2B5EF4-FFF2-40B4-BE49-F238E27FC236}">
                <a16:creationId xmlns:a16="http://schemas.microsoft.com/office/drawing/2014/main" id="{06EC7960-8CFE-47BB-9BFB-80CB564F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5476875" y="63055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ote-4">
            <a:extLst xmlns:a="http://schemas.openxmlformats.org/drawingml/2006/main">
              <a:ext uri="{FF2B5EF4-FFF2-40B4-BE49-F238E27FC236}">
                <a16:creationId xmlns:a16="http://schemas.microsoft.com/office/drawing/2014/main" id="{2F0DFD25-0E8F-457E-82CB-561AA785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5381625" y="6191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D2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34" name="note-tape-4">
            <a:extLst xmlns:a="http://schemas.openxmlformats.org/drawingml/2006/main">
              <a:ext uri="{FF2B5EF4-FFF2-40B4-BE49-F238E27FC236}">
                <a16:creationId xmlns:a16="http://schemas.microsoft.com/office/drawing/2014/main" id="{0EBECD48-FB27-4D35-947C-2A139280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6553200" y="6096000"/>
            <a:ext cx="800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note-label-4">
            <a:extLst xmlns:a="http://schemas.openxmlformats.org/drawingml/2006/main">
              <a:ext uri="{FF2B5EF4-FFF2-40B4-BE49-F238E27FC236}">
                <a16:creationId xmlns:a16="http://schemas.microsoft.com/office/drawing/2014/main" id="{9EF04A62-9BC1-4852-AE45-C39F0F8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5591175" y="66865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5F741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5F7418"/>
                </a:solidFill>
                <a:latin typeface="Arial"/>
                <a:ea typeface="Arial"/>
                <a:cs typeface="Arial"/>
              </a:rPr>
              <a:t>MEMORIA</a:t>
            </a:r>
          </a:p>
        </p:txBody>
      </p:sp>
      <p:sp>
        <p:nvSpPr>
          <p:cNvPr id="36" name="equals">
            <a:extLst xmlns:a="http://schemas.openxmlformats.org/drawingml/2006/main">
              <a:ext uri="{FF2B5EF4-FFF2-40B4-BE49-F238E27FC236}">
                <a16:creationId xmlns:a16="http://schemas.microsoft.com/office/drawing/2014/main" id="{7623D98F-4294-4B74-80B9-671D1CC8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8096250"/>
            <a:ext cx="1485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9B3939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9B3939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37" name="meaning">
            <a:extLst xmlns:a="http://schemas.openxmlformats.org/drawingml/2006/main">
              <a:ext uri="{FF2B5EF4-FFF2-40B4-BE49-F238E27FC236}">
                <a16:creationId xmlns:a16="http://schemas.microsoft.com/office/drawing/2014/main" id="{315E3F03-7CD5-4CA5-99A3-D2335F79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9239250"/>
            <a:ext cx="78486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Tener datos disponibles</a:t>
            </a:r>
          </a:p>
          <a:p xmlns:a="http://schemas.openxmlformats.org/drawingml/2006/main">
            <a:pPr algn="ctr">
              <a:defRPr sz="360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no significa poder decidir.</a:t>
            </a:r>
          </a:p>
        </p:txBody>
      </p:sp>
      <p:sp>
        <p:nvSpPr>
          <p:cNvPr id="38" name="meaning-sub">
            <a:extLst xmlns:a="http://schemas.openxmlformats.org/drawingml/2006/main">
              <a:ext uri="{FF2B5EF4-FFF2-40B4-BE49-F238E27FC236}">
                <a16:creationId xmlns:a16="http://schemas.microsoft.com/office/drawing/2014/main" id="{D2A15ACA-3974-4D10-9253-1AA9DBA9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1090612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Hace falta tiempo, confianza y contexto para convertirlos en acción.</a:t>
            </a:r>
          </a:p>
        </p:txBody>
      </p:sp>
      <p:sp>
        <p:nvSpPr>
          <p:cNvPr id="39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769D97AE-6386-471C-BE5B-E06B43B6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40" name="accent-0">
            <a:extLst xmlns:a="http://schemas.openxmlformats.org/drawingml/2006/main">
              <a:ext uri="{FF2B5EF4-FFF2-40B4-BE49-F238E27FC236}">
                <a16:creationId xmlns:a16="http://schemas.microsoft.com/office/drawing/2014/main" id="{125B7A51-9997-47CD-8CCF-4AFF5B61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cent-1">
            <a:extLst xmlns:a="http://schemas.openxmlformats.org/drawingml/2006/main">
              <a:ext uri="{FF2B5EF4-FFF2-40B4-BE49-F238E27FC236}">
                <a16:creationId xmlns:a16="http://schemas.microsoft.com/office/drawing/2014/main" id="{C1309869-3B1C-43DF-91C5-10F769B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ccent-2">
            <a:extLst xmlns:a="http://schemas.openxmlformats.org/drawingml/2006/main">
              <a:ext uri="{FF2B5EF4-FFF2-40B4-BE49-F238E27FC236}">
                <a16:creationId xmlns:a16="http://schemas.microsoft.com/office/drawing/2014/main" id="{76C150D7-37D4-4449-A172-8CD4E4E6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accent-3">
            <a:extLst xmlns:a="http://schemas.openxmlformats.org/drawingml/2006/main">
              <a:ext uri="{FF2B5EF4-FFF2-40B4-BE49-F238E27FC236}">
                <a16:creationId xmlns:a16="http://schemas.microsoft.com/office/drawing/2014/main" id="{BC5B28FA-682E-487D-9103-0F217AEF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accent-4">
            <a:extLst xmlns:a="http://schemas.openxmlformats.org/drawingml/2006/main">
              <a:ext uri="{FF2B5EF4-FFF2-40B4-BE49-F238E27FC236}">
                <a16:creationId xmlns:a16="http://schemas.microsoft.com/office/drawing/2014/main" id="{9D19BC55-C6E9-43E3-A19D-78DE05CB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ccent-5">
            <a:extLst xmlns:a="http://schemas.openxmlformats.org/drawingml/2006/main">
              <a:ext uri="{FF2B5EF4-FFF2-40B4-BE49-F238E27FC236}">
                <a16:creationId xmlns:a16="http://schemas.microsoft.com/office/drawing/2014/main" id="{736B1105-DC31-4D18-8717-ECEFA2E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accent-6">
            <a:extLst xmlns:a="http://schemas.openxmlformats.org/drawingml/2006/main">
              <a:ext uri="{FF2B5EF4-FFF2-40B4-BE49-F238E27FC236}">
                <a16:creationId xmlns:a16="http://schemas.microsoft.com/office/drawing/2014/main" id="{55269C0C-D326-4012-B4BC-24ED9651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accent-7">
            <a:extLst xmlns:a="http://schemas.openxmlformats.org/drawingml/2006/main">
              <a:ext uri="{FF2B5EF4-FFF2-40B4-BE49-F238E27FC236}">
                <a16:creationId xmlns:a16="http://schemas.microsoft.com/office/drawing/2014/main" id="{122B844E-470B-4C5D-9FD5-B6C6E0CF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4944EFC-8BD2-4031-8CEC-6D4E456A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1400859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F68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57FDC9C3-8EF5-4999-9A45-3F97D35F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14B21CF9-85AB-4622-BA5E-09BF869B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954C38ED-B616-4FC0-9505-EBBD2B63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B1144E81-04F7-42EF-BF8D-E0EDB17F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7D9246AF-BC5E-4CFD-8509-97B216FC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017EC03F-27C0-4B7F-BBE5-1D934BED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609F6CB9-2F7A-4011-BBCF-B52681CA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48E7BDBC-CFC5-42B5-A66F-00AD422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C5C596E9-7743-42B9-9D7E-E65F17EF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55F97445-C9DA-474B-BA12-6EBEF123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294A20D2-C372-43E6-B83D-F57D289C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303CD3ED-EBB9-4535-A066-4C7CB681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F0AD137A-8556-47C0-8685-B9FCB476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31117D1B-D137-49DB-9A1B-81892079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E1A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1E1A7"/>
                </a:solidFill>
                <a:latin typeface="Arial"/>
                <a:ea typeface="Arial"/>
                <a:cs typeface="Arial"/>
              </a:rPr>
              <a:t>COORDINAR NO ES LO MISMO QUE VER</a:t>
            </a:r>
          </a:p>
        </p:txBody>
      </p:sp>
      <p:sp>
        <p:nvSpPr>
          <p:cNvPr id="15" name="title-a">
            <a:extLst xmlns:a="http://schemas.openxmlformats.org/drawingml/2006/main">
              <a:ext uri="{FF2B5EF4-FFF2-40B4-BE49-F238E27FC236}">
                <a16:creationId xmlns:a16="http://schemas.microsoft.com/office/drawing/2014/main" id="{D559B7FB-CE5C-4411-97F0-B172146B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19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56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WhatsApp</a:t>
            </a:r>
          </a:p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resuelve</a:t>
            </a:r>
          </a:p>
        </p:txBody>
      </p:sp>
      <p:sp>
        <p:nvSpPr>
          <p:cNvPr id="16" name="urgent-tag-box">
            <a:extLst xmlns:a="http://schemas.openxmlformats.org/drawingml/2006/main">
              <a:ext uri="{FF2B5EF4-FFF2-40B4-BE49-F238E27FC236}">
                <a16:creationId xmlns:a16="http://schemas.microsoft.com/office/drawing/2014/main" id="{D0F05F04-9133-48F1-ADCA-2ECADB9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85800" y="31432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9525">
            <a:solidFill>
              <a:srgbClr val="26251F"/>
            </a:solidFill>
            <a:prstDash val="solid"/>
          </a:ln>
        </p:spPr>
      </p:sp>
      <p:sp>
        <p:nvSpPr>
          <p:cNvPr id="17" name="urgent-tag">
            <a:extLst xmlns:a="http://schemas.openxmlformats.org/drawingml/2006/main">
              <a:ext uri="{FF2B5EF4-FFF2-40B4-BE49-F238E27FC236}">
                <a16:creationId xmlns:a16="http://schemas.microsoft.com/office/drawing/2014/main" id="{2E4FDC00-FB9B-41FF-9355-FF236C0E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781050" y="3219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LA URGENCIA</a:t>
            </a:r>
          </a:p>
        </p:txBody>
      </p:sp>
      <p:sp>
        <p:nvSpPr>
          <p:cNvPr id="18" name="title-b">
            <a:extLst xmlns:a="http://schemas.openxmlformats.org/drawingml/2006/main">
              <a:ext uri="{FF2B5EF4-FFF2-40B4-BE49-F238E27FC236}">
                <a16:creationId xmlns:a16="http://schemas.microsoft.com/office/drawing/2014/main" id="{3C92F91D-8A93-45D7-8F73-AC8D485D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957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resuelve</a:t>
            </a:r>
          </a:p>
        </p:txBody>
      </p:sp>
      <p:sp>
        <p:nvSpPr>
          <p:cNvPr id="19" name="system-tag-box">
            <a:extLst xmlns:a="http://schemas.openxmlformats.org/drawingml/2006/main">
              <a:ext uri="{FF2B5EF4-FFF2-40B4-BE49-F238E27FC236}">
                <a16:creationId xmlns:a16="http://schemas.microsoft.com/office/drawing/2014/main" id="{EFEFB2D7-D8C4-4656-B10E-D50E7088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685800" y="5143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26251F"/>
            </a:solidFill>
            <a:prstDash val="solid"/>
          </a:ln>
        </p:spPr>
      </p:sp>
      <p:sp>
        <p:nvSpPr>
          <p:cNvPr id="20" name="system-tag">
            <a:extLst xmlns:a="http://schemas.openxmlformats.org/drawingml/2006/main">
              <a:ext uri="{FF2B5EF4-FFF2-40B4-BE49-F238E27FC236}">
                <a16:creationId xmlns:a16="http://schemas.microsoft.com/office/drawing/2014/main" id="{6853EDA9-6D4E-4A45-95F9-E2DB721D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810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EL SISTEMA</a:t>
            </a:r>
          </a:p>
        </p:txBody>
      </p:sp>
      <p:sp>
        <p:nvSpPr>
          <p:cNvPr id="21" name="bubble-0">
            <a:extLst xmlns:a="http://schemas.openxmlformats.org/drawingml/2006/main">
              <a:ext uri="{FF2B5EF4-FFF2-40B4-BE49-F238E27FC236}">
                <a16:creationId xmlns:a16="http://schemas.microsoft.com/office/drawing/2014/main" id="{E0D43650-EE87-47BD-AF51-880906A0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286375" y="2143125"/>
            <a:ext cx="3571875" cy="933450"/>
          </a:xfrm>
          <a:prstGeom xmlns:a="http://schemas.openxmlformats.org/drawingml/2006/main" prst="roundRect">
            <a:avLst>
              <a:gd name="adj" fmla="val 2040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bble-text-0">
            <a:extLst xmlns:a="http://schemas.openxmlformats.org/drawingml/2006/main">
              <a:ext uri="{FF2B5EF4-FFF2-40B4-BE49-F238E27FC236}">
                <a16:creationId xmlns:a16="http://schemas.microsoft.com/office/drawing/2014/main" id="{FB50B60C-CB59-4FF2-9BE0-24C1832A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495925" y="2390775"/>
            <a:ext cx="3152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Pedir para mañana</a:t>
            </a:r>
          </a:p>
        </p:txBody>
      </p:sp>
      <p:sp>
        <p:nvSpPr>
          <p:cNvPr id="23" name="bubble-1">
            <a:extLst xmlns:a="http://schemas.openxmlformats.org/drawingml/2006/main">
              <a:ext uri="{FF2B5EF4-FFF2-40B4-BE49-F238E27FC236}">
                <a16:creationId xmlns:a16="http://schemas.microsoft.com/office/drawing/2014/main" id="{7AE0853B-8B1B-4EB2-801D-9A9BF3B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5334000" y="3524250"/>
            <a:ext cx="3714750" cy="933450"/>
          </a:xfrm>
          <a:prstGeom xmlns:a="http://schemas.openxmlformats.org/drawingml/2006/main" prst="roundRect">
            <a:avLst>
              <a:gd name="adj" fmla="val 20408"/>
            </a:avLst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ubble-text-1">
            <a:extLst xmlns:a="http://schemas.openxmlformats.org/drawingml/2006/main">
              <a:ext uri="{FF2B5EF4-FFF2-40B4-BE49-F238E27FC236}">
                <a16:creationId xmlns:a16="http://schemas.microsoft.com/office/drawing/2014/main" id="{8299057F-73CF-45CF-B459-BC68F471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5543550" y="37719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Confirmar una entrega</a:t>
            </a:r>
          </a:p>
        </p:txBody>
      </p:sp>
      <p:sp>
        <p:nvSpPr>
          <p:cNvPr id="25" name="bubble-2">
            <a:extLst xmlns:a="http://schemas.openxmlformats.org/drawingml/2006/main">
              <a:ext uri="{FF2B5EF4-FFF2-40B4-BE49-F238E27FC236}">
                <a16:creationId xmlns:a16="http://schemas.microsoft.com/office/drawing/2014/main" id="{E7BB8968-8719-4976-9391-993A4E99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4762500" y="4905375"/>
            <a:ext cx="4286250" cy="933450"/>
          </a:xfrm>
          <a:prstGeom xmlns:a="http://schemas.openxmlformats.org/drawingml/2006/main" prst="roundRect">
            <a:avLst>
              <a:gd name="adj" fmla="val 20408"/>
            </a:avLst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ubble-text-2">
            <a:extLst xmlns:a="http://schemas.openxmlformats.org/drawingml/2006/main">
              <a:ext uri="{FF2B5EF4-FFF2-40B4-BE49-F238E27FC236}">
                <a16:creationId xmlns:a16="http://schemas.microsoft.com/office/drawing/2014/main" id="{47CDEF6E-7BBD-49A6-BC1E-9BBA5631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4972050" y="515302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Resolver una excepción</a:t>
            </a:r>
          </a:p>
        </p:txBody>
      </p:sp>
      <p:sp>
        <p:nvSpPr>
          <p:cNvPr id="27" name="system-card">
            <a:extLst xmlns:a="http://schemas.openxmlformats.org/drawingml/2006/main">
              <a:ext uri="{FF2B5EF4-FFF2-40B4-BE49-F238E27FC236}">
                <a16:creationId xmlns:a16="http://schemas.microsoft.com/office/drawing/2014/main" id="{557681F0-BCAC-49C8-8E0B-7D352FD2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685800" y="7191375"/>
            <a:ext cx="8915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system-card-title">
            <a:extLst xmlns:a="http://schemas.openxmlformats.org/drawingml/2006/main">
              <a:ext uri="{FF2B5EF4-FFF2-40B4-BE49-F238E27FC236}">
                <a16:creationId xmlns:a16="http://schemas.microsoft.com/office/drawing/2014/main" id="{7F71DBF8-BC63-4609-B7C0-1CE00725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1162050" y="766762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Lo que sigue sin verse con claridad</a:t>
            </a:r>
          </a:p>
        </p:txBody>
      </p:sp>
      <p:sp>
        <p:nvSpPr>
          <p:cNvPr id="29" name="system-list">
            <a:extLst xmlns:a="http://schemas.openxmlformats.org/drawingml/2006/main">
              <a:ext uri="{FF2B5EF4-FFF2-40B4-BE49-F238E27FC236}">
                <a16:creationId xmlns:a16="http://schemas.microsoft.com/office/drawing/2014/main" id="{0C18E248-34FA-4340-BA87-A296306B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1162050" y="85725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PEDIDOS COMPLETOS</a:t>
            </a:r>
          </a:p>
          <a:p xmlns:a="http://schemas.openxmlformats.org/drawingml/2006/main">
            <a:pPr algn="l">
              <a:defRPr sz="22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CAMBIOS DE PRECIO</a:t>
            </a:r>
          </a:p>
          <a:p xmlns:a="http://schemas.openxmlformats.org/drawingml/2006/main">
            <a:pPr algn="l">
              <a:defRPr sz="22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INVENTARIO</a:t>
            </a:r>
          </a:p>
          <a:p xmlns:a="http://schemas.openxmlformats.org/drawingml/2006/main">
            <a:pPr algn="l">
              <a:defRPr sz="225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MARGEN</a:t>
            </a:r>
          </a:p>
        </p:txBody>
      </p:sp>
      <p:sp>
        <p:nvSpPr>
          <p:cNvPr id="30" name="system-punch">
            <a:extLst xmlns:a="http://schemas.openxmlformats.org/drawingml/2006/main">
              <a:ext uri="{FF2B5EF4-FFF2-40B4-BE49-F238E27FC236}">
                <a16:creationId xmlns:a16="http://schemas.microsoft.com/office/drawing/2014/main" id="{4B3BAEF3-D3BA-4473-8EB8-329599C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5286375" y="85725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 i="1">
                <a:solidFill>
                  <a:srgbClr val="9B3939"/>
                </a:solidFill>
                <a:latin typeface="Georgia"/>
                <a:ea typeface="Georgia"/>
                <a:cs typeface="Georgia"/>
              </a:defRPr>
            </a:pPr>
            <a:r>
              <a:rPr sz="2325" b="0" i="1">
                <a:solidFill>
                  <a:srgbClr val="9B3939"/>
                </a:solidFill>
                <a:latin typeface="Georgia"/>
                <a:ea typeface="Georgia"/>
                <a:cs typeface="Georgia"/>
              </a:rPr>
              <a:t>Encaja en el día a día.</a:t>
            </a:r>
          </a:p>
          <a:p xmlns:a="http://schemas.openxmlformats.org/drawingml/2006/main">
            <a:pPr algn="ctr">
              <a:defRPr sz="2325" b="0" i="1">
                <a:solidFill>
                  <a:srgbClr val="9B3939"/>
                </a:solidFill>
                <a:latin typeface="Georgia"/>
                <a:ea typeface="Georgia"/>
                <a:cs typeface="Georgia"/>
              </a:defRPr>
            </a:pPr>
            <a:r>
              <a:rPr sz="2325" b="0" i="1">
                <a:solidFill>
                  <a:srgbClr val="9B3939"/>
                </a:solidFill>
                <a:latin typeface="Georgia"/>
                <a:ea typeface="Georgia"/>
                <a:cs typeface="Georgia"/>
              </a:rPr>
              <a:t>Pero no da una vista de conjunto.</a:t>
            </a:r>
          </a:p>
        </p:txBody>
      </p:sp>
      <p:sp>
        <p:nvSpPr>
          <p:cNvPr id="31" name="swipe">
            <a:extLst xmlns:a="http://schemas.openxmlformats.org/drawingml/2006/main">
              <a:ext uri="{FF2B5EF4-FFF2-40B4-BE49-F238E27FC236}">
                <a16:creationId xmlns:a16="http://schemas.microsoft.com/office/drawing/2014/main" id="{9F9BFBC7-6D0E-4FE7-83F1-AF7779E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109537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1E1A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1E1A7"/>
                </a:solidFill>
                <a:latin typeface="Arial"/>
                <a:ea typeface="Arial"/>
                <a:cs typeface="Arial"/>
              </a:rPr>
              <a:t>Y entonces aparece la tentación: otra herramienta →</a:t>
            </a:r>
          </a:p>
        </p:txBody>
      </p:sp>
      <p:sp>
        <p:nvSpPr>
          <p:cNvPr id="32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F01477FE-C77C-4E33-8A41-81F9D46B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E3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7E3D9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33" name="accent-0">
            <a:extLst xmlns:a="http://schemas.openxmlformats.org/drawingml/2006/main">
              <a:ext uri="{FF2B5EF4-FFF2-40B4-BE49-F238E27FC236}">
                <a16:creationId xmlns:a16="http://schemas.microsoft.com/office/drawing/2014/main" id="{2BC09F2C-5150-478D-8AE6-94FF621D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ccent-1">
            <a:extLst xmlns:a="http://schemas.openxmlformats.org/drawingml/2006/main">
              <a:ext uri="{FF2B5EF4-FFF2-40B4-BE49-F238E27FC236}">
                <a16:creationId xmlns:a16="http://schemas.microsoft.com/office/drawing/2014/main" id="{A94B0C70-4C88-43AD-9A3C-D40300C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ccent-2">
            <a:extLst xmlns:a="http://schemas.openxmlformats.org/drawingml/2006/main">
              <a:ext uri="{FF2B5EF4-FFF2-40B4-BE49-F238E27FC236}">
                <a16:creationId xmlns:a16="http://schemas.microsoft.com/office/drawing/2014/main" id="{D6353B99-501A-43A1-8333-885523B6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cent-3">
            <a:extLst xmlns:a="http://schemas.openxmlformats.org/drawingml/2006/main">
              <a:ext uri="{FF2B5EF4-FFF2-40B4-BE49-F238E27FC236}">
                <a16:creationId xmlns:a16="http://schemas.microsoft.com/office/drawing/2014/main" id="{91987331-BC67-41CE-AEE7-800DA0D8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ccent-4">
            <a:extLst xmlns:a="http://schemas.openxmlformats.org/drawingml/2006/main">
              <a:ext uri="{FF2B5EF4-FFF2-40B4-BE49-F238E27FC236}">
                <a16:creationId xmlns:a16="http://schemas.microsoft.com/office/drawing/2014/main" id="{13BF02DF-0297-4640-AF7B-DAB2019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ccent-5">
            <a:extLst xmlns:a="http://schemas.openxmlformats.org/drawingml/2006/main">
              <a:ext uri="{FF2B5EF4-FFF2-40B4-BE49-F238E27FC236}">
                <a16:creationId xmlns:a16="http://schemas.microsoft.com/office/drawing/2014/main" id="{806BDB91-74BB-4861-9CD2-07D3F5F0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ccent-6">
            <a:extLst xmlns:a="http://schemas.openxmlformats.org/drawingml/2006/main">
              <a:ext uri="{FF2B5EF4-FFF2-40B4-BE49-F238E27FC236}">
                <a16:creationId xmlns:a16="http://schemas.microsoft.com/office/drawing/2014/main" id="{BC6051E1-7351-41CD-8F1B-A7952613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accent-7">
            <a:extLst xmlns:a="http://schemas.openxmlformats.org/drawingml/2006/main">
              <a:ext uri="{FF2B5EF4-FFF2-40B4-BE49-F238E27FC236}">
                <a16:creationId xmlns:a16="http://schemas.microsoft.com/office/drawing/2014/main" id="{B4ACE241-9E56-48C9-A6BE-22E5CD7A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6705F39-BD8A-4DB6-B946-D0DEF171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7E3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7E3D9"/>
                </a:solidFill>
                <a:latin typeface="Arial"/>
                <a:ea typeface="Arial"/>
                <a:cs typeface="Arial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984848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FF3C1A54-971C-4D1D-8B70-07F58C8B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CBD6A273-2C49-4A6F-9EFB-6FC4E835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B8F58FF1-255F-4214-A094-7909EA61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447EBDE5-5363-4B1E-90D1-2246CAB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04DCAC88-5E70-4D6B-BFD5-84F9C7DB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A800B8E1-51CC-46E9-8BC2-DA5FD7C7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53EC53B9-0042-431F-A908-E1581EE1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80F58EE2-A916-41CA-A753-9B20A80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8840712A-130D-4506-811D-0AB65B95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ABF59575-129D-4EDA-B552-56753D48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2567AB16-697C-48A6-A008-FE6B556A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3F5AB1A5-9438-4188-9DDF-51834BA2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3F71BBDC-DD03-4062-99E2-554796E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76F9E7EB-0410-4A7D-9208-1BCFC8FD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PERO “MÁS DIGITAL” NO ES LA META</a:t>
            </a:r>
          </a:p>
        </p:txBody>
      </p: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EB8D1307-3686-4F85-989D-6EAD23A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24000"/>
            <a:ext cx="885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487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Una herramienta se queda si reduce trabajo.</a:t>
            </a:r>
          </a:p>
        </p:txBody>
      </p:sp>
      <p:sp>
        <p:nvSpPr>
          <p:cNvPr id="16" name="not-this">
            <a:extLst xmlns:a="http://schemas.openxmlformats.org/drawingml/2006/main">
              <a:ext uri="{FF2B5EF4-FFF2-40B4-BE49-F238E27FC236}">
                <a16:creationId xmlns:a16="http://schemas.microsoft.com/office/drawing/2014/main" id="{66B60B4E-32A1-42DC-A7AA-0D370676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31908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9B393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9B3939"/>
                </a:solidFill>
                <a:latin typeface="Arial"/>
                <a:ea typeface="Arial"/>
                <a:cs typeface="Arial"/>
              </a:rPr>
              <a:t>OTRO LOGIN</a:t>
            </a:r>
          </a:p>
        </p:txBody>
      </p:sp>
      <p:sp>
        <p:nvSpPr>
          <p:cNvPr id="17" name="strike">
            <a:extLst xmlns:a="http://schemas.openxmlformats.org/drawingml/2006/main">
              <a:ext uri="{FF2B5EF4-FFF2-40B4-BE49-F238E27FC236}">
                <a16:creationId xmlns:a16="http://schemas.microsoft.com/office/drawing/2014/main" id="{E5271641-8DA6-425F-9764-2E0B49E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048500" y="3476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B3939"/>
            </a:solidFill>
            <a:prstDash val="solid"/>
          </a:ln>
        </p:spPr>
      </p:sp>
      <p:sp>
        <p:nvSpPr>
          <p:cNvPr id="18" name="check-0-shadow">
            <a:extLst xmlns:a="http://schemas.openxmlformats.org/drawingml/2006/main">
              <a:ext uri="{FF2B5EF4-FFF2-40B4-BE49-F238E27FC236}">
                <a16:creationId xmlns:a16="http://schemas.microsoft.com/office/drawing/2014/main" id="{F9456D82-7C68-4E53-9C51-2DB0E7D4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1019175" y="4229100"/>
            <a:ext cx="8477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eck-0">
            <a:extLst xmlns:a="http://schemas.openxmlformats.org/drawingml/2006/main">
              <a:ext uri="{FF2B5EF4-FFF2-40B4-BE49-F238E27FC236}">
                <a16:creationId xmlns:a16="http://schemas.microsoft.com/office/drawing/2014/main" id="{B5F46510-ADCB-4D6D-A1E4-C52DD93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904875" y="4095750"/>
            <a:ext cx="8477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0" name="check-0-tape">
            <a:extLst xmlns:a="http://schemas.openxmlformats.org/drawingml/2006/main">
              <a:ext uri="{FF2B5EF4-FFF2-40B4-BE49-F238E27FC236}">
                <a16:creationId xmlns:a16="http://schemas.microsoft.com/office/drawing/2014/main" id="{133B54C7-0EE1-4BAE-ACD7-D9A33138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">
            <a:off x="4610100" y="398145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-n-0">
            <a:extLst xmlns:a="http://schemas.openxmlformats.org/drawingml/2006/main">
              <a:ext uri="{FF2B5EF4-FFF2-40B4-BE49-F238E27FC236}">
                <a16:creationId xmlns:a16="http://schemas.microsoft.com/office/drawing/2014/main" id="{DD253D86-5AD8-4BE6-BC77-C42A8EFB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1238250" y="44386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A536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9A53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check-title-0">
            <a:extLst xmlns:a="http://schemas.openxmlformats.org/drawingml/2006/main">
              <a:ext uri="{FF2B5EF4-FFF2-40B4-BE49-F238E27FC236}">
                <a16:creationId xmlns:a16="http://schemas.microsoft.com/office/drawing/2014/main" id="{AFD973AB-759F-48DA-9872-AD23D0A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2333625" y="43815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Ahorra trabajo visible</a:t>
            </a:r>
          </a:p>
        </p:txBody>
      </p:sp>
      <p:sp>
        <p:nvSpPr>
          <p:cNvPr id="23" name="check-copy-0">
            <a:extLst xmlns:a="http://schemas.openxmlformats.org/drawingml/2006/main">
              <a:ext uri="{FF2B5EF4-FFF2-40B4-BE49-F238E27FC236}">
                <a16:creationId xmlns:a16="http://schemas.microsoft.com/office/drawing/2014/main" id="{E82B8CA9-EC21-4C43-BFE6-02E2592E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2333625" y="49339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No promete “eficiencia”: elimina una tarea concreta.</a:t>
            </a:r>
          </a:p>
        </p:txBody>
      </p:sp>
      <p:sp>
        <p:nvSpPr>
          <p:cNvPr id="24" name="check-1-shadow">
            <a:extLst xmlns:a="http://schemas.openxmlformats.org/drawingml/2006/main">
              <a:ext uri="{FF2B5EF4-FFF2-40B4-BE49-F238E27FC236}">
                <a16:creationId xmlns:a16="http://schemas.microsoft.com/office/drawing/2014/main" id="{AB577946-BBF1-4CFC-ACD8-4A2B5989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1019175" y="6181725"/>
            <a:ext cx="8477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heck-1">
            <a:extLst xmlns:a="http://schemas.openxmlformats.org/drawingml/2006/main">
              <a:ext uri="{FF2B5EF4-FFF2-40B4-BE49-F238E27FC236}">
                <a16:creationId xmlns:a16="http://schemas.microsoft.com/office/drawing/2014/main" id="{7019B43D-FF90-48C7-898A-7E540DED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904875" y="6048375"/>
            <a:ext cx="8477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6" name="check-1-tape">
            <a:extLst xmlns:a="http://schemas.openxmlformats.org/drawingml/2006/main">
              <a:ext uri="{FF2B5EF4-FFF2-40B4-BE49-F238E27FC236}">
                <a16:creationId xmlns:a16="http://schemas.microsoft.com/office/drawing/2014/main" id="{4961A105-7378-4728-A331-A42B8DC5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">
            <a:off x="4610100" y="593407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-n-1">
            <a:extLst xmlns:a="http://schemas.openxmlformats.org/drawingml/2006/main">
              <a:ext uri="{FF2B5EF4-FFF2-40B4-BE49-F238E27FC236}">
                <a16:creationId xmlns:a16="http://schemas.microsoft.com/office/drawing/2014/main" id="{CADBBC74-B67A-4F0F-9FC6-2E454C49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1238250" y="63912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6D8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6D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check-title-1">
            <a:extLst xmlns:a="http://schemas.openxmlformats.org/drawingml/2006/main">
              <a:ext uri="{FF2B5EF4-FFF2-40B4-BE49-F238E27FC236}">
                <a16:creationId xmlns:a16="http://schemas.microsoft.com/office/drawing/2014/main" id="{0511097F-1E9C-48EB-A935-919FE2B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2333625" y="6334125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Aparece en el momento adecuado</a:t>
            </a:r>
          </a:p>
        </p:txBody>
      </p:sp>
      <p:sp>
        <p:nvSpPr>
          <p:cNvPr id="29" name="check-copy-1">
            <a:extLst xmlns:a="http://schemas.openxmlformats.org/drawingml/2006/main">
              <a:ext uri="{FF2B5EF4-FFF2-40B4-BE49-F238E27FC236}">
                <a16:creationId xmlns:a16="http://schemas.microsoft.com/office/drawing/2014/main" id="{7FD20D79-EAB8-4F5A-A136-B363B156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">
            <a:off x="2333625" y="68865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No obliga a salir del flujo real de la tienda.</a:t>
            </a:r>
          </a:p>
        </p:txBody>
      </p:sp>
      <p:sp>
        <p:nvSpPr>
          <p:cNvPr id="30" name="check-2-shadow">
            <a:extLst xmlns:a="http://schemas.openxmlformats.org/drawingml/2006/main">
              <a:ext uri="{FF2B5EF4-FFF2-40B4-BE49-F238E27FC236}">
                <a16:creationId xmlns:a16="http://schemas.microsoft.com/office/drawing/2014/main" id="{2412B697-5B4D-4C5E-B8C4-DCF03C3F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1019175" y="8134350"/>
            <a:ext cx="8477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-2">
            <a:extLst xmlns:a="http://schemas.openxmlformats.org/drawingml/2006/main">
              <a:ext uri="{FF2B5EF4-FFF2-40B4-BE49-F238E27FC236}">
                <a16:creationId xmlns:a16="http://schemas.microsoft.com/office/drawing/2014/main" id="{BE01C356-3DCB-4677-84BB-26CC6980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904875" y="8001000"/>
            <a:ext cx="8477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32" name="check-2-tape">
            <a:extLst xmlns:a="http://schemas.openxmlformats.org/drawingml/2006/main">
              <a:ext uri="{FF2B5EF4-FFF2-40B4-BE49-F238E27FC236}">
                <a16:creationId xmlns:a16="http://schemas.microsoft.com/office/drawing/2014/main" id="{E8F817E7-E517-47F4-8B6A-1DF8C0AB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">
            <a:off x="4610100" y="788670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-n-2">
            <a:extLst xmlns:a="http://schemas.openxmlformats.org/drawingml/2006/main">
              <a:ext uri="{FF2B5EF4-FFF2-40B4-BE49-F238E27FC236}">
                <a16:creationId xmlns:a16="http://schemas.microsoft.com/office/drawing/2014/main" id="{A1D1D080-A65D-42C3-85A8-555B7154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1238250" y="83439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5F74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5F74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check-title-2">
            <a:extLst xmlns:a="http://schemas.openxmlformats.org/drawingml/2006/main">
              <a:ext uri="{FF2B5EF4-FFF2-40B4-BE49-F238E27FC236}">
                <a16:creationId xmlns:a16="http://schemas.microsoft.com/office/drawing/2014/main" id="{DE9AB942-A9CE-4BA3-9A14-DA578F1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2333625" y="82867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No añade otra capa de complejidad</a:t>
            </a:r>
          </a:p>
        </p:txBody>
      </p:sp>
      <p:sp>
        <p:nvSpPr>
          <p:cNvPr id="35" name="check-copy-2">
            <a:extLst xmlns:a="http://schemas.openxmlformats.org/drawingml/2006/main">
              <a:ext uri="{FF2B5EF4-FFF2-40B4-BE49-F238E27FC236}">
                <a16:creationId xmlns:a16="http://schemas.microsoft.com/office/drawing/2014/main" id="{FA6E1654-50D5-4DAA-8D9E-907AE97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">
            <a:off x="2333625" y="883920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La confianza también forma parte de la experiencia.</a:t>
            </a:r>
          </a:p>
        </p:txBody>
      </p:sp>
      <p:sp>
        <p:nvSpPr>
          <p:cNvPr id="36" name="tool-quote-receipt-shadow">
            <a:extLst xmlns:a="http://schemas.openxmlformats.org/drawingml/2006/main">
              <a:ext uri="{FF2B5EF4-FFF2-40B4-BE49-F238E27FC236}">
                <a16:creationId xmlns:a16="http://schemas.microsoft.com/office/drawing/2014/main" id="{3691751B-6CAC-4958-BB9E-3A401142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543050" y="10325100"/>
            <a:ext cx="7429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1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ool-quote-receipt">
            <a:extLst xmlns:a="http://schemas.openxmlformats.org/drawingml/2006/main">
              <a:ext uri="{FF2B5EF4-FFF2-40B4-BE49-F238E27FC236}">
                <a16:creationId xmlns:a16="http://schemas.microsoft.com/office/drawing/2014/main" id="{41D68E2E-1A8A-43D4-AE10-62797665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428750" y="10191750"/>
            <a:ext cx="7429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38" name="tool-quote-receipt-tape">
            <a:extLst xmlns:a="http://schemas.openxmlformats.org/drawingml/2006/main">
              <a:ext uri="{FF2B5EF4-FFF2-40B4-BE49-F238E27FC236}">
                <a16:creationId xmlns:a16="http://schemas.microsoft.com/office/drawing/2014/main" id="{F934399C-64FE-46B3-BAFD-BC61B9C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4610100" y="1007745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ool-quote-accent">
            <a:extLst xmlns:a="http://schemas.openxmlformats.org/drawingml/2006/main">
              <a:ext uri="{FF2B5EF4-FFF2-40B4-BE49-F238E27FC236}">
                <a16:creationId xmlns:a16="http://schemas.microsoft.com/office/drawing/2014/main" id="{8B7476C0-5AF1-4E5B-8556-CCDDD561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428750" y="10191750"/>
            <a:ext cx="9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ool-quote-quote">
            <a:extLst xmlns:a="http://schemas.openxmlformats.org/drawingml/2006/main">
              <a:ext uri="{FF2B5EF4-FFF2-40B4-BE49-F238E27FC236}">
                <a16:creationId xmlns:a16="http://schemas.microsoft.com/office/drawing/2014/main" id="{06F96E9A-E42D-4B8B-8766-904A243F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828800" y="10629900"/>
            <a:ext cx="662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586"/>
          </a:bodyPr>
          <a:lstStyle xmlns:a="http://schemas.openxmlformats.org/drawingml/2006/main"/>
          <a:p xmlns:a="http://schemas.openxmlformats.org/drawingml/2006/main">
            <a:pPr algn="l">
              <a:defRPr sz="2775" b="0" i="1">
                <a:solidFill>
                  <a:srgbClr val="26251F"/>
                </a:solidFill>
                <a:latin typeface="Georgia"/>
                <a:ea typeface="Georgia"/>
                <a:cs typeface="Georgia"/>
              </a:defRPr>
            </a:pPr>
            <a:r>
              <a:rPr sz="2775" b="0" i="1">
                <a:solidFill>
                  <a:srgbClr val="26251F"/>
                </a:solidFill>
                <a:latin typeface="Georgia"/>
                <a:ea typeface="Georgia"/>
                <a:cs typeface="Georgia"/>
              </a:rPr>
              <a:t>«Yo me ahorro mucho trabajo con eso.»</a:t>
            </a:r>
          </a:p>
        </p:txBody>
      </p:sp>
      <p:sp>
        <p:nvSpPr>
          <p:cNvPr id="41" name="tool-quote-attrib">
            <a:extLst xmlns:a="http://schemas.openxmlformats.org/drawingml/2006/main">
              <a:ext uri="{FF2B5EF4-FFF2-40B4-BE49-F238E27FC236}">
                <a16:creationId xmlns:a16="http://schemas.microsoft.com/office/drawing/2014/main" id="{35AFB78F-89AC-42D5-B1B4-7BF2DA25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828800" y="11163300"/>
            <a:ext cx="662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PROPIETARIA · SALÓN DE ESTÉTICA, SOBRE SU APP DE RESERVAS</a:t>
            </a:r>
          </a:p>
        </p:txBody>
      </p:sp>
      <p:sp>
        <p:nvSpPr>
          <p:cNvPr id="42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41514D05-06CB-4B61-BDC1-BA0307AA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43" name="accent-0">
            <a:extLst xmlns:a="http://schemas.openxmlformats.org/drawingml/2006/main">
              <a:ext uri="{FF2B5EF4-FFF2-40B4-BE49-F238E27FC236}">
                <a16:creationId xmlns:a16="http://schemas.microsoft.com/office/drawing/2014/main" id="{864C9515-C91B-481F-90FD-39200EBD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accent-1">
            <a:extLst xmlns:a="http://schemas.openxmlformats.org/drawingml/2006/main">
              <a:ext uri="{FF2B5EF4-FFF2-40B4-BE49-F238E27FC236}">
                <a16:creationId xmlns:a16="http://schemas.microsoft.com/office/drawing/2014/main" id="{2611F506-4262-419A-843C-5684DB8C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ccent-2">
            <a:extLst xmlns:a="http://schemas.openxmlformats.org/drawingml/2006/main">
              <a:ext uri="{FF2B5EF4-FFF2-40B4-BE49-F238E27FC236}">
                <a16:creationId xmlns:a16="http://schemas.microsoft.com/office/drawing/2014/main" id="{FDA5D845-8D9F-4F46-A3C1-2267EA75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accent-3">
            <a:extLst xmlns:a="http://schemas.openxmlformats.org/drawingml/2006/main">
              <a:ext uri="{FF2B5EF4-FFF2-40B4-BE49-F238E27FC236}">
                <a16:creationId xmlns:a16="http://schemas.microsoft.com/office/drawing/2014/main" id="{35740C9B-CA4A-41E0-98A0-855583E0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accent-4">
            <a:extLst xmlns:a="http://schemas.openxmlformats.org/drawingml/2006/main">
              <a:ext uri="{FF2B5EF4-FFF2-40B4-BE49-F238E27FC236}">
                <a16:creationId xmlns:a16="http://schemas.microsoft.com/office/drawing/2014/main" id="{0DC72002-67F0-4BAC-83D7-AB6C25E7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accent-5">
            <a:extLst xmlns:a="http://schemas.openxmlformats.org/drawingml/2006/main">
              <a:ext uri="{FF2B5EF4-FFF2-40B4-BE49-F238E27FC236}">
                <a16:creationId xmlns:a16="http://schemas.microsoft.com/office/drawing/2014/main" id="{5128430A-25D8-4926-8849-5E35763F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accent-6">
            <a:extLst xmlns:a="http://schemas.openxmlformats.org/drawingml/2006/main">
              <a:ext uri="{FF2B5EF4-FFF2-40B4-BE49-F238E27FC236}">
                <a16:creationId xmlns:a16="http://schemas.microsoft.com/office/drawing/2014/main" id="{C71528D3-7189-4135-9138-85284627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accent-7">
            <a:extLst xmlns:a="http://schemas.openxmlformats.org/drawingml/2006/main">
              <a:ext uri="{FF2B5EF4-FFF2-40B4-BE49-F238E27FC236}">
                <a16:creationId xmlns:a16="http://schemas.microsoft.com/office/drawing/2014/main" id="{9E7EE1F7-D8B2-4270-B774-615D134E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2822C88-4131-4A83-896A-D28D2F29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360707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E1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BA76C0F6-3C71-465C-858A-48274FAF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0EC687F9-1263-49E2-AF85-5CC1F72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70B37E34-965C-47C5-9757-90C4700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058395C8-E6C7-470C-99A2-C00D250A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506ADBAC-2804-454A-9F23-E53FA496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8FACD051-78DF-494D-B2FA-553C0B82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E6026F09-559E-4D59-880D-13A8A635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4DE571E3-7C90-41A6-8025-4C1E8250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9D80CBE9-4E21-4FD2-9EC8-694F9D33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7D44E2A7-0E33-4D55-92C8-3324CC01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6E748746-629F-410A-86D3-233033F4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6391B880-E958-4F7A-9C75-37EC1BB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8480A859-E465-4D0D-8F2C-81BF88D1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08FBC2C5-97D2-48AF-AA59-37A27B14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LA PREGUNTA CAMBIA EL PRODUCTO</a:t>
            </a:r>
          </a:p>
        </p:txBody>
      </p:sp>
      <p:sp>
        <p:nvSpPr>
          <p:cNvPr id="15" name="wrong-label">
            <a:extLst xmlns:a="http://schemas.openxmlformats.org/drawingml/2006/main">
              <a:ext uri="{FF2B5EF4-FFF2-40B4-BE49-F238E27FC236}">
                <a16:creationId xmlns:a16="http://schemas.microsoft.com/office/drawing/2014/main" id="{F5997A8B-C877-496C-932E-79EE5E97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8573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B39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B3939"/>
                </a:solidFill>
                <a:latin typeface="Arial"/>
                <a:ea typeface="Arial"/>
                <a:cs typeface="Arial"/>
              </a:rPr>
              <a:t>LA PREGUNTA FÁCIL</a:t>
            </a:r>
          </a:p>
        </p:txBody>
      </p:sp>
      <p:sp>
        <p:nvSpPr>
          <p:cNvPr id="16" name="wrong">
            <a:extLst xmlns:a="http://schemas.openxmlformats.org/drawingml/2006/main">
              <a:ext uri="{FF2B5EF4-FFF2-40B4-BE49-F238E27FC236}">
                <a16:creationId xmlns:a16="http://schemas.microsoft.com/office/drawing/2014/main" id="{4A5015F3-BC35-4C47-AB33-5C7A352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428875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¿Cómo digitalizamos la tienda?</a:t>
            </a:r>
          </a:p>
        </p:txBody>
      </p:sp>
      <p:sp>
        <p:nvSpPr>
          <p:cNvPr id="17" name="wrong-strike">
            <a:extLst xmlns:a="http://schemas.openxmlformats.org/drawingml/2006/main">
              <a:ext uri="{FF2B5EF4-FFF2-40B4-BE49-F238E27FC236}">
                <a16:creationId xmlns:a16="http://schemas.microsoft.com/office/drawing/2014/main" id="{9E4CB06C-8492-431D-9E79-99642A9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28650" y="3000375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9B3939"/>
            </a:solidFill>
            <a:prstDash val="solid"/>
          </a:ln>
        </p:spPr>
      </p:sp>
      <p:sp>
        <p:nvSpPr>
          <p:cNvPr id="18" name="right-label">
            <a:extLst xmlns:a="http://schemas.openxmlformats.org/drawingml/2006/main">
              <a:ext uri="{FF2B5EF4-FFF2-40B4-BE49-F238E27FC236}">
                <a16:creationId xmlns:a16="http://schemas.microsoft.com/office/drawing/2014/main" id="{C7D6CE6E-7C29-4DE0-8ABB-D2C6285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LA PREGUNTA ÚTIL</a:t>
            </a:r>
          </a:p>
        </p:txBody>
      </p:sp>
      <p:sp>
        <p:nvSpPr>
          <p:cNvPr id="19" name="right">
            <a:extLst xmlns:a="http://schemas.openxmlformats.org/drawingml/2006/main">
              <a:ext uri="{FF2B5EF4-FFF2-40B4-BE49-F238E27FC236}">
                <a16:creationId xmlns:a16="http://schemas.microsoft.com/office/drawing/2014/main" id="{EE5362DF-5577-4BA0-A50A-3368EB9A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62500"/>
            <a:ext cx="885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¿Qué decisión necesita ser más fácil mañana?</a:t>
            </a:r>
          </a:p>
        </p:txBody>
      </p:sp>
      <p:sp>
        <p:nvSpPr>
          <p:cNvPr id="20" name="decision-0">
            <a:extLst xmlns:a="http://schemas.openxmlformats.org/drawingml/2006/main">
              <a:ext uri="{FF2B5EF4-FFF2-40B4-BE49-F238E27FC236}">
                <a16:creationId xmlns:a16="http://schemas.microsoft.com/office/drawing/2014/main" id="{609C0207-4196-4CD2-A6FE-3719542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85800" y="73342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1" name="decision-text-0">
            <a:extLst xmlns:a="http://schemas.openxmlformats.org/drawingml/2006/main">
              <a:ext uri="{FF2B5EF4-FFF2-40B4-BE49-F238E27FC236}">
                <a16:creationId xmlns:a16="http://schemas.microsoft.com/office/drawing/2014/main" id="{53170A6E-3487-404A-B829-AD850D30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895350" y="7600950"/>
            <a:ext cx="3676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COMPRAR</a:t>
            </a:r>
          </a:p>
        </p:txBody>
      </p:sp>
      <p:sp>
        <p:nvSpPr>
          <p:cNvPr id="22" name="decision-1">
            <a:extLst xmlns:a="http://schemas.openxmlformats.org/drawingml/2006/main">
              <a:ext uri="{FF2B5EF4-FFF2-40B4-BE49-F238E27FC236}">
                <a16:creationId xmlns:a16="http://schemas.microsoft.com/office/drawing/2014/main" id="{AC615F3E-5EFB-4EBD-A5C7-E7034820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257800" y="73342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DF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3" name="decision-text-1">
            <a:extLst xmlns:a="http://schemas.openxmlformats.org/drawingml/2006/main">
              <a:ext uri="{FF2B5EF4-FFF2-40B4-BE49-F238E27FC236}">
                <a16:creationId xmlns:a16="http://schemas.microsoft.com/office/drawing/2014/main" id="{B9103300-7752-48FA-8F46-7E4EA1D3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467350" y="7600950"/>
            <a:ext cx="3676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REPONER</a:t>
            </a:r>
          </a:p>
        </p:txBody>
      </p:sp>
      <p:sp>
        <p:nvSpPr>
          <p:cNvPr id="24" name="decision-2">
            <a:extLst xmlns:a="http://schemas.openxmlformats.org/drawingml/2006/main">
              <a:ext uri="{FF2B5EF4-FFF2-40B4-BE49-F238E27FC236}">
                <a16:creationId xmlns:a16="http://schemas.microsoft.com/office/drawing/2014/main" id="{4271C2A3-8931-4D0B-8382-1A9793C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85800" y="8810625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5" name="decision-text-2">
            <a:extLst xmlns:a="http://schemas.openxmlformats.org/drawingml/2006/main">
              <a:ext uri="{FF2B5EF4-FFF2-40B4-BE49-F238E27FC236}">
                <a16:creationId xmlns:a16="http://schemas.microsoft.com/office/drawing/2014/main" id="{D7C7D6A5-A258-400B-B1A7-5AC38BCF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895350" y="9077325"/>
            <a:ext cx="3676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9B393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9B3939"/>
                </a:solidFill>
                <a:latin typeface="Arial"/>
                <a:ea typeface="Arial"/>
                <a:cs typeface="Arial"/>
              </a:rPr>
              <a:t>CAMBIAR PRECIO</a:t>
            </a:r>
          </a:p>
        </p:txBody>
      </p:sp>
      <p:sp>
        <p:nvSpPr>
          <p:cNvPr id="26" name="decision-3">
            <a:extLst xmlns:a="http://schemas.openxmlformats.org/drawingml/2006/main">
              <a:ext uri="{FF2B5EF4-FFF2-40B4-BE49-F238E27FC236}">
                <a16:creationId xmlns:a16="http://schemas.microsoft.com/office/drawing/2014/main" id="{AECFB413-B33C-4A2A-B463-3FD791C0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257800" y="8810625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DF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27" name="decision-text-3">
            <a:extLst xmlns:a="http://schemas.openxmlformats.org/drawingml/2006/main">
              <a:ext uri="{FF2B5EF4-FFF2-40B4-BE49-F238E27FC236}">
                <a16:creationId xmlns:a16="http://schemas.microsoft.com/office/drawing/2014/main" id="{7E4629FB-3EE5-4390-90CF-FF43DF15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467350" y="9077325"/>
            <a:ext cx="3676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DEJAR UN PRODUCTO</a:t>
            </a:r>
          </a:p>
        </p:txBody>
      </p:sp>
      <p:sp>
        <p:nvSpPr>
          <p:cNvPr id="28" name="reframe-note">
            <a:extLst xmlns:a="http://schemas.openxmlformats.org/drawingml/2006/main">
              <a:ext uri="{FF2B5EF4-FFF2-40B4-BE49-F238E27FC236}">
                <a16:creationId xmlns:a16="http://schemas.microsoft.com/office/drawing/2014/main" id="{662F71F5-255B-4B50-AA02-097EB24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052512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 i="1">
                <a:solidFill>
                  <a:srgbClr val="26251F"/>
                </a:solidFill>
                <a:latin typeface="Georgia"/>
                <a:ea typeface="Georgia"/>
                <a:cs typeface="Georgia"/>
              </a:defRPr>
            </a:pPr>
            <a:r>
              <a:rPr sz="2550" b="0" i="1">
                <a:solidFill>
                  <a:srgbClr val="26251F"/>
                </a:solidFill>
                <a:latin typeface="Georgia"/>
                <a:ea typeface="Georgia"/>
                <a:cs typeface="Georgia"/>
              </a:rPr>
              <a:t>La tecnología es una posibilidad. La decisión es el punto de partida.</a:t>
            </a:r>
          </a:p>
        </p:txBody>
      </p:sp>
      <p:sp>
        <p:nvSpPr>
          <p:cNvPr id="29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C83C9764-4F8E-4A39-873D-9189F41B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30" name="accent-0">
            <a:extLst xmlns:a="http://schemas.openxmlformats.org/drawingml/2006/main">
              <a:ext uri="{FF2B5EF4-FFF2-40B4-BE49-F238E27FC236}">
                <a16:creationId xmlns:a16="http://schemas.microsoft.com/office/drawing/2014/main" id="{1740EC84-10A0-4250-B10A-6DA36AB2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ent-1">
            <a:extLst xmlns:a="http://schemas.openxmlformats.org/drawingml/2006/main">
              <a:ext uri="{FF2B5EF4-FFF2-40B4-BE49-F238E27FC236}">
                <a16:creationId xmlns:a16="http://schemas.microsoft.com/office/drawing/2014/main" id="{83209C2C-CAE1-47DA-B480-7E8ED60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ccent-2">
            <a:extLst xmlns:a="http://schemas.openxmlformats.org/drawingml/2006/main">
              <a:ext uri="{FF2B5EF4-FFF2-40B4-BE49-F238E27FC236}">
                <a16:creationId xmlns:a16="http://schemas.microsoft.com/office/drawing/2014/main" id="{41471AF9-2E68-4437-B628-72C0CCEB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ent-3">
            <a:extLst xmlns:a="http://schemas.openxmlformats.org/drawingml/2006/main">
              <a:ext uri="{FF2B5EF4-FFF2-40B4-BE49-F238E27FC236}">
                <a16:creationId xmlns:a16="http://schemas.microsoft.com/office/drawing/2014/main" id="{99E4ECB0-1C60-44A2-8EE3-91BF6CA7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ccent-4">
            <a:extLst xmlns:a="http://schemas.openxmlformats.org/drawingml/2006/main">
              <a:ext uri="{FF2B5EF4-FFF2-40B4-BE49-F238E27FC236}">
                <a16:creationId xmlns:a16="http://schemas.microsoft.com/office/drawing/2014/main" id="{FA44828B-46C8-4B26-9960-F0736BC2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ccent-5">
            <a:extLst xmlns:a="http://schemas.openxmlformats.org/drawingml/2006/main">
              <a:ext uri="{FF2B5EF4-FFF2-40B4-BE49-F238E27FC236}">
                <a16:creationId xmlns:a16="http://schemas.microsoft.com/office/drawing/2014/main" id="{EB5D0D6B-B93C-4820-9709-40074F7E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cent-6">
            <a:extLst xmlns:a="http://schemas.openxmlformats.org/drawingml/2006/main">
              <a:ext uri="{FF2B5EF4-FFF2-40B4-BE49-F238E27FC236}">
                <a16:creationId xmlns:a16="http://schemas.microsoft.com/office/drawing/2014/main" id="{6C402299-6C37-4B6A-8A2F-4C6D154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ccent-7">
            <a:extLst xmlns:a="http://schemas.openxmlformats.org/drawingml/2006/main">
              <a:ext uri="{FF2B5EF4-FFF2-40B4-BE49-F238E27FC236}">
                <a16:creationId xmlns:a16="http://schemas.microsoft.com/office/drawing/2014/main" id="{2BD727B7-1603-4872-8176-70EA9F8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DF8135B-CB0D-4317-BE2E-064170D0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77726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77265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71576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6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wning-0">
            <a:extLst xmlns:a="http://schemas.openxmlformats.org/drawingml/2006/main">
              <a:ext uri="{FF2B5EF4-FFF2-40B4-BE49-F238E27FC236}">
                <a16:creationId xmlns:a16="http://schemas.microsoft.com/office/drawing/2014/main" id="{800BE1F4-F040-42EA-AECA-7F01EA41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wning-1">
            <a:extLst xmlns:a="http://schemas.openxmlformats.org/drawingml/2006/main">
              <a:ext uri="{FF2B5EF4-FFF2-40B4-BE49-F238E27FC236}">
                <a16:creationId xmlns:a16="http://schemas.microsoft.com/office/drawing/2014/main" id="{792FA60E-1FE0-4BFC-BDA3-411C2ED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wning-2">
            <a:extLst xmlns:a="http://schemas.openxmlformats.org/drawingml/2006/main">
              <a:ext uri="{FF2B5EF4-FFF2-40B4-BE49-F238E27FC236}">
                <a16:creationId xmlns:a16="http://schemas.microsoft.com/office/drawing/2014/main" id="{76729816-EEF6-4432-AC06-0FCF2BDB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wning-3">
            <a:extLst xmlns:a="http://schemas.openxmlformats.org/drawingml/2006/main">
              <a:ext uri="{FF2B5EF4-FFF2-40B4-BE49-F238E27FC236}">
                <a16:creationId xmlns:a16="http://schemas.microsoft.com/office/drawing/2014/main" id="{EB44CA1C-0528-4D4C-B244-2DC54CE3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wning-4">
            <a:extLst xmlns:a="http://schemas.openxmlformats.org/drawingml/2006/main">
              <a:ext uri="{FF2B5EF4-FFF2-40B4-BE49-F238E27FC236}">
                <a16:creationId xmlns:a16="http://schemas.microsoft.com/office/drawing/2014/main" id="{D66256F8-2B48-4174-B436-BDC42B90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wning-5">
            <a:extLst xmlns:a="http://schemas.openxmlformats.org/drawingml/2006/main">
              <a:ext uri="{FF2B5EF4-FFF2-40B4-BE49-F238E27FC236}">
                <a16:creationId xmlns:a16="http://schemas.microsoft.com/office/drawing/2014/main" id="{5B103E5C-2CF6-4625-9243-9799F06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ning-6">
            <a:extLst xmlns:a="http://schemas.openxmlformats.org/drawingml/2006/main">
              <a:ext uri="{FF2B5EF4-FFF2-40B4-BE49-F238E27FC236}">
                <a16:creationId xmlns:a16="http://schemas.microsoft.com/office/drawing/2014/main" id="{B28801C3-A903-4150-B78F-3710C8A1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wning-7">
            <a:extLst xmlns:a="http://schemas.openxmlformats.org/drawingml/2006/main">
              <a:ext uri="{FF2B5EF4-FFF2-40B4-BE49-F238E27FC236}">
                <a16:creationId xmlns:a16="http://schemas.microsoft.com/office/drawing/2014/main" id="{E85BABCE-D5D1-42EB-B269-CDA4795E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wning-8">
            <a:extLst xmlns:a="http://schemas.openxmlformats.org/drawingml/2006/main">
              <a:ext uri="{FF2B5EF4-FFF2-40B4-BE49-F238E27FC236}">
                <a16:creationId xmlns:a16="http://schemas.microsoft.com/office/drawing/2014/main" id="{FEE41CA5-1CDA-49F8-800D-BC3AA28C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wning-9">
            <a:extLst xmlns:a="http://schemas.openxmlformats.org/drawingml/2006/main">
              <a:ext uri="{FF2B5EF4-FFF2-40B4-BE49-F238E27FC236}">
                <a16:creationId xmlns:a16="http://schemas.microsoft.com/office/drawing/2014/main" id="{76513728-74C6-41C3-932D-C77CC6F0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wning-10">
            <a:extLst xmlns:a="http://schemas.openxmlformats.org/drawingml/2006/main">
              <a:ext uri="{FF2B5EF4-FFF2-40B4-BE49-F238E27FC236}">
                <a16:creationId xmlns:a16="http://schemas.microsoft.com/office/drawing/2014/main" id="{6C217756-7CF1-4F3C-9A68-BA50173F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wning-11">
            <a:extLst xmlns:a="http://schemas.openxmlformats.org/drawingml/2006/main">
              <a:ext uri="{FF2B5EF4-FFF2-40B4-BE49-F238E27FC236}">
                <a16:creationId xmlns:a16="http://schemas.microsoft.com/office/drawing/2014/main" id="{BCEF4087-1D25-4850-A791-2AC6C973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wning-rule">
            <a:extLst xmlns:a="http://schemas.openxmlformats.org/drawingml/2006/main">
              <a:ext uri="{FF2B5EF4-FFF2-40B4-BE49-F238E27FC236}">
                <a16:creationId xmlns:a16="http://schemas.microsoft.com/office/drawing/2014/main" id="{8B69422D-A833-4FCB-870A-F431E850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23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CCB9"/>
            </a:solidFill>
            <a:prstDash val="solid"/>
          </a:ln>
        </p:spPr>
      </p:sp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B6FB6F17-1A14-4FFD-ACCE-FB910D0D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E1A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1E1A7"/>
                </a:solidFill>
                <a:latin typeface="Arial"/>
                <a:ea typeface="Arial"/>
                <a:cs typeface="Arial"/>
              </a:rPr>
              <a:t>LA INVESTIGACIÓN SIGUE ABIERTA</a:t>
            </a:r>
          </a:p>
        </p:txBody>
      </p: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CA0A5ADC-D326-4B81-AD3C-9157DFB0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66875"/>
            <a:ext cx="8858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parte de tu negocio solo funciona porque tú estás ahí?</a:t>
            </a:r>
          </a:p>
        </p:txBody>
      </p:sp>
      <p:sp>
        <p:nvSpPr>
          <p:cNvPr id="16" name="cta-receipt-shadow">
            <a:extLst xmlns:a="http://schemas.openxmlformats.org/drawingml/2006/main">
              <a:ext uri="{FF2B5EF4-FFF2-40B4-BE49-F238E27FC236}">
                <a16:creationId xmlns:a16="http://schemas.microsoft.com/office/drawing/2014/main" id="{A23644F3-10CB-49FC-AE79-8DAB888B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000">
            <a:off x="1114425" y="5086350"/>
            <a:ext cx="828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ta-receipt">
            <a:extLst xmlns:a="http://schemas.openxmlformats.org/drawingml/2006/main">
              <a:ext uri="{FF2B5EF4-FFF2-40B4-BE49-F238E27FC236}">
                <a16:creationId xmlns:a16="http://schemas.microsoft.com/office/drawing/2014/main" id="{135BD275-8290-41B1-8635-530F14CF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000">
            <a:off x="1000125" y="4953000"/>
            <a:ext cx="828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26251F"/>
            </a:solidFill>
            <a:prstDash val="solid"/>
          </a:ln>
        </p:spPr>
      </p:sp>
      <p:sp>
        <p:nvSpPr>
          <p:cNvPr id="18" name="cta-receipt-tape">
            <a:extLst xmlns:a="http://schemas.openxmlformats.org/drawingml/2006/main">
              <a:ext uri="{FF2B5EF4-FFF2-40B4-BE49-F238E27FC236}">
                <a16:creationId xmlns:a16="http://schemas.microsoft.com/office/drawing/2014/main" id="{FF2D5CD0-F783-4059-905D-AC649332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8000">
            <a:off x="4610100" y="483870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ta-copy">
            <a:extLst xmlns:a="http://schemas.openxmlformats.org/drawingml/2006/main">
              <a:ext uri="{FF2B5EF4-FFF2-40B4-BE49-F238E27FC236}">
                <a16:creationId xmlns:a16="http://schemas.microsoft.com/office/drawing/2014/main" id="{933E9C6E-F930-4CCD-A7C4-FC46E9F0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000">
            <a:off x="1524000" y="55245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F684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684E"/>
                </a:solidFill>
                <a:latin typeface="Arial"/>
                <a:ea typeface="Arial"/>
                <a:cs typeface="Arial"/>
              </a:rPr>
              <a:t>Si llevas una tienda —o conoces una— quiero escucharte.</a:t>
            </a:r>
          </a:p>
        </p:txBody>
      </p:sp>
      <p:sp>
        <p:nvSpPr>
          <p:cNvPr id="20" name="cta-details">
            <a:extLst xmlns:a="http://schemas.openxmlformats.org/drawingml/2006/main">
              <a:ext uri="{FF2B5EF4-FFF2-40B4-BE49-F238E27FC236}">
                <a16:creationId xmlns:a16="http://schemas.microsoft.com/office/drawing/2014/main" id="{A9C104E0-9506-469B-8596-70F142A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000">
            <a:off x="1571625" y="681037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6251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6251F"/>
                </a:solidFill>
                <a:latin typeface="Arial"/>
                <a:ea typeface="Arial"/>
                <a:cs typeface="Arial"/>
              </a:rPr>
              <a:t>25 minutos · sin preparación · en tu tienda</a:t>
            </a:r>
          </a:p>
        </p:txBody>
      </p:sp>
      <p:sp>
        <p:nvSpPr>
          <p:cNvPr id="21" name="cta-question">
            <a:extLst xmlns:a="http://schemas.openxmlformats.org/drawingml/2006/main">
              <a:ext uri="{FF2B5EF4-FFF2-40B4-BE49-F238E27FC236}">
                <a16:creationId xmlns:a16="http://schemas.microsoft.com/office/drawing/2014/main" id="{460007EF-BD58-4ABC-843F-3DCB6508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000">
            <a:off x="1476375" y="757237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5B584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B584C"/>
                </a:solidFill>
                <a:latin typeface="Arial"/>
                <a:ea typeface="Arial"/>
                <a:cs typeface="Arial"/>
              </a:rPr>
              <a:t>Cuéntamelo en comentarios o entra al informe y déjame tu contacto.</a:t>
            </a:r>
          </a:p>
        </p:txBody>
      </p:sp>
      <p:sp>
        <p:nvSpPr>
          <p:cNvPr id="22" name="url-box">
            <a:extLst xmlns:a="http://schemas.openxmlformats.org/drawingml/2006/main">
              <a:ext uri="{FF2B5EF4-FFF2-40B4-BE49-F238E27FC236}">
                <a16:creationId xmlns:a16="http://schemas.microsoft.com/office/drawing/2014/main" id="{34479507-87B6-4ED3-A4A4-C6AF7FC9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">
            <a:off x="1066800" y="9525000"/>
            <a:ext cx="8153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url">
            <a:extLst xmlns:a="http://schemas.openxmlformats.org/drawingml/2006/main">
              <a:ext uri="{FF2B5EF4-FFF2-40B4-BE49-F238E27FC236}">
                <a16:creationId xmlns:a16="http://schemas.microsoft.com/office/drawing/2014/main" id="{CBC59D7E-D75C-49C6-991D-E08DD53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">
            <a:off x="1352550" y="9782175"/>
            <a:ext cx="758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1951b571e022495f"/>
              </a:rPr>
              <a:t>chpmoreno.github.io/apiedemostrador/</a:t>
            </a:r>
          </a:p>
        </p:txBody>
      </p:sp>
      <p:sp>
        <p:nvSpPr>
          <p:cNvPr id="24" name="social-cta">
            <a:extLst xmlns:a="http://schemas.openxmlformats.org/drawingml/2006/main">
              <a:ext uri="{FF2B5EF4-FFF2-40B4-BE49-F238E27FC236}">
                <a16:creationId xmlns:a16="http://schemas.microsoft.com/office/drawing/2014/main" id="{ACD96099-EEBC-4FB8-BD7A-266363E6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11918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1E1A7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1E1A7"/>
                </a:solidFill>
                <a:latin typeface="Arial"/>
                <a:ea typeface="Arial"/>
                <a:cs typeface="Arial"/>
              </a:rPr>
              <a:t>GUARDA · COMPARTE · COMENTA</a:t>
            </a:r>
          </a:p>
        </p:txBody>
      </p:sp>
      <p:sp>
        <p:nvSpPr>
          <p:cNvPr id="2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CF300C97-A2B6-4BA1-91BD-97578658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2777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E3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7E3D9"/>
                </a:solidFill>
                <a:latin typeface="Arial"/>
                <a:ea typeface="Arial"/>
                <a:cs typeface="Arial"/>
              </a:rPr>
              <a:t>A PIE DE MOSTRADOR · INFORME DE ESCUCHA 01</a:t>
            </a:r>
          </a:p>
        </p:txBody>
      </p:sp>
      <p:sp>
        <p:nvSpPr>
          <p:cNvPr id="26" name="accent-0">
            <a:extLst xmlns:a="http://schemas.openxmlformats.org/drawingml/2006/main">
              <a:ext uri="{FF2B5EF4-FFF2-40B4-BE49-F238E27FC236}">
                <a16:creationId xmlns:a16="http://schemas.microsoft.com/office/drawing/2014/main" id="{6C0B6532-9DE8-4BB4-95BC-C742109A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ccent-1">
            <a:extLst xmlns:a="http://schemas.openxmlformats.org/drawingml/2006/main">
              <a:ext uri="{FF2B5EF4-FFF2-40B4-BE49-F238E27FC236}">
                <a16:creationId xmlns:a16="http://schemas.microsoft.com/office/drawing/2014/main" id="{E748D79C-6BE7-46C6-80A3-200E67F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ccent-2">
            <a:extLst xmlns:a="http://schemas.openxmlformats.org/drawingml/2006/main">
              <a:ext uri="{FF2B5EF4-FFF2-40B4-BE49-F238E27FC236}">
                <a16:creationId xmlns:a16="http://schemas.microsoft.com/office/drawing/2014/main" id="{CF605060-5CCB-4714-8E31-64876219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ccent-3">
            <a:extLst xmlns:a="http://schemas.openxmlformats.org/drawingml/2006/main">
              <a:ext uri="{FF2B5EF4-FFF2-40B4-BE49-F238E27FC236}">
                <a16:creationId xmlns:a16="http://schemas.microsoft.com/office/drawing/2014/main" id="{AF746BE8-BA3C-4A7F-AA54-F8CBAFFD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ccent-4">
            <a:extLst xmlns:a="http://schemas.openxmlformats.org/drawingml/2006/main">
              <a:ext uri="{FF2B5EF4-FFF2-40B4-BE49-F238E27FC236}">
                <a16:creationId xmlns:a16="http://schemas.microsoft.com/office/drawing/2014/main" id="{9B865C6D-A0FE-44E9-BE95-699A896F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ent-5">
            <a:extLst xmlns:a="http://schemas.openxmlformats.org/drawingml/2006/main">
              <a:ext uri="{FF2B5EF4-FFF2-40B4-BE49-F238E27FC236}">
                <a16:creationId xmlns:a16="http://schemas.microsoft.com/office/drawing/2014/main" id="{C70BD82C-1B62-46B9-8519-725B8716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39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ccent-6">
            <a:extLst xmlns:a="http://schemas.openxmlformats.org/drawingml/2006/main">
              <a:ext uri="{FF2B5EF4-FFF2-40B4-BE49-F238E27FC236}">
                <a16:creationId xmlns:a16="http://schemas.microsoft.com/office/drawing/2014/main" id="{B4DDAA5D-4CF2-412D-8BD5-7E6B6174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7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ent-7">
            <a:extLst xmlns:a="http://schemas.openxmlformats.org/drawingml/2006/main">
              <a:ext uri="{FF2B5EF4-FFF2-40B4-BE49-F238E27FC236}">
                <a16:creationId xmlns:a16="http://schemas.microsoft.com/office/drawing/2014/main" id="{3D493496-8350-45AE-ABEC-A56B9738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525" y="12382500"/>
            <a:ext cx="1619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5AD704-4E89-4939-8F6B-41E9465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12249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E7E3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7E3D9"/>
                </a:solidFill>
                <a:latin typeface="Arial"/>
                <a:ea typeface="Arial"/>
                <a:cs typeface="Arial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1981229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2026-07-15T15:20:41.2470000Z</dcterms:created>
  <dcterms:modified xsi:type="dcterms:W3CDTF">2026-07-15T15:20:41.2470000Z</dcterms:modified>
</coreProperties>
</file>